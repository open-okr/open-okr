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1E1B4B"/>
          </a:solidFill>
          <a:ln>
            <a:noFill/>
          </a:ln>
        </p:spPr>
        <p:txBody>
          <a:bodyPr/>
          <a:lstStyle/>
          <a:p>
            <a:endParaRPr lang="en-GB"/>
          </a:p>
        </p:txBody>
      </p:sp>
      <p:sp>
        <p:nvSpPr>
          <p:cNvPr id="3" name="r3"/>
          <p:cNvSpPr/>
          <p:nvPr/>
        </p:nvSpPr>
        <p:spPr>
          <a:xfrm>
            <a:off x="0" y="0"/>
            <a:ext cx="12192000" cy="6858000"/>
          </a:xfrm>
          <a:prstGeom prst="rect">
            <a:avLst/>
          </a:prstGeom>
          <a:gradFill rotWithShape="1">
            <a:gsLst>
              <a:gs pos="0">
                <a:srgbClr val="1E1B4B"/>
              </a:gs>
              <a:gs pos="100000">
                <a:srgbClr val="3730A3"/>
              </a:gs>
            </a:gsLst>
            <a:lin ang="2400000" scaled="0"/>
          </a:gradFill>
          <a:ln>
            <a:noFill/>
          </a:ln>
        </p:spPr>
        <p:txBody>
          <a:bodyPr/>
          <a:lstStyle/>
          <a:p>
            <a:endParaRPr lang="en-GB"/>
          </a:p>
        </p:txBody>
      </p:sp>
      <p:sp>
        <p:nvSpPr>
          <p:cNvPr id="4" name="r4"/>
          <p:cNvSpPr/>
          <p:nvPr/>
        </p:nvSpPr>
        <p:spPr>
          <a:xfrm>
            <a:off x="0" y="0"/>
            <a:ext cx="12192000" cy="50800"/>
          </a:xfrm>
          <a:prstGeom prst="rect">
            <a:avLst/>
          </a:prstGeom>
          <a:solidFill>
            <a:srgbClr val="4F46E5"/>
          </a:solidFill>
          <a:ln>
            <a:noFill/>
          </a:ln>
        </p:spPr>
        <p:txBody>
          <a:bodyPr/>
          <a:lstStyle/>
          <a:p>
            <a:endParaRPr lang="en-GB"/>
          </a:p>
        </p:txBody>
      </p:sp>
      <p:sp>
        <p:nvSpPr>
          <p:cNvPr id="5" name="r5"/>
          <p:cNvSpPr/>
          <p:nvPr/>
        </p:nvSpPr>
        <p:spPr>
          <a:xfrm>
            <a:off x="711200" y="1905000"/>
            <a:ext cx="584200" cy="584200"/>
          </a:xfrm>
          <a:prstGeom prst="roundRect">
            <a:avLst>
              <a:gd name="adj" fmla="val 23913"/>
            </a:avLst>
          </a:prstGeom>
          <a:solidFill>
            <a:srgbClr val="4F46E5"/>
          </a:solidFill>
          <a:ln>
            <a:noFill/>
          </a:ln>
        </p:spPr>
        <p:txBody>
          <a:bodyPr/>
          <a:lstStyle/>
          <a:p>
            <a:endParaRPr lang="en-GB"/>
          </a:p>
        </p:txBody>
      </p:sp>
      <p:sp>
        <p:nvSpPr>
          <p:cNvPr id="6" name="t6"/>
          <p:cNvSpPr txBox="1"/>
          <p:nvPr/>
        </p:nvSpPr>
        <p:spPr>
          <a:xfrm>
            <a:off x="711200" y="2070100"/>
            <a:ext cx="584200" cy="330200"/>
          </a:xfrm>
          <a:prstGeom prst="rect">
            <a:avLst/>
          </a:prstGeom>
          <a:noFill/>
        </p:spPr>
        <p:txBody>
          <a:bodyPr wrap="square" lIns="0" tIns="0" rIns="0" bIns="0" anchor="t">
            <a:noAutofit/>
          </a:bodyPr>
          <a:lstStyle/>
          <a:p>
            <a:pPr algn="ctr">
              <a:lnSpc>
                <a:spcPct val="116000"/>
              </a:lnSpc>
              <a:spcBef>
                <a:spcPts val="0"/>
              </a:spcBef>
              <a:spcAft>
                <a:spcPts val="0"/>
              </a:spcAft>
            </a:pPr>
            <a:r>
              <a:rPr lang="en-GB" sz="2200" b="1" dirty="0">
                <a:solidFill>
                  <a:srgbClr val="FFFFFF"/>
                </a:solidFill>
                <a:latin typeface="Calibri"/>
                <a:cs typeface="Calibri"/>
              </a:rPr>
              <a:t>O</a:t>
            </a:r>
          </a:p>
        </p:txBody>
      </p:sp>
      <p:sp>
        <p:nvSpPr>
          <p:cNvPr id="7" name="t7"/>
          <p:cNvSpPr txBox="1"/>
          <p:nvPr/>
        </p:nvSpPr>
        <p:spPr>
          <a:xfrm>
            <a:off x="711200" y="2717800"/>
            <a:ext cx="10160000" cy="939800"/>
          </a:xfrm>
          <a:prstGeom prst="rect">
            <a:avLst/>
          </a:prstGeom>
          <a:noFill/>
        </p:spPr>
        <p:txBody>
          <a:bodyPr wrap="square" lIns="0" tIns="0" rIns="0" bIns="0" anchor="t">
            <a:noAutofit/>
          </a:bodyPr>
          <a:lstStyle/>
          <a:p>
            <a:pPr algn="l">
              <a:lnSpc>
                <a:spcPct val="116000"/>
              </a:lnSpc>
              <a:spcBef>
                <a:spcPts val="0"/>
              </a:spcBef>
              <a:spcAft>
                <a:spcPts val="0"/>
              </a:spcAft>
            </a:pPr>
            <a:r>
              <a:rPr lang="en-GB" sz="6200" b="1" dirty="0">
                <a:solidFill>
                  <a:srgbClr val="FFFFFF"/>
                </a:solidFill>
                <a:latin typeface="Calibri Light"/>
                <a:cs typeface="Calibri Light"/>
              </a:rPr>
              <a:t>OpenOKR</a:t>
            </a:r>
          </a:p>
        </p:txBody>
      </p:sp>
      <p:sp>
        <p:nvSpPr>
          <p:cNvPr id="8" name="t8"/>
          <p:cNvSpPr txBox="1"/>
          <p:nvPr/>
        </p:nvSpPr>
        <p:spPr>
          <a:xfrm>
            <a:off x="711200" y="3759200"/>
            <a:ext cx="8890000" cy="381000"/>
          </a:xfrm>
          <a:prstGeom prst="rect">
            <a:avLst/>
          </a:prstGeom>
          <a:noFill/>
        </p:spPr>
        <p:txBody>
          <a:bodyPr wrap="square" lIns="0" tIns="0" rIns="0" bIns="0" anchor="t">
            <a:noAutofit/>
          </a:bodyPr>
          <a:lstStyle/>
          <a:p>
            <a:pPr algn="l">
              <a:lnSpc>
                <a:spcPct val="116000"/>
              </a:lnSpc>
              <a:spcBef>
                <a:spcPts val="0"/>
              </a:spcBef>
              <a:spcAft>
                <a:spcPts val="0"/>
              </a:spcAft>
            </a:pPr>
            <a:r>
              <a:rPr lang="en-GB" sz="2200" b="0" dirty="0">
                <a:solidFill>
                  <a:srgbClr val="C7D2FE"/>
                </a:solidFill>
                <a:latin typeface="Calibri Light"/>
                <a:cs typeface="Calibri Light"/>
              </a:rPr>
              <a:t>Your OKR coach, built in.</a:t>
            </a:r>
          </a:p>
        </p:txBody>
      </p:sp>
      <p:sp>
        <p:nvSpPr>
          <p:cNvPr id="9" name="r9"/>
          <p:cNvSpPr/>
          <p:nvPr/>
        </p:nvSpPr>
        <p:spPr>
          <a:xfrm>
            <a:off x="711200" y="4368800"/>
            <a:ext cx="812800" cy="38100"/>
          </a:xfrm>
          <a:prstGeom prst="rect">
            <a:avLst/>
          </a:prstGeom>
          <a:solidFill>
            <a:srgbClr val="4F46E5"/>
          </a:solidFill>
          <a:ln>
            <a:noFill/>
          </a:ln>
        </p:spPr>
        <p:txBody>
          <a:bodyPr/>
          <a:lstStyle/>
          <a:p>
            <a:endParaRPr lang="en-GB"/>
          </a:p>
        </p:txBody>
      </p:sp>
      <p:sp>
        <p:nvSpPr>
          <p:cNvPr id="10" name="t10"/>
          <p:cNvSpPr txBox="1"/>
          <p:nvPr/>
        </p:nvSpPr>
        <p:spPr>
          <a:xfrm>
            <a:off x="711200" y="4622800"/>
            <a:ext cx="8382000" cy="685800"/>
          </a:xfrm>
          <a:prstGeom prst="rect">
            <a:avLst/>
          </a:prstGeom>
          <a:noFill/>
        </p:spPr>
        <p:txBody>
          <a:bodyPr wrap="square" lIns="0" tIns="0" rIns="0" bIns="0" anchor="t">
            <a:noAutofit/>
          </a:bodyPr>
          <a:lstStyle/>
          <a:p>
            <a:pPr algn="l">
              <a:lnSpc>
                <a:spcPct val="132000"/>
              </a:lnSpc>
              <a:spcBef>
                <a:spcPts val="0"/>
              </a:spcBef>
              <a:spcAft>
                <a:spcPts val="0"/>
              </a:spcAft>
            </a:pPr>
            <a:r>
              <a:rPr lang="en-GB" sz="1300" b="0" dirty="0">
                <a:solidFill>
                  <a:srgbClr val="9FA8DA"/>
                </a:solidFill>
                <a:latin typeface="Calibri"/>
                <a:cs typeface="Calibri"/>
              </a:rPr>
              <a:t>Open source, AI-native, self-hosted or in our cloud. The OKR method as executable rules, and two AI teammates that run the practice with you.</a:t>
            </a:r>
          </a:p>
        </p:txBody>
      </p:sp>
      <p:sp>
        <p:nvSpPr>
          <p:cNvPr id="11" name="t11"/>
          <p:cNvSpPr txBox="1"/>
          <p:nvPr/>
        </p:nvSpPr>
        <p:spPr>
          <a:xfrm>
            <a:off x="711200" y="5943600"/>
            <a:ext cx="76200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050" b="0" dirty="0" spc="60">
                <a:solidFill>
                  <a:srgbClr val="7986CB"/>
                </a:solidFill>
                <a:latin typeface="Calibri"/>
                <a:cs typeface="Calibri"/>
              </a:rPr>
              <a:t>Product overview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r3"/>
          <p:cNvSpPr/>
          <p:nvPr/>
        </p:nvSpPr>
        <p:spPr>
          <a:xfrm>
            <a:off x="0" y="0"/>
            <a:ext cx="76200" cy="6858000"/>
          </a:xfrm>
          <a:prstGeom prst="rect">
            <a:avLst/>
          </a:prstGeom>
          <a:solidFill>
            <a:srgbClr val="4F46E5"/>
          </a:solidFill>
          <a:ln>
            <a:noFill/>
          </a:ln>
        </p:spPr>
        <p:txBody>
          <a:bodyPr/>
          <a:lstStyle/>
          <a:p>
            <a:endParaRPr lang="en-GB"/>
          </a:p>
        </p:txBody>
      </p:sp>
      <p:sp>
        <p:nvSpPr>
          <p:cNvPr id="4" name="t4"/>
          <p:cNvSpPr txBox="1"/>
          <p:nvPr/>
        </p:nvSpPr>
        <p:spPr>
          <a:xfrm>
            <a:off x="1016000" y="1905000"/>
            <a:ext cx="10160000" cy="1651000"/>
          </a:xfrm>
          <a:prstGeom prst="rect">
            <a:avLst/>
          </a:prstGeom>
          <a:noFill/>
        </p:spPr>
        <p:txBody>
          <a:bodyPr wrap="square" lIns="0" tIns="0" rIns="0" bIns="0" anchor="t">
            <a:noAutofit/>
          </a:bodyPr>
          <a:lstStyle/>
          <a:p>
            <a:pPr algn="l">
              <a:lnSpc>
                <a:spcPct val="124000"/>
              </a:lnSpc>
              <a:spcBef>
                <a:spcPts val="0"/>
              </a:spcBef>
              <a:spcAft>
                <a:spcPts val="1400"/>
              </a:spcAft>
            </a:pPr>
            <a:r>
              <a:rPr lang="en-GB" sz="3000" b="1" dirty="0">
                <a:solidFill>
                  <a:srgbClr val="0F172A"/>
                </a:solidFill>
                <a:latin typeface="Calibri Light"/>
                <a:cs typeface="Calibri Light"/>
              </a:rPr>
              <a:t>Most organisations do not fail at OKRs because their software was bad.</a:t>
            </a:r>
          </a:p>
          <a:p>
            <a:pPr algn="l">
              <a:lnSpc>
                <a:spcPct val="124000"/>
              </a:lnSpc>
              <a:spcBef>
                <a:spcPts val="0"/>
              </a:spcBef>
              <a:spcAft>
                <a:spcPts val="0"/>
              </a:spcAft>
            </a:pPr>
            <a:r>
              <a:rPr lang="en-GB" sz="3000" b="1" dirty="0">
                <a:solidFill>
                  <a:srgbClr val="4338CA"/>
                </a:solidFill>
                <a:latin typeface="Calibri Light"/>
                <a:cs typeface="Calibri Light"/>
              </a:rPr>
              <a:t>They fail because the practice never happened.</a:t>
            </a:r>
          </a:p>
        </p:txBody>
      </p:sp>
      <p:sp>
        <p:nvSpPr>
          <p:cNvPr id="5" name="t5"/>
          <p:cNvSpPr txBox="1"/>
          <p:nvPr/>
        </p:nvSpPr>
        <p:spPr>
          <a:xfrm>
            <a:off x="1016000" y="4191000"/>
            <a:ext cx="9652000" cy="889000"/>
          </a:xfrm>
          <a:prstGeom prst="rect">
            <a:avLst/>
          </a:prstGeom>
          <a:noFill/>
        </p:spPr>
        <p:txBody>
          <a:bodyPr wrap="square" lIns="0" tIns="0" rIns="0" bIns="0" anchor="t">
            <a:noAutofit/>
          </a:bodyPr>
          <a:lstStyle/>
          <a:p>
            <a:pPr algn="l">
              <a:lnSpc>
                <a:spcPct val="134000"/>
              </a:lnSpc>
              <a:spcBef>
                <a:spcPts val="0"/>
              </a:spcBef>
              <a:spcAft>
                <a:spcPts val="0"/>
              </a:spcAft>
            </a:pPr>
            <a:r>
              <a:rPr lang="en-GB" sz="1500" b="0" dirty="0">
                <a:solidFill>
                  <a:srgbClr val="64748B"/>
                </a:solidFill>
                <a:latin typeface="Calibri"/>
                <a:cs typeface="Calibri"/>
              </a:rPr>
              <a:t>Somebody wrote objectives in a spreadsheet in January, nobody checked in by March, and the quarterly review was a meeting where everyone agreed things had gone reasonably well.</a:t>
            </a:r>
          </a:p>
        </p:txBody>
      </p:sp>
      <p:sp>
        <p:nvSpPr>
          <p:cNvPr id="6" name="r6"/>
          <p:cNvSpPr/>
          <p:nvPr/>
        </p:nvSpPr>
        <p:spPr>
          <a:xfrm>
            <a:off x="711200" y="6375400"/>
            <a:ext cx="10769600" cy="9525"/>
          </a:xfrm>
          <a:prstGeom prst="rect">
            <a:avLst/>
          </a:prstGeom>
          <a:solidFill>
            <a:srgbClr val="E2E8F0"/>
          </a:solidFill>
          <a:ln>
            <a:noFill/>
          </a:ln>
        </p:spPr>
        <p:txBody>
          <a:bodyPr/>
          <a:lstStyle/>
          <a:p>
            <a:endParaRPr lang="en-GB"/>
          </a:p>
        </p:txBody>
      </p:sp>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PROBLEM</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THE PROBLEM</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How OKRs are run today, and why the practice still dies</a:t>
            </a:r>
          </a:p>
        </p:txBody>
      </p:sp>
      <p:sp>
        <p:nvSpPr>
          <p:cNvPr id="5" name="r5"/>
          <p:cNvSpPr/>
          <p:nvPr/>
        </p:nvSpPr>
        <p:spPr>
          <a:xfrm>
            <a:off x="711200" y="1485900"/>
            <a:ext cx="3420533" cy="2133600"/>
          </a:xfrm>
          <a:prstGeom prst="roundRect">
            <a:avLst>
              <a:gd name="adj" fmla="val 4761"/>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6" name="r6"/>
          <p:cNvSpPr/>
          <p:nvPr/>
        </p:nvSpPr>
        <p:spPr>
          <a:xfrm>
            <a:off x="711200" y="1485900"/>
            <a:ext cx="44450" cy="2133600"/>
          </a:xfrm>
          <a:prstGeom prst="roundRect">
            <a:avLst>
              <a:gd name="adj" fmla="val 45714"/>
            </a:avLst>
          </a:prstGeom>
          <a:solidFill>
            <a:srgbClr val="94A3B8"/>
          </a:solidFill>
          <a:ln>
            <a:noFill/>
          </a:ln>
        </p:spPr>
        <p:txBody>
          <a:bodyPr/>
          <a:lstStyle/>
          <a:p>
            <a:endParaRPr lang="en-GB"/>
          </a:p>
        </p:txBody>
      </p:sp>
      <p:sp>
        <p:nvSpPr>
          <p:cNvPr id="7" name="t7"/>
          <p:cNvSpPr txBox="1"/>
          <p:nvPr/>
        </p:nvSpPr>
        <p:spPr>
          <a:xfrm>
            <a:off x="939800" y="1676400"/>
            <a:ext cx="2988733" cy="1524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WHAT MOST START WITH</a:t>
            </a:r>
          </a:p>
        </p:txBody>
      </p:sp>
      <p:sp>
        <p:nvSpPr>
          <p:cNvPr id="8" name="t8"/>
          <p:cNvSpPr txBox="1"/>
          <p:nvPr/>
        </p:nvSpPr>
        <p:spPr>
          <a:xfrm>
            <a:off x="939800" y="1866900"/>
            <a:ext cx="2988733"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Spreadsheets</a:t>
            </a:r>
          </a:p>
        </p:txBody>
      </p:sp>
      <p:sp>
        <p:nvSpPr>
          <p:cNvPr id="9" name="t9"/>
          <p:cNvSpPr txBox="1"/>
          <p:nvPr/>
        </p:nvSpPr>
        <p:spPr>
          <a:xfrm>
            <a:off x="939800" y="2197100"/>
            <a:ext cx="2988733" cy="1244600"/>
          </a:xfrm>
          <a:prstGeom prst="rect">
            <a:avLst/>
          </a:prstGeom>
          <a:noFill/>
        </p:spPr>
        <p:txBody>
          <a:bodyPr wrap="square" lIns="0" tIns="0" rIns="0" bIns="0" anchor="t">
            <a:noAutofit/>
          </a:bodyPr>
          <a:lstStyle/>
          <a:p>
            <a:pPr algn="l">
              <a:lnSpc>
                <a:spcPct val="126000"/>
              </a:lnSpc>
              <a:spcBef>
                <a:spcPts val="0"/>
              </a:spcBef>
              <a:spcAft>
                <a:spcPts val="0"/>
              </a:spcAft>
            </a:pPr>
            <a:r>
              <a:rPr lang="en-GB" sz="1200" b="0" dirty="0">
                <a:solidFill>
                  <a:srgbClr val="334155"/>
                </a:solidFill>
                <a:latin typeface="Calibri"/>
                <a:cs typeface="Calibri"/>
              </a:rPr>
              <a:t>No cadence, no accountability, no quality bar. Nobody is ever told anything. The file is opened twice a quarter.</a:t>
            </a:r>
          </a:p>
        </p:txBody>
      </p:sp>
      <p:sp>
        <p:nvSpPr>
          <p:cNvPr id="10" name="r10"/>
          <p:cNvSpPr/>
          <p:nvPr/>
        </p:nvSpPr>
        <p:spPr>
          <a:xfrm>
            <a:off x="4385733" y="1485900"/>
            <a:ext cx="3420533" cy="2133600"/>
          </a:xfrm>
          <a:prstGeom prst="roundRect">
            <a:avLst>
              <a:gd name="adj" fmla="val 4761"/>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11" name="r11"/>
          <p:cNvSpPr/>
          <p:nvPr/>
        </p:nvSpPr>
        <p:spPr>
          <a:xfrm>
            <a:off x="4385733" y="1485900"/>
            <a:ext cx="44450" cy="2133600"/>
          </a:xfrm>
          <a:prstGeom prst="roundRect">
            <a:avLst>
              <a:gd name="adj" fmla="val 45714"/>
            </a:avLst>
          </a:prstGeom>
          <a:solidFill>
            <a:srgbClr val="B45309"/>
          </a:solidFill>
          <a:ln>
            <a:noFill/>
          </a:ln>
        </p:spPr>
        <p:txBody>
          <a:bodyPr/>
          <a:lstStyle/>
          <a:p>
            <a:endParaRPr lang="en-GB"/>
          </a:p>
        </p:txBody>
      </p:sp>
      <p:sp>
        <p:nvSpPr>
          <p:cNvPr id="12" name="t12"/>
          <p:cNvSpPr txBox="1"/>
          <p:nvPr/>
        </p:nvSpPr>
        <p:spPr>
          <a:xfrm>
            <a:off x="4614333" y="1676400"/>
            <a:ext cx="2988733" cy="1524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B45309"/>
                </a:solidFill>
                <a:latin typeface="Calibri"/>
                <a:cs typeface="Calibri"/>
              </a:rPr>
              <a:t>WHAT MOST BUY</a:t>
            </a:r>
          </a:p>
        </p:txBody>
      </p:sp>
      <p:sp>
        <p:nvSpPr>
          <p:cNvPr id="13" name="t13"/>
          <p:cNvSpPr txBox="1"/>
          <p:nvPr/>
        </p:nvSpPr>
        <p:spPr>
          <a:xfrm>
            <a:off x="4614333" y="1866900"/>
            <a:ext cx="2988733"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Conventional OKR trackers</a:t>
            </a:r>
          </a:p>
        </p:txBody>
      </p:sp>
      <p:sp>
        <p:nvSpPr>
          <p:cNvPr id="14" name="t14"/>
          <p:cNvSpPr txBox="1"/>
          <p:nvPr/>
        </p:nvSpPr>
        <p:spPr>
          <a:xfrm>
            <a:off x="4614333" y="2197100"/>
            <a:ext cx="2988733" cy="1244600"/>
          </a:xfrm>
          <a:prstGeom prst="rect">
            <a:avLst/>
          </a:prstGeom>
          <a:noFill/>
        </p:spPr>
        <p:txBody>
          <a:bodyPr wrap="square" lIns="0" tIns="0" rIns="0" bIns="0" anchor="t">
            <a:noAutofit/>
          </a:bodyPr>
          <a:lstStyle/>
          <a:p>
            <a:pPr algn="l">
              <a:lnSpc>
                <a:spcPct val="126000"/>
              </a:lnSpc>
              <a:spcBef>
                <a:spcPts val="0"/>
              </a:spcBef>
              <a:spcAft>
                <a:spcPts val="0"/>
              </a:spcAft>
            </a:pPr>
            <a:r>
              <a:rPr lang="en-GB" sz="1200" b="0" dirty="0">
                <a:solidFill>
                  <a:srgbClr val="334155"/>
                </a:solidFill>
                <a:latin typeface="Calibri"/>
                <a:cs typeface="Calibri"/>
              </a:rPr>
              <a:t>A database with a progress bar. They store objectives faithfully and are entirely passive. They will happily hold a badly written key result for a whole quarter without comment.</a:t>
            </a:r>
          </a:p>
        </p:txBody>
      </p:sp>
      <p:sp>
        <p:nvSpPr>
          <p:cNvPr id="15" name="r15"/>
          <p:cNvSpPr/>
          <p:nvPr/>
        </p:nvSpPr>
        <p:spPr>
          <a:xfrm>
            <a:off x="8060267" y="1485900"/>
            <a:ext cx="3420533" cy="2133600"/>
          </a:xfrm>
          <a:prstGeom prst="roundRect">
            <a:avLst>
              <a:gd name="adj" fmla="val 4761"/>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16" name="r16"/>
          <p:cNvSpPr/>
          <p:nvPr/>
        </p:nvSpPr>
        <p:spPr>
          <a:xfrm>
            <a:off x="8060267" y="1485900"/>
            <a:ext cx="44450" cy="2133600"/>
          </a:xfrm>
          <a:prstGeom prst="roundRect">
            <a:avLst>
              <a:gd name="adj" fmla="val 45714"/>
            </a:avLst>
          </a:prstGeom>
          <a:solidFill>
            <a:srgbClr val="B91C1C"/>
          </a:solidFill>
          <a:ln>
            <a:noFill/>
          </a:ln>
        </p:spPr>
        <p:txBody>
          <a:bodyPr/>
          <a:lstStyle/>
          <a:p>
            <a:endParaRPr lang="en-GB"/>
          </a:p>
        </p:txBody>
      </p:sp>
      <p:sp>
        <p:nvSpPr>
          <p:cNvPr id="17" name="t17"/>
          <p:cNvSpPr txBox="1"/>
          <p:nvPr/>
        </p:nvSpPr>
        <p:spPr>
          <a:xfrm>
            <a:off x="8288867" y="1676400"/>
            <a:ext cx="2988733" cy="1524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B91C1C"/>
                </a:solidFill>
                <a:latin typeface="Calibri"/>
                <a:cs typeface="Calibri"/>
              </a:rPr>
              <a:t>WHAT MOST FALL BACK ON</a:t>
            </a:r>
          </a:p>
        </p:txBody>
      </p:sp>
      <p:sp>
        <p:nvSpPr>
          <p:cNvPr id="18" name="t18"/>
          <p:cNvSpPr txBox="1"/>
          <p:nvPr/>
        </p:nvSpPr>
        <p:spPr>
          <a:xfrm>
            <a:off x="8288867" y="1866900"/>
            <a:ext cx="2988733"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Consulting and training</a:t>
            </a:r>
          </a:p>
        </p:txBody>
      </p:sp>
      <p:sp>
        <p:nvSpPr>
          <p:cNvPr id="19" name="t19"/>
          <p:cNvSpPr txBox="1"/>
          <p:nvPr/>
        </p:nvSpPr>
        <p:spPr>
          <a:xfrm>
            <a:off x="8288867" y="2197100"/>
            <a:ext cx="2988733" cy="1244600"/>
          </a:xfrm>
          <a:prstGeom prst="rect">
            <a:avLst/>
          </a:prstGeom>
          <a:noFill/>
        </p:spPr>
        <p:txBody>
          <a:bodyPr wrap="square" lIns="0" tIns="0" rIns="0" bIns="0" anchor="t">
            <a:noAutofit/>
          </a:bodyPr>
          <a:lstStyle/>
          <a:p>
            <a:pPr algn="l">
              <a:lnSpc>
                <a:spcPct val="126000"/>
              </a:lnSpc>
              <a:spcBef>
                <a:spcPts val="0"/>
              </a:spcBef>
              <a:spcAft>
                <a:spcPts val="0"/>
              </a:spcAft>
            </a:pPr>
            <a:r>
              <a:rPr lang="en-GB" sz="1200" b="0" dirty="0">
                <a:solidFill>
                  <a:srgbClr val="334155"/>
                </a:solidFill>
                <a:latin typeface="Calibri"/>
                <a:cs typeface="Calibri"/>
              </a:rPr>
              <a:t>The method is real, but it walks out of the door with the consultant. There is nothing to enforce it on a wet Tuesday in week six.</a:t>
            </a:r>
          </a:p>
        </p:txBody>
      </p:sp>
      <p:sp>
        <p:nvSpPr>
          <p:cNvPr id="20" name="t20"/>
          <p:cNvSpPr txBox="1"/>
          <p:nvPr/>
        </p:nvSpPr>
        <p:spPr>
          <a:xfrm>
            <a:off x="711200" y="39243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0" dirty="0" i="1">
                <a:solidFill>
                  <a:srgbClr val="334155"/>
                </a:solidFill>
                <a:latin typeface="Calibri"/>
                <a:cs typeface="Calibri"/>
              </a:rPr>
              <a:t>The practice that makes OKRs work has been well understood for twenty years. It just does not live in the software.</a:t>
            </a:r>
          </a:p>
        </p:txBody>
      </p:sp>
      <p:sp>
        <p:nvSpPr>
          <p:cNvPr id="21" name="r21"/>
          <p:cNvSpPr/>
          <p:nvPr/>
        </p:nvSpPr>
        <p:spPr>
          <a:xfrm>
            <a:off x="711200" y="6375400"/>
            <a:ext cx="10769600" cy="9525"/>
          </a:xfrm>
          <a:prstGeom prst="rect">
            <a:avLst/>
          </a:prstGeom>
          <a:solidFill>
            <a:srgbClr val="E2E8F0"/>
          </a:solidFill>
          <a:ln>
            <a:noFill/>
          </a:ln>
        </p:spPr>
        <p:txBody>
          <a:bodyPr/>
          <a:lstStyle/>
          <a:p>
            <a:endParaRPr lang="en-GB"/>
          </a:p>
        </p:txBody>
      </p:sp>
      <p:sp>
        <p:nvSpPr>
          <p:cNvPr id="22" name="t22"/>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PROBLEM</a:t>
            </a:r>
          </a:p>
        </p:txBody>
      </p:sp>
      <p:sp>
        <p:nvSpPr>
          <p:cNvPr id="23" name="t23"/>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THE PROBLEM</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The failure pattern is always the same</a:t>
            </a:r>
          </a:p>
        </p:txBody>
      </p:sp>
      <p:sp>
        <p:nvSpPr>
          <p:cNvPr id="5" name="t5"/>
          <p:cNvSpPr txBox="1"/>
          <p:nvPr/>
        </p:nvSpPr>
        <p:spPr>
          <a:xfrm>
            <a:off x="711200" y="1485900"/>
            <a:ext cx="5130800" cy="2413000"/>
          </a:xfrm>
          <a:prstGeom prst="rect">
            <a:avLst/>
          </a:prstGeom>
          <a:noFill/>
        </p:spPr>
        <p:txBody>
          <a:bodyPr wrap="square" lIns="0" tIns="0" rIns="0" bIns="0" anchor="t">
            <a:noAutofit/>
          </a:bodyPr>
          <a:lstStyle/>
          <a:p>
            <a:pPr algn="l" marL="177800" indent="-177800">
              <a:lnSpc>
                <a:spcPct val="124000"/>
              </a:lnSpc>
              <a:spcBef>
                <a:spcPts val="0"/>
              </a:spcBef>
              <a:spcAft>
                <a:spcPts val="1300"/>
              </a:spcAft>
              <a:buClr>
                <a:srgbClr val="4F46E5"/>
              </a:buClr>
              <a:buSzPct val="90000"/>
              <a:buFont typeface="Arial"/>
              <a:buChar char="●"/>
            </a:pPr>
            <a:r>
              <a:rPr lang="en-GB" sz="1400" b="0" dirty="0">
                <a:solidFill>
                  <a:srgbClr val="334155"/>
                </a:solidFill>
                <a:latin typeface="Calibri"/>
                <a:cs typeface="Calibri"/>
              </a:rPr>
              <a:t>Objectives are written as project plans.</a:t>
            </a:r>
          </a:p>
          <a:p>
            <a:pPr algn="l" marL="177800" indent="-177800">
              <a:lnSpc>
                <a:spcPct val="124000"/>
              </a:lnSpc>
              <a:spcBef>
                <a:spcPts val="0"/>
              </a:spcBef>
              <a:spcAft>
                <a:spcPts val="1300"/>
              </a:spcAft>
              <a:buClr>
                <a:srgbClr val="4F46E5"/>
              </a:buClr>
              <a:buSzPct val="90000"/>
              <a:buFont typeface="Arial"/>
              <a:buChar char="●"/>
            </a:pPr>
            <a:r>
              <a:rPr lang="en-GB" sz="1400" b="0" dirty="0">
                <a:solidFill>
                  <a:srgbClr val="334155"/>
                </a:solidFill>
                <a:latin typeface="Calibri"/>
                <a:cs typeface="Calibri"/>
              </a:rPr>
              <a:t>Key results measure activity instead of impact.</a:t>
            </a:r>
          </a:p>
          <a:p>
            <a:pPr algn="l" marL="177800" indent="-177800">
              <a:lnSpc>
                <a:spcPct val="124000"/>
              </a:lnSpc>
              <a:spcBef>
                <a:spcPts val="0"/>
              </a:spcBef>
              <a:spcAft>
                <a:spcPts val="1300"/>
              </a:spcAft>
              <a:buClr>
                <a:srgbClr val="4F46E5"/>
              </a:buClr>
              <a:buSzPct val="90000"/>
              <a:buFont typeface="Arial"/>
              <a:buChar char="●"/>
            </a:pPr>
            <a:r>
              <a:rPr lang="en-GB" sz="1400" b="0" dirty="0">
                <a:solidFill>
                  <a:srgbClr val="334155"/>
                </a:solidFill>
                <a:latin typeface="Calibri"/>
                <a:cs typeface="Calibri"/>
              </a:rPr>
              <a:t>Nothing has a baseline, so nothing can be scored.</a:t>
            </a:r>
          </a:p>
          <a:p>
            <a:pPr algn="l" marL="177800" indent="-177800">
              <a:lnSpc>
                <a:spcPct val="124000"/>
              </a:lnSpc>
              <a:spcBef>
                <a:spcPts val="0"/>
              </a:spcBef>
              <a:spcAft>
                <a:spcPts val="1300"/>
              </a:spcAft>
              <a:buClr>
                <a:srgbClr val="4F46E5"/>
              </a:buClr>
              <a:buSzPct val="90000"/>
              <a:buFont typeface="Arial"/>
              <a:buChar char="●"/>
            </a:pPr>
            <a:r>
              <a:rPr lang="en-GB" sz="1400" b="0" dirty="0">
                <a:solidFill>
                  <a:srgbClr val="334155"/>
                </a:solidFill>
                <a:latin typeface="Calibri"/>
                <a:cs typeface="Calibri"/>
              </a:rPr>
              <a:t>Teams commit to more than they can deliver, and never record what they cut.</a:t>
            </a:r>
          </a:p>
        </p:txBody>
      </p:sp>
      <p:sp>
        <p:nvSpPr>
          <p:cNvPr id="6" name="t6"/>
          <p:cNvSpPr txBox="1"/>
          <p:nvPr/>
        </p:nvSpPr>
        <p:spPr>
          <a:xfrm>
            <a:off x="6223000" y="1485900"/>
            <a:ext cx="5130800" cy="2413000"/>
          </a:xfrm>
          <a:prstGeom prst="rect">
            <a:avLst/>
          </a:prstGeom>
          <a:noFill/>
        </p:spPr>
        <p:txBody>
          <a:bodyPr wrap="square" lIns="0" tIns="0" rIns="0" bIns="0" anchor="t">
            <a:noAutofit/>
          </a:bodyPr>
          <a:lstStyle/>
          <a:p>
            <a:pPr algn="l" marL="177800" indent="-177800">
              <a:lnSpc>
                <a:spcPct val="124000"/>
              </a:lnSpc>
              <a:spcBef>
                <a:spcPts val="0"/>
              </a:spcBef>
              <a:spcAft>
                <a:spcPts val="1300"/>
              </a:spcAft>
              <a:buClr>
                <a:srgbClr val="4F46E5"/>
              </a:buClr>
              <a:buSzPct val="90000"/>
              <a:buFont typeface="Arial"/>
              <a:buChar char="●"/>
            </a:pPr>
            <a:r>
              <a:rPr lang="en-GB" sz="1400" b="0" dirty="0">
                <a:solidFill>
                  <a:srgbClr val="334155"/>
                </a:solidFill>
                <a:latin typeface="Calibri"/>
                <a:cs typeface="Calibri"/>
              </a:rPr>
              <a:t>Check-ins stop by week five.</a:t>
            </a:r>
          </a:p>
          <a:p>
            <a:pPr algn="l" marL="177800" indent="-177800">
              <a:lnSpc>
                <a:spcPct val="124000"/>
              </a:lnSpc>
              <a:spcBef>
                <a:spcPts val="0"/>
              </a:spcBef>
              <a:spcAft>
                <a:spcPts val="1300"/>
              </a:spcAft>
              <a:buClr>
                <a:srgbClr val="4F46E5"/>
              </a:buClr>
              <a:buSzPct val="90000"/>
              <a:buFont typeface="Arial"/>
              <a:buChar char="●"/>
            </a:pPr>
            <a:r>
              <a:rPr lang="en-GB" sz="1400" b="0" dirty="0">
                <a:solidFill>
                  <a:srgbClr val="334155"/>
                </a:solidFill>
                <a:latin typeface="Calibri"/>
                <a:cs typeface="Calibri"/>
              </a:rPr>
              <a:t>Blockers sit unowned.</a:t>
            </a:r>
          </a:p>
          <a:p>
            <a:pPr algn="l" marL="177800" indent="-177800">
              <a:lnSpc>
                <a:spcPct val="124000"/>
              </a:lnSpc>
              <a:spcBef>
                <a:spcPts val="0"/>
              </a:spcBef>
              <a:spcAft>
                <a:spcPts val="1300"/>
              </a:spcAft>
              <a:buClr>
                <a:srgbClr val="4F46E5"/>
              </a:buClr>
              <a:buSzPct val="90000"/>
              <a:buFont typeface="Arial"/>
              <a:buChar char="●"/>
            </a:pPr>
            <a:r>
              <a:rPr lang="en-GB" sz="1400" b="0" dirty="0">
                <a:solidFill>
                  <a:srgbClr val="334155"/>
                </a:solidFill>
                <a:latin typeface="Calibri"/>
                <a:cs typeface="Calibri"/>
              </a:rPr>
              <a:t>The quarterly review becomes a presentation rather than a diagnosis.</a:t>
            </a:r>
          </a:p>
          <a:p>
            <a:pPr algn="l" marL="177800" indent="-177800">
              <a:lnSpc>
                <a:spcPct val="124000"/>
              </a:lnSpc>
              <a:spcBef>
                <a:spcPts val="0"/>
              </a:spcBef>
              <a:spcAft>
                <a:spcPts val="1300"/>
              </a:spcAft>
              <a:buClr>
                <a:srgbClr val="4F46E5"/>
              </a:buClr>
              <a:buSzPct val="90000"/>
              <a:buFont typeface="Arial"/>
              <a:buChar char="●"/>
            </a:pPr>
            <a:r>
              <a:rPr lang="en-GB" sz="1400" b="0" dirty="0">
                <a:solidFill>
                  <a:srgbClr val="334155"/>
                </a:solidFill>
                <a:latin typeface="Calibri"/>
                <a:cs typeface="Calibri"/>
              </a:rPr>
              <a:t>The next quarter starts from a blank page, as if nothing had been learned.</a:t>
            </a:r>
          </a:p>
        </p:txBody>
      </p:sp>
      <p:sp>
        <p:nvSpPr>
          <p:cNvPr id="7" name="r7"/>
          <p:cNvSpPr/>
          <p:nvPr/>
        </p:nvSpPr>
        <p:spPr>
          <a:xfrm>
            <a:off x="711200" y="4025900"/>
            <a:ext cx="10769600" cy="990600"/>
          </a:xfrm>
          <a:prstGeom prst="roundRect">
            <a:avLst>
              <a:gd name="adj" fmla="val 10256"/>
            </a:avLst>
          </a:prstGeom>
          <a:solidFill>
            <a:srgbClr val="EEF2FF"/>
          </a:solidFill>
          <a:ln w="12700">
            <a:solidFill>
              <a:srgbClr val="C7D2FE"/>
            </a:solidFill>
          </a:ln>
        </p:spPr>
        <p:txBody>
          <a:bodyPr/>
          <a:lstStyle/>
          <a:p>
            <a:endParaRPr lang="en-GB"/>
          </a:p>
        </p:txBody>
      </p:sp>
      <p:sp>
        <p:nvSpPr>
          <p:cNvPr id="8" name="t8"/>
          <p:cNvSpPr txBox="1"/>
          <p:nvPr/>
        </p:nvSpPr>
        <p:spPr>
          <a:xfrm>
            <a:off x="1016000" y="4279900"/>
            <a:ext cx="10160000" cy="584200"/>
          </a:xfrm>
          <a:prstGeom prst="rect">
            <a:avLst/>
          </a:prstGeom>
          <a:noFill/>
        </p:spPr>
        <p:txBody>
          <a:bodyPr wrap="square" lIns="0" tIns="0" rIns="0" bIns="0" anchor="t">
            <a:noAutofit/>
          </a:bodyPr>
          <a:lstStyle/>
          <a:p>
            <a:pPr algn="l">
              <a:lnSpc>
                <a:spcPct val="128000"/>
              </a:lnSpc>
              <a:spcBef>
                <a:spcPts val="0"/>
              </a:spcBef>
              <a:spcAft>
                <a:spcPts val="0"/>
              </a:spcAft>
            </a:pPr>
            <a:r>
              <a:rPr lang="en-GB" sz="1500" b="0" dirty="0">
                <a:solidFill>
                  <a:srgbClr val="4338CA"/>
                </a:solidFill>
                <a:latin typeface="Calibri"/>
                <a:cs typeface="Calibri"/>
              </a:rPr>
              <a:t>Every one of those is </a:t>
            </a:r>
            <a:r>
              <a:rPr lang="en-GB" sz="1500" b="1" dirty="0">
                <a:solidFill>
                  <a:srgbClr val="4338CA"/>
                </a:solidFill>
                <a:latin typeface="Calibri"/>
                <a:cs typeface="Calibri"/>
              </a:rPr>
              <a:t>a rule that could have been enforced</a:t>
            </a:r>
            <a:r>
              <a:rPr lang="en-GB" sz="1500" b="0" dirty="0">
                <a:solidFill>
                  <a:srgbClr val="4338CA"/>
                </a:solidFill>
                <a:latin typeface="Calibri"/>
                <a:cs typeface="Calibri"/>
              </a:rPr>
              <a:t>, </a:t>
            </a:r>
            <a:r>
              <a:rPr lang="en-GB" sz="1500" b="1" dirty="0">
                <a:solidFill>
                  <a:srgbClr val="4338CA"/>
                </a:solidFill>
                <a:latin typeface="Calibri"/>
                <a:cs typeface="Calibri"/>
              </a:rPr>
              <a:t>a question that could have been asked at the right moment</a:t>
            </a:r>
            <a:r>
              <a:rPr lang="en-GB" sz="1500" b="0" dirty="0">
                <a:solidFill>
                  <a:srgbClr val="4338CA"/>
                </a:solidFill>
                <a:latin typeface="Calibri"/>
                <a:cs typeface="Calibri"/>
              </a:rPr>
              <a:t>, and </a:t>
            </a:r>
            <a:r>
              <a:rPr lang="en-GB" sz="1500" b="1" dirty="0">
                <a:solidFill>
                  <a:srgbClr val="4338CA"/>
                </a:solidFill>
                <a:latin typeface="Calibri"/>
                <a:cs typeface="Calibri"/>
              </a:rPr>
              <a:t>a person who could have been told</a:t>
            </a:r>
            <a:r>
              <a:rPr lang="en-GB" sz="1500" b="0" dirty="0">
                <a:solidFill>
                  <a:srgbClr val="4338CA"/>
                </a:solidFill>
                <a:latin typeface="Calibri"/>
                <a:cs typeface="Calibri"/>
              </a:rPr>
              <a:t>. That is the product.</a:t>
            </a:r>
          </a:p>
        </p:txBody>
      </p:sp>
      <p:sp>
        <p:nvSpPr>
          <p:cNvPr id="9" name="r9"/>
          <p:cNvSpPr/>
          <p:nvPr/>
        </p:nvSpPr>
        <p:spPr>
          <a:xfrm>
            <a:off x="711200" y="6375400"/>
            <a:ext cx="10769600" cy="9525"/>
          </a:xfrm>
          <a:prstGeom prst="rect">
            <a:avLst/>
          </a:prstGeom>
          <a:solidFill>
            <a:srgbClr val="E2E8F0"/>
          </a:solidFill>
          <a:ln>
            <a:noFill/>
          </a:ln>
        </p:spPr>
        <p:txBody>
          <a:bodyPr/>
          <a:lstStyle/>
          <a:p>
            <a:endParaRPr lang="en-GB"/>
          </a:p>
        </p:txBody>
      </p:sp>
      <p:sp>
        <p:nvSpPr>
          <p:cNvPr id="10" name="t10"/>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PROBLEM</a:t>
            </a:r>
          </a:p>
        </p:txBody>
      </p:sp>
      <p:sp>
        <p:nvSpPr>
          <p:cNvPr id="11" name="t11"/>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1E1B4B"/>
          </a:solidFill>
          <a:ln>
            <a:noFill/>
          </a:ln>
        </p:spPr>
        <p:txBody>
          <a:bodyPr/>
          <a:lstStyle/>
          <a:p>
            <a:endParaRPr lang="en-GB"/>
          </a:p>
        </p:txBody>
      </p:sp>
      <p:sp>
        <p:nvSpPr>
          <p:cNvPr id="3" name="r3"/>
          <p:cNvSpPr/>
          <p:nvPr/>
        </p:nvSpPr>
        <p:spPr>
          <a:xfrm>
            <a:off x="0" y="0"/>
            <a:ext cx="12192000" cy="6858000"/>
          </a:xfrm>
          <a:prstGeom prst="rect">
            <a:avLst/>
          </a:prstGeom>
          <a:gradFill rotWithShape="1">
            <a:gsLst>
              <a:gs pos="0">
                <a:srgbClr val="1E1B4B"/>
              </a:gs>
              <a:gs pos="100000">
                <a:srgbClr val="312E81"/>
              </a:gs>
            </a:gsLst>
            <a:lin ang="2700000" scaled="0"/>
          </a:gradFill>
          <a:ln>
            <a:noFill/>
          </a:ln>
        </p:spPr>
        <p:txBody>
          <a:bodyPr/>
          <a:lstStyle/>
          <a:p>
            <a:endParaRPr lang="en-GB"/>
          </a:p>
        </p:txBody>
      </p:sp>
      <p:sp>
        <p:nvSpPr>
          <p:cNvPr id="4" name="r4"/>
          <p:cNvSpPr/>
          <p:nvPr/>
        </p:nvSpPr>
        <p:spPr>
          <a:xfrm>
            <a:off x="0" y="0"/>
            <a:ext cx="76200" cy="6858000"/>
          </a:xfrm>
          <a:prstGeom prst="rect">
            <a:avLst/>
          </a:prstGeom>
          <a:solidFill>
            <a:srgbClr val="4F46E5"/>
          </a:solidFill>
          <a:ln>
            <a:noFill/>
          </a:ln>
        </p:spPr>
        <p:txBody>
          <a:bodyPr/>
          <a:lstStyle/>
          <a:p>
            <a:endParaRPr lang="en-GB"/>
          </a:p>
        </p:txBody>
      </p:sp>
      <p:sp>
        <p:nvSpPr>
          <p:cNvPr id="5" name="t5"/>
          <p:cNvSpPr txBox="1"/>
          <p:nvPr/>
        </p:nvSpPr>
        <p:spPr>
          <a:xfrm>
            <a:off x="1092200" y="2489200"/>
            <a:ext cx="1524000" cy="762000"/>
          </a:xfrm>
          <a:prstGeom prst="rect">
            <a:avLst/>
          </a:prstGeom>
          <a:noFill/>
        </p:spPr>
        <p:txBody>
          <a:bodyPr wrap="square" lIns="0" tIns="0" rIns="0" bIns="0" anchor="t">
            <a:noAutofit/>
          </a:bodyPr>
          <a:lstStyle/>
          <a:p>
            <a:pPr algn="l">
              <a:lnSpc>
                <a:spcPct val="116000"/>
              </a:lnSpc>
              <a:spcBef>
                <a:spcPts val="0"/>
              </a:spcBef>
              <a:spcAft>
                <a:spcPts val="0"/>
              </a:spcAft>
            </a:pPr>
            <a:r>
              <a:rPr lang="en-GB" sz="6200" b="1" dirty="0">
                <a:solidFill>
                  <a:srgbClr val="4F46E5"/>
                </a:solidFill>
                <a:latin typeface="Calibri Light"/>
                <a:cs typeface="Calibri Light"/>
              </a:rPr>
              <a:t>01</a:t>
            </a:r>
          </a:p>
        </p:txBody>
      </p:sp>
      <p:sp>
        <p:nvSpPr>
          <p:cNvPr id="6" name="t6"/>
          <p:cNvSpPr txBox="1"/>
          <p:nvPr/>
        </p:nvSpPr>
        <p:spPr>
          <a:xfrm>
            <a:off x="1092200" y="3403600"/>
            <a:ext cx="8890000" cy="711200"/>
          </a:xfrm>
          <a:prstGeom prst="rect">
            <a:avLst/>
          </a:prstGeom>
          <a:noFill/>
        </p:spPr>
        <p:txBody>
          <a:bodyPr wrap="square" lIns="0" tIns="0" rIns="0" bIns="0" anchor="t">
            <a:noAutofit/>
          </a:bodyPr>
          <a:lstStyle/>
          <a:p>
            <a:pPr algn="l">
              <a:lnSpc>
                <a:spcPct val="116000"/>
              </a:lnSpc>
              <a:spcBef>
                <a:spcPts val="0"/>
              </a:spcBef>
              <a:spcAft>
                <a:spcPts val="0"/>
              </a:spcAft>
            </a:pPr>
            <a:r>
              <a:rPr lang="en-GB" sz="4000" b="1" dirty="0">
                <a:solidFill>
                  <a:srgbClr val="FFFFFF"/>
                </a:solidFill>
                <a:latin typeface="Calibri Light"/>
                <a:cs typeface="Calibri Light"/>
              </a:rPr>
              <a:t>What OpenOKR is</a:t>
            </a:r>
          </a:p>
        </p:txBody>
      </p:sp>
      <p:sp>
        <p:nvSpPr>
          <p:cNvPr id="7" name="t7"/>
          <p:cNvSpPr txBox="1"/>
          <p:nvPr/>
        </p:nvSpPr>
        <p:spPr>
          <a:xfrm>
            <a:off x="1092200" y="4191000"/>
            <a:ext cx="7874000" cy="508000"/>
          </a:xfrm>
          <a:prstGeom prst="rect">
            <a:avLst/>
          </a:prstGeom>
          <a:noFill/>
        </p:spPr>
        <p:txBody>
          <a:bodyPr wrap="square" lIns="0" tIns="0" rIns="0" bIns="0" anchor="t">
            <a:noAutofit/>
          </a:bodyPr>
          <a:lstStyle/>
          <a:p>
            <a:pPr algn="l">
              <a:lnSpc>
                <a:spcPct val="126000"/>
              </a:lnSpc>
              <a:spcBef>
                <a:spcPts val="0"/>
              </a:spcBef>
              <a:spcAft>
                <a:spcPts val="0"/>
              </a:spcAft>
            </a:pPr>
            <a:r>
              <a:rPr lang="en-GB" sz="1400" b="0" dirty="0">
                <a:solidFill>
                  <a:srgbClr val="C7D2FE"/>
                </a:solidFill>
                <a:latin typeface="Calibri"/>
                <a:cs typeface="Calibri"/>
              </a:rPr>
              <a:t>Two things make it different, and every design decision serves one of them.</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6366F1"/>
                </a:solidFill>
                <a:latin typeface="Calibri"/>
                <a:cs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WHAT OPENOKR IS</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The method is in the product, and the product is active</a:t>
            </a:r>
          </a:p>
        </p:txBody>
      </p:sp>
      <p:sp>
        <p:nvSpPr>
          <p:cNvPr id="5" name="r5"/>
          <p:cNvSpPr/>
          <p:nvPr/>
        </p:nvSpPr>
        <p:spPr>
          <a:xfrm>
            <a:off x="711200" y="1485900"/>
            <a:ext cx="5232400" cy="3175000"/>
          </a:xfrm>
          <a:prstGeom prst="roundRect">
            <a:avLst>
              <a:gd name="adj" fmla="val 3200"/>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6" name="r6"/>
          <p:cNvSpPr/>
          <p:nvPr/>
        </p:nvSpPr>
        <p:spPr>
          <a:xfrm>
            <a:off x="711200" y="1485900"/>
            <a:ext cx="44450" cy="3175000"/>
          </a:xfrm>
          <a:prstGeom prst="roundRect">
            <a:avLst>
              <a:gd name="adj" fmla="val 45714"/>
            </a:avLst>
          </a:prstGeom>
          <a:solidFill>
            <a:srgbClr val="4F46E5"/>
          </a:solidFill>
          <a:ln>
            <a:noFill/>
          </a:ln>
        </p:spPr>
        <p:txBody>
          <a:bodyPr/>
          <a:lstStyle/>
          <a:p>
            <a:endParaRPr lang="en-GB"/>
          </a:p>
        </p:txBody>
      </p:sp>
      <p:sp>
        <p:nvSpPr>
          <p:cNvPr id="7" name="t7"/>
          <p:cNvSpPr txBox="1"/>
          <p:nvPr/>
        </p:nvSpPr>
        <p:spPr>
          <a:xfrm>
            <a:off x="939800" y="1676400"/>
            <a:ext cx="4800600" cy="1524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4F46E5"/>
                </a:solidFill>
                <a:latin typeface="Calibri"/>
                <a:cs typeface="Calibri"/>
              </a:rPr>
              <a:t>DIFFERENCE ONE</a:t>
            </a:r>
          </a:p>
        </p:txBody>
      </p:sp>
      <p:sp>
        <p:nvSpPr>
          <p:cNvPr id="8" name="t8"/>
          <p:cNvSpPr txBox="1"/>
          <p:nvPr/>
        </p:nvSpPr>
        <p:spPr>
          <a:xfrm>
            <a:off x="939800" y="1866900"/>
            <a:ext cx="4800600"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600" b="1" dirty="0">
                <a:solidFill>
                  <a:srgbClr val="0F172A"/>
                </a:solidFill>
                <a:latin typeface="Calibri"/>
                <a:cs typeface="Calibri"/>
              </a:rPr>
              <a:t>The method is in the product</a:t>
            </a:r>
          </a:p>
        </p:txBody>
      </p:sp>
      <p:sp>
        <p:nvSpPr>
          <p:cNvPr id="9" name="t9"/>
          <p:cNvSpPr txBox="1"/>
          <p:nvPr/>
        </p:nvSpPr>
        <p:spPr>
          <a:xfrm>
            <a:off x="939800" y="2235200"/>
            <a:ext cx="4800600" cy="2247900"/>
          </a:xfrm>
          <a:prstGeom prst="rect">
            <a:avLst/>
          </a:prstGeom>
          <a:noFill/>
        </p:spPr>
        <p:txBody>
          <a:bodyPr wrap="square" lIns="0" tIns="0" rIns="0" bIns="0" anchor="t">
            <a:noAutofit/>
          </a:bodyPr>
          <a:lstStyle/>
          <a:p>
            <a:pPr algn="l">
              <a:lnSpc>
                <a:spcPct val="126000"/>
              </a:lnSpc>
              <a:spcBef>
                <a:spcPts val="0"/>
              </a:spcBef>
              <a:spcAft>
                <a:spcPts val="0"/>
              </a:spcAft>
            </a:pPr>
            <a:r>
              <a:rPr lang="en-GB" sz="1250" b="0" dirty="0">
                <a:solidFill>
                  <a:srgbClr val="334155"/>
                </a:solidFill>
                <a:latin typeface="Calibri"/>
                <a:cs typeface="Calibri"/>
              </a:rPr>
              <a:t>The OKR practice canon is written as one authoritative specification and compiled into a pure library with no database, no network and no AI.
It holds the eight-phase cycle, the scoring and confidence bands, twenty quality rules with their word lists and coaching prompts, six publish gates, the alignment arithmetic, the KPI corridors, the blocker and root-cause taxonomies, both session agendas, and the closing diagnostic.</a:t>
            </a:r>
          </a:p>
        </p:txBody>
      </p:sp>
      <p:sp>
        <p:nvSpPr>
          <p:cNvPr id="10" name="r10"/>
          <p:cNvSpPr/>
          <p:nvPr/>
        </p:nvSpPr>
        <p:spPr>
          <a:xfrm>
            <a:off x="6248400" y="1485900"/>
            <a:ext cx="5232400" cy="3175000"/>
          </a:xfrm>
          <a:prstGeom prst="roundRect">
            <a:avLst>
              <a:gd name="adj" fmla="val 3200"/>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11" name="r11"/>
          <p:cNvSpPr/>
          <p:nvPr/>
        </p:nvSpPr>
        <p:spPr>
          <a:xfrm>
            <a:off x="6248400" y="1485900"/>
            <a:ext cx="44450" cy="3175000"/>
          </a:xfrm>
          <a:prstGeom prst="roundRect">
            <a:avLst>
              <a:gd name="adj" fmla="val 45714"/>
            </a:avLst>
          </a:prstGeom>
          <a:solidFill>
            <a:srgbClr val="7C3AED"/>
          </a:solidFill>
          <a:ln>
            <a:noFill/>
          </a:ln>
        </p:spPr>
        <p:txBody>
          <a:bodyPr/>
          <a:lstStyle/>
          <a:p>
            <a:endParaRPr lang="en-GB"/>
          </a:p>
        </p:txBody>
      </p:sp>
      <p:sp>
        <p:nvSpPr>
          <p:cNvPr id="12" name="t12"/>
          <p:cNvSpPr txBox="1"/>
          <p:nvPr/>
        </p:nvSpPr>
        <p:spPr>
          <a:xfrm>
            <a:off x="6477000" y="1676400"/>
            <a:ext cx="4800600" cy="1524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7C3AED"/>
                </a:solidFill>
                <a:latin typeface="Calibri"/>
                <a:cs typeface="Calibri"/>
              </a:rPr>
              <a:t>DIFFERENCE TWO</a:t>
            </a:r>
          </a:p>
        </p:txBody>
      </p:sp>
      <p:sp>
        <p:nvSpPr>
          <p:cNvPr id="13" name="t13"/>
          <p:cNvSpPr txBox="1"/>
          <p:nvPr/>
        </p:nvSpPr>
        <p:spPr>
          <a:xfrm>
            <a:off x="6477000" y="1866900"/>
            <a:ext cx="4800600"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600" b="1" dirty="0">
                <a:solidFill>
                  <a:srgbClr val="0F172A"/>
                </a:solidFill>
                <a:latin typeface="Calibri"/>
                <a:cs typeface="Calibri"/>
              </a:rPr>
              <a:t>The product is active</a:t>
            </a:r>
          </a:p>
        </p:txBody>
      </p:sp>
      <p:sp>
        <p:nvSpPr>
          <p:cNvPr id="14" name="t14"/>
          <p:cNvSpPr txBox="1"/>
          <p:nvPr/>
        </p:nvSpPr>
        <p:spPr>
          <a:xfrm>
            <a:off x="6477000" y="2235200"/>
            <a:ext cx="4800600" cy="2247900"/>
          </a:xfrm>
          <a:prstGeom prst="rect">
            <a:avLst/>
          </a:prstGeom>
          <a:noFill/>
        </p:spPr>
        <p:txBody>
          <a:bodyPr wrap="square" lIns="0" tIns="0" rIns="0" bIns="0" anchor="t">
            <a:noAutofit/>
          </a:bodyPr>
          <a:lstStyle/>
          <a:p>
            <a:pPr algn="l">
              <a:lnSpc>
                <a:spcPct val="126000"/>
              </a:lnSpc>
              <a:spcBef>
                <a:spcPts val="0"/>
              </a:spcBef>
              <a:spcAft>
                <a:spcPts val="0"/>
              </a:spcAft>
            </a:pPr>
            <a:r>
              <a:rPr lang="en-GB" sz="1250" b="0" dirty="0">
                <a:solidFill>
                  <a:srgbClr val="334155"/>
                </a:solidFill>
                <a:latin typeface="Calibri"/>
                <a:cs typeface="Calibri"/>
              </a:rPr>
              <a:t>Two agent members ship with every workspace. They are members, not features: they have names, they appear in feeds, they can be mentioned, and they are accountable.
They initiate, escalate and propose, in the browser, in Slack, Microsoft Teams, WhatsApp and Telegram, by email, and through whatever AI agent the user already runs.</a:t>
            </a:r>
          </a:p>
        </p:txBody>
      </p:sp>
      <p:sp>
        <p:nvSpPr>
          <p:cNvPr id="15" name="r15"/>
          <p:cNvSpPr/>
          <p:nvPr/>
        </p:nvSpPr>
        <p:spPr>
          <a:xfrm>
            <a:off x="711200" y="6375400"/>
            <a:ext cx="10769600" cy="9525"/>
          </a:xfrm>
          <a:prstGeom prst="rect">
            <a:avLst/>
          </a:prstGeom>
          <a:solidFill>
            <a:srgbClr val="E2E8F0"/>
          </a:solidFill>
          <a:ln>
            <a:noFill/>
          </a:ln>
        </p:spPr>
        <p:txBody>
          <a:bodyPr/>
          <a:lstStyle/>
          <a:p>
            <a:endParaRPr lang="en-GB"/>
          </a:p>
        </p:txBody>
      </p:sp>
      <p:sp>
        <p:nvSpPr>
          <p:cNvPr id="16" name="t16"/>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WHAT OPENOKR IS</a:t>
            </a:r>
          </a:p>
        </p:txBody>
      </p:sp>
      <p:sp>
        <p:nvSpPr>
          <p:cNvPr id="17" name="t17"/>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THE METHOD IS IN THE PRODUCT</a:t>
            </a:r>
          </a:p>
        </p:txBody>
      </p:sp>
      <p:sp>
        <p:nvSpPr>
          <p:cNvPr id="4" name="t4"/>
          <p:cNvSpPr txBox="1"/>
          <p:nvPr/>
        </p:nvSpPr>
        <p:spPr>
          <a:xfrm>
            <a:off x="711200" y="774700"/>
            <a:ext cx="10769600" cy="9144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One specification, compiled, running in four places at once</a:t>
            </a:r>
          </a:p>
        </p:txBody>
      </p:sp>
      <p:sp>
        <p:nvSpPr>
          <p:cNvPr id="5" name="t5"/>
          <p:cNvSpPr txBox="1"/>
          <p:nvPr/>
        </p:nvSpPr>
        <p:spPr>
          <a:xfrm>
            <a:off x="711200" y="17399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350" b="0" dirty="0">
                <a:solidFill>
                  <a:srgbClr val="64748B"/>
                </a:solidFill>
                <a:latin typeface="Calibri"/>
                <a:cs typeface="Calibri"/>
              </a:rPr>
              <a:t>Because the rule engine is pure, the same code checks a draft in the browser, refuses a bad write on the server, drives the agents, and validates imported data.</a:t>
            </a:r>
          </a:p>
        </p:txBody>
      </p:sp>
      <p:sp>
        <p:nvSpPr>
          <p:cNvPr id="6" name="r6"/>
          <p:cNvSpPr/>
          <p:nvPr/>
        </p:nvSpPr>
        <p:spPr>
          <a:xfrm>
            <a:off x="711200" y="2324100"/>
            <a:ext cx="2540000" cy="1219200"/>
          </a:xfrm>
          <a:prstGeom prst="roundRect">
            <a:avLst>
              <a:gd name="adj" fmla="val 8333"/>
            </a:avLst>
          </a:prstGeom>
          <a:solidFill>
            <a:srgbClr val="F8FAFC"/>
          </a:solidFill>
          <a:ln w="12700">
            <a:solidFill>
              <a:srgbClr val="E2E8F0"/>
            </a:solidFill>
          </a:ln>
        </p:spPr>
        <p:txBody>
          <a:bodyPr/>
          <a:lstStyle/>
          <a:p>
            <a:endParaRPr lang="en-GB"/>
          </a:p>
        </p:txBody>
      </p:sp>
      <p:sp>
        <p:nvSpPr>
          <p:cNvPr id="7" name="t7"/>
          <p:cNvSpPr txBox="1"/>
          <p:nvPr/>
        </p:nvSpPr>
        <p:spPr>
          <a:xfrm>
            <a:off x="914400" y="2578100"/>
            <a:ext cx="213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4338CA"/>
                </a:solidFill>
                <a:latin typeface="Calibri"/>
                <a:cs typeface="Calibri"/>
              </a:rPr>
              <a:t>In the browser</a:t>
            </a:r>
          </a:p>
        </p:txBody>
      </p:sp>
      <p:sp>
        <p:nvSpPr>
          <p:cNvPr id="8" name="t8"/>
          <p:cNvSpPr txBox="1"/>
          <p:nvPr/>
        </p:nvSpPr>
        <p:spPr>
          <a:xfrm>
            <a:off x="914400" y="2857500"/>
            <a:ext cx="2133600" cy="558800"/>
          </a:xfrm>
          <a:prstGeom prst="rect">
            <a:avLst/>
          </a:prstGeom>
          <a:noFill/>
        </p:spPr>
        <p:txBody>
          <a:bodyPr wrap="square" lIns="0" tIns="0" rIns="0" bIns="0" anchor="t">
            <a:noAutofit/>
          </a:bodyPr>
          <a:lstStyle/>
          <a:p>
            <a:pPr algn="l">
              <a:lnSpc>
                <a:spcPct val="126000"/>
              </a:lnSpc>
              <a:spcBef>
                <a:spcPts val="0"/>
              </a:spcBef>
              <a:spcAft>
                <a:spcPts val="0"/>
              </a:spcAft>
            </a:pPr>
            <a:r>
              <a:rPr lang="en-GB" sz="1150" b="0" dirty="0">
                <a:solidFill>
                  <a:srgbClr val="64748B"/>
                </a:solidFill>
                <a:latin typeface="Calibri"/>
                <a:cs typeface="Calibri"/>
              </a:rPr>
              <a:t>As the user types, on every keystroke</a:t>
            </a:r>
          </a:p>
        </p:txBody>
      </p:sp>
      <p:sp>
        <p:nvSpPr>
          <p:cNvPr id="9" name="r9"/>
          <p:cNvSpPr/>
          <p:nvPr/>
        </p:nvSpPr>
        <p:spPr>
          <a:xfrm>
            <a:off x="3454400" y="2324100"/>
            <a:ext cx="2540000" cy="1219200"/>
          </a:xfrm>
          <a:prstGeom prst="roundRect">
            <a:avLst>
              <a:gd name="adj" fmla="val 8333"/>
            </a:avLst>
          </a:prstGeom>
          <a:solidFill>
            <a:srgbClr val="F8FAFC"/>
          </a:solidFill>
          <a:ln w="12700">
            <a:solidFill>
              <a:srgbClr val="E2E8F0"/>
            </a:solidFill>
          </a:ln>
        </p:spPr>
        <p:txBody>
          <a:bodyPr/>
          <a:lstStyle/>
          <a:p>
            <a:endParaRPr lang="en-GB"/>
          </a:p>
        </p:txBody>
      </p:sp>
      <p:sp>
        <p:nvSpPr>
          <p:cNvPr id="10" name="t10"/>
          <p:cNvSpPr txBox="1"/>
          <p:nvPr/>
        </p:nvSpPr>
        <p:spPr>
          <a:xfrm>
            <a:off x="3657600" y="2578100"/>
            <a:ext cx="213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4338CA"/>
                </a:solidFill>
                <a:latin typeface="Calibri"/>
                <a:cs typeface="Calibri"/>
              </a:rPr>
              <a:t>On the server</a:t>
            </a:r>
          </a:p>
        </p:txBody>
      </p:sp>
      <p:sp>
        <p:nvSpPr>
          <p:cNvPr id="11" name="t11"/>
          <p:cNvSpPr txBox="1"/>
          <p:nvPr/>
        </p:nvSpPr>
        <p:spPr>
          <a:xfrm>
            <a:off x="3657600" y="2857500"/>
            <a:ext cx="2133600" cy="558800"/>
          </a:xfrm>
          <a:prstGeom prst="rect">
            <a:avLst/>
          </a:prstGeom>
          <a:noFill/>
        </p:spPr>
        <p:txBody>
          <a:bodyPr wrap="square" lIns="0" tIns="0" rIns="0" bIns="0" anchor="t">
            <a:noAutofit/>
          </a:bodyPr>
          <a:lstStyle/>
          <a:p>
            <a:pPr algn="l">
              <a:lnSpc>
                <a:spcPct val="126000"/>
              </a:lnSpc>
              <a:spcBef>
                <a:spcPts val="0"/>
              </a:spcBef>
              <a:spcAft>
                <a:spcPts val="0"/>
              </a:spcAft>
            </a:pPr>
            <a:r>
              <a:rPr lang="en-GB" sz="1150" b="0" dirty="0">
                <a:solidFill>
                  <a:srgbClr val="64748B"/>
                </a:solidFill>
                <a:latin typeface="Calibri"/>
                <a:cs typeface="Calibri"/>
              </a:rPr>
              <a:t>Before any write is accepted</a:t>
            </a:r>
          </a:p>
        </p:txBody>
      </p:sp>
      <p:sp>
        <p:nvSpPr>
          <p:cNvPr id="12" name="r12"/>
          <p:cNvSpPr/>
          <p:nvPr/>
        </p:nvSpPr>
        <p:spPr>
          <a:xfrm>
            <a:off x="6197600" y="2324100"/>
            <a:ext cx="2540000" cy="1219200"/>
          </a:xfrm>
          <a:prstGeom prst="roundRect">
            <a:avLst>
              <a:gd name="adj" fmla="val 8333"/>
            </a:avLst>
          </a:prstGeom>
          <a:solidFill>
            <a:srgbClr val="F8FAFC"/>
          </a:solidFill>
          <a:ln w="12700">
            <a:solidFill>
              <a:srgbClr val="E2E8F0"/>
            </a:solidFill>
          </a:ln>
        </p:spPr>
        <p:txBody>
          <a:bodyPr/>
          <a:lstStyle/>
          <a:p>
            <a:endParaRPr lang="en-GB"/>
          </a:p>
        </p:txBody>
      </p:sp>
      <p:sp>
        <p:nvSpPr>
          <p:cNvPr id="13" name="t13"/>
          <p:cNvSpPr txBox="1"/>
          <p:nvPr/>
        </p:nvSpPr>
        <p:spPr>
          <a:xfrm>
            <a:off x="6400800" y="2578100"/>
            <a:ext cx="213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4338CA"/>
                </a:solidFill>
                <a:latin typeface="Calibri"/>
                <a:cs typeface="Calibri"/>
              </a:rPr>
              <a:t>Inside the agents</a:t>
            </a:r>
          </a:p>
        </p:txBody>
      </p:sp>
      <p:sp>
        <p:nvSpPr>
          <p:cNvPr id="14" name="t14"/>
          <p:cNvSpPr txBox="1"/>
          <p:nvPr/>
        </p:nvSpPr>
        <p:spPr>
          <a:xfrm>
            <a:off x="6400800" y="2857500"/>
            <a:ext cx="2133600" cy="558800"/>
          </a:xfrm>
          <a:prstGeom prst="rect">
            <a:avLst/>
          </a:prstGeom>
          <a:noFill/>
        </p:spPr>
        <p:txBody>
          <a:bodyPr wrap="square" lIns="0" tIns="0" rIns="0" bIns="0" anchor="t">
            <a:noAutofit/>
          </a:bodyPr>
          <a:lstStyle/>
          <a:p>
            <a:pPr algn="l">
              <a:lnSpc>
                <a:spcPct val="126000"/>
              </a:lnSpc>
              <a:spcBef>
                <a:spcPts val="0"/>
              </a:spcBef>
              <a:spcAft>
                <a:spcPts val="0"/>
              </a:spcAft>
            </a:pPr>
            <a:r>
              <a:rPr lang="en-GB" sz="1150" b="0" dirty="0">
                <a:solidFill>
                  <a:srgbClr val="64748B"/>
                </a:solidFill>
                <a:latin typeface="Calibri"/>
                <a:cs typeface="Calibri"/>
              </a:rPr>
              <a:t>So a nudge cites the same rule a user sees</a:t>
            </a:r>
          </a:p>
        </p:txBody>
      </p:sp>
      <p:sp>
        <p:nvSpPr>
          <p:cNvPr id="15" name="r15"/>
          <p:cNvSpPr/>
          <p:nvPr/>
        </p:nvSpPr>
        <p:spPr>
          <a:xfrm>
            <a:off x="8940800" y="2324100"/>
            <a:ext cx="2540000" cy="1219200"/>
          </a:xfrm>
          <a:prstGeom prst="roundRect">
            <a:avLst>
              <a:gd name="adj" fmla="val 8333"/>
            </a:avLst>
          </a:prstGeom>
          <a:solidFill>
            <a:srgbClr val="F8FAFC"/>
          </a:solidFill>
          <a:ln w="12700">
            <a:solidFill>
              <a:srgbClr val="E2E8F0"/>
            </a:solidFill>
          </a:ln>
        </p:spPr>
        <p:txBody>
          <a:bodyPr/>
          <a:lstStyle/>
          <a:p>
            <a:endParaRPr lang="en-GB"/>
          </a:p>
        </p:txBody>
      </p:sp>
      <p:sp>
        <p:nvSpPr>
          <p:cNvPr id="16" name="t16"/>
          <p:cNvSpPr txBox="1"/>
          <p:nvPr/>
        </p:nvSpPr>
        <p:spPr>
          <a:xfrm>
            <a:off x="9144000" y="2578100"/>
            <a:ext cx="213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4338CA"/>
                </a:solidFill>
                <a:latin typeface="Calibri"/>
                <a:cs typeface="Calibri"/>
              </a:rPr>
              <a:t>In the importer</a:t>
            </a:r>
          </a:p>
        </p:txBody>
      </p:sp>
      <p:sp>
        <p:nvSpPr>
          <p:cNvPr id="17" name="t17"/>
          <p:cNvSpPr txBox="1"/>
          <p:nvPr/>
        </p:nvSpPr>
        <p:spPr>
          <a:xfrm>
            <a:off x="9144000" y="2857500"/>
            <a:ext cx="2133600" cy="558800"/>
          </a:xfrm>
          <a:prstGeom prst="rect">
            <a:avLst/>
          </a:prstGeom>
          <a:noFill/>
        </p:spPr>
        <p:txBody>
          <a:bodyPr wrap="square" lIns="0" tIns="0" rIns="0" bIns="0" anchor="t">
            <a:noAutofit/>
          </a:bodyPr>
          <a:lstStyle/>
          <a:p>
            <a:pPr algn="l">
              <a:lnSpc>
                <a:spcPct val="126000"/>
              </a:lnSpc>
              <a:spcBef>
                <a:spcPts val="0"/>
              </a:spcBef>
              <a:spcAft>
                <a:spcPts val="0"/>
              </a:spcAft>
            </a:pPr>
            <a:r>
              <a:rPr lang="en-GB" sz="1150" b="0" dirty="0">
                <a:solidFill>
                  <a:srgbClr val="64748B"/>
                </a:solidFill>
                <a:latin typeface="Calibri"/>
                <a:cs typeface="Calibri"/>
              </a:rPr>
              <a:t>So migrated data is judged by the same bar</a:t>
            </a:r>
          </a:p>
        </p:txBody>
      </p:sp>
      <p:sp>
        <p:nvSpPr>
          <p:cNvPr id="18" name="r18"/>
          <p:cNvSpPr/>
          <p:nvPr/>
        </p:nvSpPr>
        <p:spPr>
          <a:xfrm>
            <a:off x="711200" y="3848100"/>
            <a:ext cx="10769600" cy="1041400"/>
          </a:xfrm>
          <a:prstGeom prst="roundRect">
            <a:avLst>
              <a:gd name="adj" fmla="val 9756"/>
            </a:avLst>
          </a:prstGeom>
          <a:solidFill>
            <a:srgbClr val="1E1B4B"/>
          </a:solidFill>
          <a:ln>
            <a:noFill/>
          </a:ln>
        </p:spPr>
        <p:txBody>
          <a:bodyPr/>
          <a:lstStyle/>
          <a:p>
            <a:endParaRPr lang="en-GB"/>
          </a:p>
        </p:txBody>
      </p:sp>
      <p:sp>
        <p:nvSpPr>
          <p:cNvPr id="19" name="t19"/>
          <p:cNvSpPr txBox="1"/>
          <p:nvPr/>
        </p:nvSpPr>
        <p:spPr>
          <a:xfrm>
            <a:off x="1016000" y="4102100"/>
            <a:ext cx="10160000" cy="584200"/>
          </a:xfrm>
          <a:prstGeom prst="rect">
            <a:avLst/>
          </a:prstGeom>
          <a:noFill/>
        </p:spPr>
        <p:txBody>
          <a:bodyPr wrap="square" lIns="0" tIns="0" rIns="0" bIns="0" anchor="t">
            <a:noAutofit/>
          </a:bodyPr>
          <a:lstStyle/>
          <a:p>
            <a:pPr algn="l">
              <a:lnSpc>
                <a:spcPct val="132000"/>
              </a:lnSpc>
              <a:spcBef>
                <a:spcPts val="0"/>
              </a:spcBef>
              <a:spcAft>
                <a:spcPts val="0"/>
              </a:spcAft>
            </a:pPr>
            <a:r>
              <a:rPr lang="en-GB" sz="1350" b="0" dirty="0">
                <a:solidFill>
                  <a:srgbClr val="C7D2FE"/>
                </a:solidFill>
                <a:latin typeface="Calibri"/>
                <a:cs typeface="Calibri"/>
              </a:rPr>
              <a:t>A conformance suite fails the build when the specification and the code disagree, so the product cannot drift away from the method. Every coaching message carries a rule key that resolves back to the specification, so a user can open the rule and argue with it.</a:t>
            </a:r>
          </a:p>
        </p:txBody>
      </p:sp>
      <p:sp>
        <p:nvSpPr>
          <p:cNvPr id="20" name="r20"/>
          <p:cNvSpPr/>
          <p:nvPr/>
        </p:nvSpPr>
        <p:spPr>
          <a:xfrm>
            <a:off x="711200" y="6375400"/>
            <a:ext cx="10769600" cy="9525"/>
          </a:xfrm>
          <a:prstGeom prst="rect">
            <a:avLst/>
          </a:prstGeom>
          <a:solidFill>
            <a:srgbClr val="E2E8F0"/>
          </a:solidFill>
          <a:ln>
            <a:noFill/>
          </a:ln>
        </p:spPr>
        <p:txBody>
          <a:bodyPr/>
          <a:lstStyle/>
          <a:p>
            <a:endParaRPr lang="en-GB"/>
          </a:p>
        </p:txBody>
      </p:sp>
      <p:sp>
        <p:nvSpPr>
          <p:cNvPr id="21" name="t21"/>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WHAT OPENOKR IS</a:t>
            </a:r>
          </a:p>
        </p:txBody>
      </p:sp>
      <p:sp>
        <p:nvSpPr>
          <p:cNvPr id="22" name="t22"/>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THE PRODUCT IS ACTIVE</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Two AI teammates, with names, scopes and accountability</a:t>
            </a:r>
          </a:p>
        </p:txBody>
      </p:sp>
      <p:sp>
        <p:nvSpPr>
          <p:cNvPr id="5" name="r5"/>
          <p:cNvSpPr/>
          <p:nvPr/>
        </p:nvSpPr>
        <p:spPr>
          <a:xfrm>
            <a:off x="711200" y="1485900"/>
            <a:ext cx="5232400" cy="3403600"/>
          </a:xfrm>
          <a:prstGeom prst="roundRect">
            <a:avLst>
              <a:gd name="adj" fmla="val 2985"/>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6" name="r6"/>
          <p:cNvSpPr/>
          <p:nvPr/>
        </p:nvSpPr>
        <p:spPr>
          <a:xfrm>
            <a:off x="711200" y="1485900"/>
            <a:ext cx="44450" cy="3403600"/>
          </a:xfrm>
          <a:prstGeom prst="roundRect">
            <a:avLst>
              <a:gd name="adj" fmla="val 45714"/>
            </a:avLst>
          </a:prstGeom>
          <a:solidFill>
            <a:srgbClr val="4F46E5"/>
          </a:solidFill>
          <a:ln>
            <a:noFill/>
          </a:ln>
        </p:spPr>
        <p:txBody>
          <a:bodyPr/>
          <a:lstStyle/>
          <a:p>
            <a:endParaRPr lang="en-GB"/>
          </a:p>
        </p:txBody>
      </p:sp>
      <p:sp>
        <p:nvSpPr>
          <p:cNvPr id="7" name="r7"/>
          <p:cNvSpPr/>
          <p:nvPr/>
        </p:nvSpPr>
        <p:spPr>
          <a:xfrm>
            <a:off x="965200" y="1739900"/>
            <a:ext cx="431800" cy="431800"/>
          </a:xfrm>
          <a:prstGeom prst="roundRect">
            <a:avLst>
              <a:gd name="adj" fmla="val 50000"/>
            </a:avLst>
          </a:prstGeom>
          <a:solidFill>
            <a:srgbClr val="4F46E5"/>
          </a:solidFill>
          <a:ln>
            <a:noFill/>
          </a:ln>
        </p:spPr>
        <p:txBody>
          <a:bodyPr/>
          <a:lstStyle/>
          <a:p>
            <a:endParaRPr lang="en-GB"/>
          </a:p>
        </p:txBody>
      </p:sp>
      <p:sp>
        <p:nvSpPr>
          <p:cNvPr id="8" name="t8"/>
          <p:cNvSpPr txBox="1"/>
          <p:nvPr/>
        </p:nvSpPr>
        <p:spPr>
          <a:xfrm>
            <a:off x="965200" y="1854200"/>
            <a:ext cx="431800" cy="228600"/>
          </a:xfrm>
          <a:prstGeom prst="rect">
            <a:avLst/>
          </a:prstGeom>
          <a:noFill/>
        </p:spPr>
        <p:txBody>
          <a:bodyPr wrap="square" lIns="0" tIns="0" rIns="0" bIns="0" anchor="t">
            <a:noAutofit/>
          </a:bodyPr>
          <a:lstStyle/>
          <a:p>
            <a:pPr algn="ctr">
              <a:lnSpc>
                <a:spcPct val="116000"/>
              </a:lnSpc>
              <a:spcBef>
                <a:spcPts val="0"/>
              </a:spcBef>
              <a:spcAft>
                <a:spcPts val="0"/>
              </a:spcAft>
            </a:pPr>
            <a:r>
              <a:rPr lang="en-GB" sz="1300" b="1" dirty="0">
                <a:solidFill>
                  <a:srgbClr val="FFFFFF"/>
                </a:solidFill>
                <a:latin typeface="Calibri"/>
                <a:cs typeface="Calibri"/>
              </a:rPr>
              <a:t>C</a:t>
            </a:r>
          </a:p>
        </p:txBody>
      </p:sp>
      <p:sp>
        <p:nvSpPr>
          <p:cNvPr id="9" name="t9"/>
          <p:cNvSpPr txBox="1"/>
          <p:nvPr/>
        </p:nvSpPr>
        <p:spPr>
          <a:xfrm>
            <a:off x="1524000" y="1765300"/>
            <a:ext cx="40894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600" b="1" dirty="0">
                <a:solidFill>
                  <a:srgbClr val="0F172A"/>
                </a:solidFill>
                <a:latin typeface="Calibri"/>
                <a:cs typeface="Calibri"/>
              </a:rPr>
              <a:t>OKR Coach</a:t>
            </a:r>
          </a:p>
        </p:txBody>
      </p:sp>
      <p:sp>
        <p:nvSpPr>
          <p:cNvPr id="10" name="t10"/>
          <p:cNvSpPr txBox="1"/>
          <p:nvPr/>
        </p:nvSpPr>
        <p:spPr>
          <a:xfrm>
            <a:off x="1524000" y="2019300"/>
            <a:ext cx="40894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1100" b="0" dirty="0">
                <a:solidFill>
                  <a:srgbClr val="64748B"/>
                </a:solidFill>
                <a:latin typeface="Calibri"/>
                <a:cs typeface="Calibri"/>
              </a:rPr>
              <a:t>Quality and practice</a:t>
            </a:r>
          </a:p>
        </p:txBody>
      </p:sp>
      <p:sp>
        <p:nvSpPr>
          <p:cNvPr id="11" name="t11"/>
          <p:cNvSpPr txBox="1"/>
          <p:nvPr/>
        </p:nvSpPr>
        <p:spPr>
          <a:xfrm>
            <a:off x="965200" y="2425700"/>
            <a:ext cx="4724400" cy="2286000"/>
          </a:xfrm>
          <a:prstGeom prst="rect">
            <a:avLst/>
          </a:prstGeom>
          <a:noFill/>
        </p:spPr>
        <p:txBody>
          <a:bodyPr wrap="square" lIns="0" tIns="0" rIns="0" bIns="0" anchor="t">
            <a:noAutofit/>
          </a:bodyPr>
          <a:lstStyle/>
          <a:p>
            <a:pPr algn="l">
              <a:lnSpc>
                <a:spcPct val="128000"/>
              </a:lnSpc>
              <a:spcBef>
                <a:spcPts val="0"/>
              </a:spcBef>
              <a:spcAft>
                <a:spcPts val="0"/>
              </a:spcAft>
            </a:pPr>
            <a:r>
              <a:rPr lang="en-GB" sz="1200" b="0" dirty="0">
                <a:solidFill>
                  <a:srgbClr val="334155"/>
                </a:solidFill>
                <a:latin typeface="Calibri"/>
                <a:cs typeface="Calibri"/>
              </a:rPr>
              <a:t>Reviews every draft against the quality checks. Runs a nightly semantic sweep for duplicated metrics, better parents and hidden dependencies.
Speaks up when the not-doing list is empty, when nothing was cut at the capacity check, when a goal is reported on track but its key results have not moved in a month, and when the scores cluster suspiciously near perfect at the close.</a:t>
            </a:r>
          </a:p>
        </p:txBody>
      </p:sp>
      <p:sp>
        <p:nvSpPr>
          <p:cNvPr id="12" name="r12"/>
          <p:cNvSpPr/>
          <p:nvPr/>
        </p:nvSpPr>
        <p:spPr>
          <a:xfrm>
            <a:off x="6248400" y="1485900"/>
            <a:ext cx="5232400" cy="3403600"/>
          </a:xfrm>
          <a:prstGeom prst="roundRect">
            <a:avLst>
              <a:gd name="adj" fmla="val 2985"/>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13" name="r13"/>
          <p:cNvSpPr/>
          <p:nvPr/>
        </p:nvSpPr>
        <p:spPr>
          <a:xfrm>
            <a:off x="6248400" y="1485900"/>
            <a:ext cx="44450" cy="3403600"/>
          </a:xfrm>
          <a:prstGeom prst="roundRect">
            <a:avLst>
              <a:gd name="adj" fmla="val 45714"/>
            </a:avLst>
          </a:prstGeom>
          <a:solidFill>
            <a:srgbClr val="0EA5E9"/>
          </a:solidFill>
          <a:ln>
            <a:noFill/>
          </a:ln>
        </p:spPr>
        <p:txBody>
          <a:bodyPr/>
          <a:lstStyle/>
          <a:p>
            <a:endParaRPr lang="en-GB"/>
          </a:p>
        </p:txBody>
      </p:sp>
      <p:sp>
        <p:nvSpPr>
          <p:cNvPr id="14" name="r14"/>
          <p:cNvSpPr/>
          <p:nvPr/>
        </p:nvSpPr>
        <p:spPr>
          <a:xfrm>
            <a:off x="6502400" y="1739900"/>
            <a:ext cx="431800" cy="431800"/>
          </a:xfrm>
          <a:prstGeom prst="roundRect">
            <a:avLst>
              <a:gd name="adj" fmla="val 50000"/>
            </a:avLst>
          </a:prstGeom>
          <a:solidFill>
            <a:srgbClr val="0EA5E9"/>
          </a:solidFill>
          <a:ln>
            <a:noFill/>
          </a:ln>
        </p:spPr>
        <p:txBody>
          <a:bodyPr/>
          <a:lstStyle/>
          <a:p>
            <a:endParaRPr lang="en-GB"/>
          </a:p>
        </p:txBody>
      </p:sp>
      <p:sp>
        <p:nvSpPr>
          <p:cNvPr id="15" name="t15"/>
          <p:cNvSpPr txBox="1"/>
          <p:nvPr/>
        </p:nvSpPr>
        <p:spPr>
          <a:xfrm>
            <a:off x="6502400" y="1854200"/>
            <a:ext cx="431800" cy="228600"/>
          </a:xfrm>
          <a:prstGeom prst="rect">
            <a:avLst/>
          </a:prstGeom>
          <a:noFill/>
        </p:spPr>
        <p:txBody>
          <a:bodyPr wrap="square" lIns="0" tIns="0" rIns="0" bIns="0" anchor="t">
            <a:noAutofit/>
          </a:bodyPr>
          <a:lstStyle/>
          <a:p>
            <a:pPr algn="ctr">
              <a:lnSpc>
                <a:spcPct val="116000"/>
              </a:lnSpc>
              <a:spcBef>
                <a:spcPts val="0"/>
              </a:spcBef>
              <a:spcAft>
                <a:spcPts val="0"/>
              </a:spcAft>
            </a:pPr>
            <a:r>
              <a:rPr lang="en-GB" sz="1300" b="1" dirty="0">
                <a:solidFill>
                  <a:srgbClr val="FFFFFF"/>
                </a:solidFill>
                <a:latin typeface="Calibri"/>
                <a:cs typeface="Calibri"/>
              </a:rPr>
              <a:t>Ch</a:t>
            </a:r>
          </a:p>
        </p:txBody>
      </p:sp>
      <p:sp>
        <p:nvSpPr>
          <p:cNvPr id="16" name="t16"/>
          <p:cNvSpPr txBox="1"/>
          <p:nvPr/>
        </p:nvSpPr>
        <p:spPr>
          <a:xfrm>
            <a:off x="7061200" y="1765300"/>
            <a:ext cx="40894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600" b="1" dirty="0">
                <a:solidFill>
                  <a:srgbClr val="0F172A"/>
                </a:solidFill>
                <a:latin typeface="Calibri"/>
                <a:cs typeface="Calibri"/>
              </a:rPr>
              <a:t>OKR Champion</a:t>
            </a:r>
          </a:p>
        </p:txBody>
      </p:sp>
      <p:sp>
        <p:nvSpPr>
          <p:cNvPr id="17" name="t17"/>
          <p:cNvSpPr txBox="1"/>
          <p:nvPr/>
        </p:nvSpPr>
        <p:spPr>
          <a:xfrm>
            <a:off x="7061200" y="2019300"/>
            <a:ext cx="40894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1100" b="0" dirty="0">
                <a:solidFill>
                  <a:srgbClr val="64748B"/>
                </a:solidFill>
                <a:latin typeface="Calibri"/>
                <a:cs typeface="Calibri"/>
              </a:rPr>
              <a:t>Rhythm and momentum</a:t>
            </a:r>
          </a:p>
        </p:txBody>
      </p:sp>
      <p:sp>
        <p:nvSpPr>
          <p:cNvPr id="18" name="t18"/>
          <p:cNvSpPr txBox="1"/>
          <p:nvPr/>
        </p:nvSpPr>
        <p:spPr>
          <a:xfrm>
            <a:off x="6502400" y="2425700"/>
            <a:ext cx="4724400" cy="2286000"/>
          </a:xfrm>
          <a:prstGeom prst="rect">
            <a:avLst/>
          </a:prstGeom>
          <a:noFill/>
        </p:spPr>
        <p:txBody>
          <a:bodyPr wrap="square" lIns="0" tIns="0" rIns="0" bIns="0" anchor="t">
            <a:noAutofit/>
          </a:bodyPr>
          <a:lstStyle/>
          <a:p>
            <a:pPr algn="l">
              <a:lnSpc>
                <a:spcPct val="128000"/>
              </a:lnSpc>
              <a:spcBef>
                <a:spcPts val="0"/>
              </a:spcBef>
              <a:spcAft>
                <a:spcPts val="0"/>
              </a:spcAft>
            </a:pPr>
            <a:r>
              <a:rPr lang="en-GB" sz="1200" b="0" dirty="0">
                <a:solidFill>
                  <a:srgbClr val="334155"/>
                </a:solidFill>
                <a:latin typeface="Calibri"/>
                <a:cs typeface="Calibri"/>
              </a:rPr>
              <a:t>Reminds the champion before a check-in is due, on the day, and daily after. Escalates to the reviewer, the coordinator and then the sponsor, always visibly to the person being escalated past.
Runs the blocker clock, opens and closes the weekly session, assembles the digest, keeps the streak, watches every KPI corridor, and drafts the recovery objective when one drops out of range.</a:t>
            </a:r>
          </a:p>
        </p:txBody>
      </p:sp>
      <p:sp>
        <p:nvSpPr>
          <p:cNvPr id="19" name="r19"/>
          <p:cNvSpPr/>
          <p:nvPr/>
        </p:nvSpPr>
        <p:spPr>
          <a:xfrm>
            <a:off x="711200" y="6375400"/>
            <a:ext cx="10769600" cy="9525"/>
          </a:xfrm>
          <a:prstGeom prst="rect">
            <a:avLst/>
          </a:prstGeom>
          <a:solidFill>
            <a:srgbClr val="E2E8F0"/>
          </a:solidFill>
          <a:ln>
            <a:noFill/>
          </a:ln>
        </p:spPr>
        <p:txBody>
          <a:bodyPr/>
          <a:lstStyle/>
          <a:p>
            <a:endParaRPr lang="en-GB"/>
          </a:p>
        </p:txBody>
      </p:sp>
      <p:sp>
        <p:nvSpPr>
          <p:cNvPr id="20" name="t20"/>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WHAT OPENOKR IS</a:t>
            </a:r>
          </a:p>
        </p:txBody>
      </p:sp>
      <p:sp>
        <p:nvSpPr>
          <p:cNvPr id="21" name="t21"/>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THE PRODUCT IS ACTIVE</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It all still works with AI switched off</a:t>
            </a:r>
          </a:p>
        </p:txBody>
      </p:sp>
      <p:sp>
        <p:nvSpPr>
          <p:cNvPr id="5" name="r5"/>
          <p:cNvSpPr/>
          <p:nvPr/>
        </p:nvSpPr>
        <p:spPr>
          <a:xfrm>
            <a:off x="711200" y="1485900"/>
            <a:ext cx="10769600" cy="1219200"/>
          </a:xfrm>
          <a:prstGeom prst="roundRect">
            <a:avLst>
              <a:gd name="adj" fmla="val 8333"/>
            </a:avLst>
          </a:prstGeom>
          <a:solidFill>
            <a:srgbClr val="EEF2FF"/>
          </a:solidFill>
          <a:ln w="12700">
            <a:solidFill>
              <a:srgbClr val="C7D2FE"/>
            </a:solidFill>
          </a:ln>
        </p:spPr>
        <p:txBody>
          <a:bodyPr/>
          <a:lstStyle/>
          <a:p>
            <a:endParaRPr lang="en-GB"/>
          </a:p>
        </p:txBody>
      </p:sp>
      <p:sp>
        <p:nvSpPr>
          <p:cNvPr id="6" name="t6"/>
          <p:cNvSpPr txBox="1"/>
          <p:nvPr/>
        </p:nvSpPr>
        <p:spPr>
          <a:xfrm>
            <a:off x="1041400" y="1790700"/>
            <a:ext cx="10109200" cy="711200"/>
          </a:xfrm>
          <a:prstGeom prst="rect">
            <a:avLst/>
          </a:prstGeom>
          <a:noFill/>
        </p:spPr>
        <p:txBody>
          <a:bodyPr wrap="square" lIns="0" tIns="0" rIns="0" bIns="0" anchor="t">
            <a:noAutofit/>
          </a:bodyPr>
          <a:lstStyle/>
          <a:p>
            <a:pPr algn="l">
              <a:lnSpc>
                <a:spcPct val="130000"/>
              </a:lnSpc>
              <a:spcBef>
                <a:spcPts val="0"/>
              </a:spcBef>
              <a:spcAft>
                <a:spcPts val="0"/>
              </a:spcAft>
            </a:pPr>
            <a:r>
              <a:rPr lang="en-GB" sz="1600" b="0" dirty="0">
                <a:solidFill>
                  <a:srgbClr val="4338CA"/>
                </a:solidFill>
                <a:latin typeface="Calibri"/>
                <a:cs typeface="Calibri"/>
              </a:rPr>
              <a:t>The rules, nudges, escalations, gates, scores and the diagnostic are </a:t>
            </a:r>
            <a:r>
              <a:rPr lang="en-GB" sz="1600" b="1" dirty="0">
                <a:solidFill>
                  <a:srgbClr val="4338CA"/>
                </a:solidFill>
                <a:latin typeface="Calibri"/>
                <a:cs typeface="Calibri"/>
              </a:rPr>
              <a:t>deterministic code</a:t>
            </a:r>
            <a:r>
              <a:rPr lang="en-GB" sz="1600" b="0" dirty="0">
                <a:solidFill>
                  <a:srgbClr val="4338CA"/>
                </a:solidFill>
                <a:latin typeface="Calibri"/>
                <a:cs typeface="Calibri"/>
              </a:rPr>
              <a:t>, not prompts. AI adds drafting, rewriting, semantic judgement and natural language. </a:t>
            </a:r>
            <a:r>
              <a:rPr lang="en-GB" sz="1600" b="1" dirty="0">
                <a:solidFill>
                  <a:srgbClr val="4338CA"/>
                </a:solidFill>
                <a:latin typeface="Calibri"/>
                <a:cs typeface="Calibri"/>
              </a:rPr>
              <a:t>It never makes the decision.</a:t>
            </a:r>
          </a:p>
        </p:txBody>
      </p:sp>
      <p:sp>
        <p:nvSpPr>
          <p:cNvPr id="7" name="t7"/>
          <p:cNvSpPr txBox="1"/>
          <p:nvPr/>
        </p:nvSpPr>
        <p:spPr>
          <a:xfrm>
            <a:off x="711200" y="3035300"/>
            <a:ext cx="3420533"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Sellable where AI is not</a:t>
            </a:r>
          </a:p>
        </p:txBody>
      </p:sp>
      <p:sp>
        <p:nvSpPr>
          <p:cNvPr id="8" name="r8"/>
          <p:cNvSpPr/>
          <p:nvPr/>
        </p:nvSpPr>
        <p:spPr>
          <a:xfrm>
            <a:off x="711200" y="3365500"/>
            <a:ext cx="355600" cy="31750"/>
          </a:xfrm>
          <a:prstGeom prst="rect">
            <a:avLst/>
          </a:prstGeom>
          <a:solidFill>
            <a:srgbClr val="4F46E5"/>
          </a:solidFill>
          <a:ln>
            <a:noFill/>
          </a:ln>
        </p:spPr>
        <p:txBody>
          <a:bodyPr/>
          <a:lstStyle/>
          <a:p>
            <a:endParaRPr lang="en-GB"/>
          </a:p>
        </p:txBody>
      </p:sp>
      <p:sp>
        <p:nvSpPr>
          <p:cNvPr id="9" name="t9"/>
          <p:cNvSpPr txBox="1"/>
          <p:nvPr/>
        </p:nvSpPr>
        <p:spPr>
          <a:xfrm>
            <a:off x="711200" y="3543300"/>
            <a:ext cx="3420533" cy="1143000"/>
          </a:xfrm>
          <a:prstGeom prst="rect">
            <a:avLst/>
          </a:prstGeom>
          <a:noFill/>
        </p:spPr>
        <p:txBody>
          <a:bodyPr wrap="square" lIns="0" tIns="0" rIns="0" bIns="0" anchor="t">
            <a:noAutofit/>
          </a:bodyPr>
          <a:lstStyle/>
          <a:p>
            <a:pPr algn="l">
              <a:lnSpc>
                <a:spcPct val="128000"/>
              </a:lnSpc>
              <a:spcBef>
                <a:spcPts val="0"/>
              </a:spcBef>
              <a:spcAft>
                <a:spcPts val="0"/>
              </a:spcAft>
            </a:pPr>
            <a:r>
              <a:rPr lang="en-GB" sz="1200" b="0" dirty="0">
                <a:solidFill>
                  <a:srgbClr val="334155"/>
                </a:solidFill>
                <a:latin typeface="Calibri"/>
                <a:cs typeface="Calibri"/>
              </a:rPr>
              <a:t>Regulated, air-gapped and AI-sceptical buyers get the whole practice. Continuous integration proves the product is whole with the provider off.</a:t>
            </a:r>
          </a:p>
        </p:txBody>
      </p:sp>
      <p:sp>
        <p:nvSpPr>
          <p:cNvPr id="10" name="t10"/>
          <p:cNvSpPr txBox="1"/>
          <p:nvPr/>
        </p:nvSpPr>
        <p:spPr>
          <a:xfrm>
            <a:off x="4385733" y="3035300"/>
            <a:ext cx="3420533"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Propose by default</a:t>
            </a:r>
          </a:p>
        </p:txBody>
      </p:sp>
      <p:sp>
        <p:nvSpPr>
          <p:cNvPr id="11" name="r11"/>
          <p:cNvSpPr/>
          <p:nvPr/>
        </p:nvSpPr>
        <p:spPr>
          <a:xfrm>
            <a:off x="4385733" y="3365500"/>
            <a:ext cx="355600" cy="31750"/>
          </a:xfrm>
          <a:prstGeom prst="rect">
            <a:avLst/>
          </a:prstGeom>
          <a:solidFill>
            <a:srgbClr val="4F46E5"/>
          </a:solidFill>
          <a:ln>
            <a:noFill/>
          </a:ln>
        </p:spPr>
        <p:txBody>
          <a:bodyPr/>
          <a:lstStyle/>
          <a:p>
            <a:endParaRPr lang="en-GB"/>
          </a:p>
        </p:txBody>
      </p:sp>
      <p:sp>
        <p:nvSpPr>
          <p:cNvPr id="12" name="t12"/>
          <p:cNvSpPr txBox="1"/>
          <p:nvPr/>
        </p:nvSpPr>
        <p:spPr>
          <a:xfrm>
            <a:off x="4385733" y="3543300"/>
            <a:ext cx="3420533" cy="1143000"/>
          </a:xfrm>
          <a:prstGeom prst="rect">
            <a:avLst/>
          </a:prstGeom>
          <a:noFill/>
        </p:spPr>
        <p:txBody>
          <a:bodyPr wrap="square" lIns="0" tIns="0" rIns="0" bIns="0" anchor="t">
            <a:noAutofit/>
          </a:bodyPr>
          <a:lstStyle/>
          <a:p>
            <a:pPr algn="l">
              <a:lnSpc>
                <a:spcPct val="128000"/>
              </a:lnSpc>
              <a:spcBef>
                <a:spcPts val="0"/>
              </a:spcBef>
              <a:spcAft>
                <a:spcPts val="0"/>
              </a:spcAft>
            </a:pPr>
            <a:r>
              <a:rPr lang="en-GB" sz="1200" b="0" dirty="0">
                <a:solidFill>
                  <a:srgbClr val="334155"/>
                </a:solidFill>
                <a:latin typeface="Calibri"/>
                <a:cs typeface="Calibri"/>
              </a:rPr>
              <a:t>Every write an agent wants becomes a proposal in a human review queue. Direct writes need a narrow, explicit opt-in. Sandbox mode commits nothing.</a:t>
            </a:r>
          </a:p>
        </p:txBody>
      </p:sp>
      <p:sp>
        <p:nvSpPr>
          <p:cNvPr id="13" name="t13"/>
          <p:cNvSpPr txBox="1"/>
          <p:nvPr/>
        </p:nvSpPr>
        <p:spPr>
          <a:xfrm>
            <a:off x="8060267" y="3035300"/>
            <a:ext cx="3420533"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Capped and least-privilege</a:t>
            </a:r>
          </a:p>
        </p:txBody>
      </p:sp>
      <p:sp>
        <p:nvSpPr>
          <p:cNvPr id="14" name="r14"/>
          <p:cNvSpPr/>
          <p:nvPr/>
        </p:nvSpPr>
        <p:spPr>
          <a:xfrm>
            <a:off x="8060267" y="3365500"/>
            <a:ext cx="355600" cy="31750"/>
          </a:xfrm>
          <a:prstGeom prst="rect">
            <a:avLst/>
          </a:prstGeom>
          <a:solidFill>
            <a:srgbClr val="4F46E5"/>
          </a:solidFill>
          <a:ln>
            <a:noFill/>
          </a:ln>
        </p:spPr>
        <p:txBody>
          <a:bodyPr/>
          <a:lstStyle/>
          <a:p>
            <a:endParaRPr lang="en-GB"/>
          </a:p>
        </p:txBody>
      </p:sp>
      <p:sp>
        <p:nvSpPr>
          <p:cNvPr id="15" name="t15"/>
          <p:cNvSpPr txBox="1"/>
          <p:nvPr/>
        </p:nvSpPr>
        <p:spPr>
          <a:xfrm>
            <a:off x="8060267" y="3543300"/>
            <a:ext cx="3420533" cy="1143000"/>
          </a:xfrm>
          <a:prstGeom prst="rect">
            <a:avLst/>
          </a:prstGeom>
          <a:noFill/>
        </p:spPr>
        <p:txBody>
          <a:bodyPr wrap="square" lIns="0" tIns="0" rIns="0" bIns="0" anchor="t">
            <a:noAutofit/>
          </a:bodyPr>
          <a:lstStyle/>
          <a:p>
            <a:pPr algn="l">
              <a:lnSpc>
                <a:spcPct val="128000"/>
              </a:lnSpc>
              <a:spcBef>
                <a:spcPts val="0"/>
              </a:spcBef>
              <a:spcAft>
                <a:spcPts val="0"/>
              </a:spcAft>
            </a:pPr>
            <a:r>
              <a:rPr lang="en-GB" sz="1200" b="0" dirty="0">
                <a:solidFill>
                  <a:srgbClr val="334155"/>
                </a:solidFill>
                <a:latin typeface="Calibri"/>
                <a:cs typeface="Calibri"/>
              </a:rPr>
              <a:t>Bindings on named spaces and goals only, never a workspace-wide grant. Every step metered, with a hard cost cap that halts a run mid-flight.</a:t>
            </a:r>
          </a:p>
        </p:txBody>
      </p:sp>
      <p:sp>
        <p:nvSpPr>
          <p:cNvPr id="16" name="r16"/>
          <p:cNvSpPr/>
          <p:nvPr/>
        </p:nvSpPr>
        <p:spPr>
          <a:xfrm>
            <a:off x="711200" y="6375400"/>
            <a:ext cx="10769600" cy="9525"/>
          </a:xfrm>
          <a:prstGeom prst="rect">
            <a:avLst/>
          </a:prstGeom>
          <a:solidFill>
            <a:srgbClr val="E2E8F0"/>
          </a:solidFill>
          <a:ln>
            <a:noFill/>
          </a:ln>
        </p:spPr>
        <p:txBody>
          <a:bodyPr/>
          <a:lstStyle/>
          <a:p>
            <a:endParaRPr lang="en-GB"/>
          </a:p>
        </p:txBody>
      </p:sp>
      <p:sp>
        <p:nvSpPr>
          <p:cNvPr id="17" name="t1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WHAT OPENOKR IS</a:t>
            </a:r>
          </a:p>
        </p:txBody>
      </p:sp>
      <p:sp>
        <p:nvSpPr>
          <p:cNvPr id="18" name="t1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NINE READERS, ONE PRODUCT</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Who it is for</a:t>
            </a:r>
          </a:p>
        </p:txBody>
      </p:sp>
      <p:graphicFrame>
        <p:nvGraphicFramePr>
          <p:cNvPr id="5" name="tbl5"/>
          <p:cNvGraphicFramePr>
            <a:graphicFrameLocks noGrp="1"/>
          </p:cNvGraphicFramePr>
          <p:nvPr/>
        </p:nvGraphicFramePr>
        <p:xfrm>
          <a:off x="711200" y="1485900"/>
          <a:ext cx="10769600" cy="3810000"/>
        </p:xfrm>
        <a:graphic>
          <a:graphicData uri="http://schemas.openxmlformats.org/drawingml/2006/main/table">
            <a:tbl>
              <a:tblPr firstRow="1" bandRow="0"/>
              <a:tblGrid>
                <a:gridCol w="2540000"/>
                <a:gridCol w="8229600"/>
              </a:tblGrid>
              <a:tr h="381000">
                <a:tc>
                  <a:txBody>
                    <a:bodyPr/>
                    <a:lstStyle/>
                    <a:p>
                      <a:pPr algn="l">
                        <a:lnSpc>
                          <a:spcPct val="106000"/>
                        </a:lnSpc>
                      </a:pPr>
                      <a:r>
                        <a:rPr lang="en-GB" sz="1150" b="1" dirty="0">
                          <a:solidFill>
                            <a:srgbClr val="1E1B4B"/>
                          </a:solidFill>
                          <a:latin typeface="Calibri"/>
                          <a:cs typeface="Calibri"/>
                        </a:rPr>
                        <a:t>Reader</a:t>
                      </a:r>
                    </a:p>
                  </a:txBody>
                  <a:tcPr marL="101600" marR="101600" marT="63500" marB="63500" anchor="ctr">
                    <a:lnB w="9525" cap="flat">
                      <a:solidFill>
                        <a:srgbClr val="C7D2FE"/>
                      </a:solidFill>
                    </a:lnB>
                    <a:solidFill>
                      <a:srgbClr val="EEF2FF"/>
                    </a:solidFill>
                  </a:tcPr>
                </a:tc>
                <a:tc>
                  <a:txBody>
                    <a:bodyPr/>
                    <a:lstStyle/>
                    <a:p>
                      <a:pPr algn="l">
                        <a:lnSpc>
                          <a:spcPct val="106000"/>
                        </a:lnSpc>
                      </a:pPr>
                      <a:r>
                        <a:rPr lang="en-GB" sz="1150" b="1" dirty="0">
                          <a:solidFill>
                            <a:srgbClr val="1E1B4B"/>
                          </a:solidFill>
                          <a:latin typeface="Calibri"/>
                          <a:cs typeface="Calibri"/>
                        </a:rPr>
                        <a:t>What OpenOKR gives them</a:t>
                      </a:r>
                    </a:p>
                  </a:txBody>
                  <a:tcPr marL="101600" marR="101600" marT="63500" marB="63500" anchor="ctr">
                    <a:lnB w="9525" cap="flat">
                      <a:solidFill>
                        <a:srgbClr val="C7D2FE"/>
                      </a:solidFill>
                    </a:lnB>
                    <a:solidFill>
                      <a:srgbClr val="EEF2FF"/>
                    </a:solidFill>
                  </a:tcPr>
                </a:tc>
              </a:tr>
              <a:tr h="381000">
                <a:tc>
                  <a:txBody>
                    <a:bodyPr/>
                    <a:lstStyle/>
                    <a:p>
                      <a:pPr algn="l">
                        <a:lnSpc>
                          <a:spcPct val="106000"/>
                        </a:lnSpc>
                      </a:pPr>
                      <a:r>
                        <a:rPr lang="en-GB" sz="1150" b="0" dirty="0">
                          <a:solidFill>
                            <a:srgbClr val="334155"/>
                          </a:solidFill>
                          <a:latin typeface="Calibri"/>
                          <a:cs typeface="Calibri"/>
                        </a:rPr>
                        <a:t>Team member</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One place, or one chat message, that says what they owe this week</a:t>
                      </a:r>
                    </a:p>
                  </a:txBody>
                  <a:tcPr marL="101600" marR="101600" marT="63500" marB="63500" anchor="ctr">
                    <a:lnB w="9525" cap="flat">
                      <a:solidFill>
                        <a:srgbClr val="E2E8F0"/>
                      </a:solidFill>
                    </a:lnB>
                    <a:solidFill>
                      <a:srgbClr val="FFFFFF"/>
                    </a:solidFill>
                  </a:tcPr>
                </a:tc>
              </a:tr>
              <a:tr h="381000">
                <a:tc>
                  <a:txBody>
                    <a:bodyPr/>
                    <a:lstStyle/>
                    <a:p>
                      <a:pPr algn="l">
                        <a:lnSpc>
                          <a:spcPct val="106000"/>
                        </a:lnSpc>
                      </a:pPr>
                      <a:r>
                        <a:rPr lang="en-GB" sz="1150" b="0" dirty="0">
                          <a:solidFill>
                            <a:srgbClr val="334155"/>
                          </a:solidFill>
                          <a:latin typeface="Calibri"/>
                          <a:cs typeface="Calibri"/>
                        </a:rPr>
                        <a:t>Champion</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A composer that says why a key result is weak while it is being written</a:t>
                      </a:r>
                    </a:p>
                  </a:txBody>
                  <a:tcPr marL="101600" marR="101600" marT="63500" marB="63500" anchor="ctr">
                    <a:lnB w="9525" cap="flat">
                      <a:solidFill>
                        <a:srgbClr val="E2E8F0"/>
                      </a:solidFill>
                    </a:lnB>
                    <a:solidFill>
                      <a:srgbClr val="FFFFFF"/>
                    </a:solidFill>
                  </a:tcPr>
                </a:tc>
              </a:tr>
              <a:tr h="381000">
                <a:tc>
                  <a:txBody>
                    <a:bodyPr/>
                    <a:lstStyle/>
                    <a:p>
                      <a:pPr algn="l">
                        <a:lnSpc>
                          <a:spcPct val="106000"/>
                        </a:lnSpc>
                      </a:pPr>
                      <a:r>
                        <a:rPr lang="en-GB" sz="1150" b="0" dirty="0">
                          <a:solidFill>
                            <a:srgbClr val="334155"/>
                          </a:solidFill>
                          <a:latin typeface="Calibri"/>
                          <a:cs typeface="Calibri"/>
                        </a:rPr>
                        <a:t>Reviewer or manager</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Every check-in from their people in one queue, one click to acknowledge</a:t>
                      </a:r>
                    </a:p>
                  </a:txBody>
                  <a:tcPr marL="101600" marR="101600" marT="63500" marB="63500" anchor="ctr">
                    <a:lnB w="9525" cap="flat">
                      <a:solidFill>
                        <a:srgbClr val="E2E8F0"/>
                      </a:solidFill>
                    </a:lnB>
                    <a:solidFill>
                      <a:srgbClr val="FFFFFF"/>
                    </a:solidFill>
                  </a:tcPr>
                </a:tc>
              </a:tr>
              <a:tr h="381000">
                <a:tc>
                  <a:txBody>
                    <a:bodyPr/>
                    <a:lstStyle/>
                    <a:p>
                      <a:pPr algn="l">
                        <a:lnSpc>
                          <a:spcPct val="106000"/>
                        </a:lnSpc>
                      </a:pPr>
                      <a:r>
                        <a:rPr lang="en-GB" sz="1150" b="0" dirty="0">
                          <a:solidFill>
                            <a:srgbClr val="334155"/>
                          </a:solidFill>
                          <a:latin typeface="Calibri"/>
                          <a:cs typeface="Calibri"/>
                        </a:rPr>
                        <a:t>Coordinator</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A weekly session the product runs: confidence, blockers, commitments, digest</a:t>
                      </a:r>
                    </a:p>
                  </a:txBody>
                  <a:tcPr marL="101600" marR="101600" marT="63500" marB="63500" anchor="ctr">
                    <a:lnB w="9525" cap="flat">
                      <a:solidFill>
                        <a:srgbClr val="E2E8F0"/>
                      </a:solidFill>
                    </a:lnB>
                    <a:solidFill>
                      <a:srgbClr val="FFFFFF"/>
                    </a:solidFill>
                  </a:tcPr>
                </a:tc>
              </a:tr>
              <a:tr h="381000">
                <a:tc>
                  <a:txBody>
                    <a:bodyPr/>
                    <a:lstStyle/>
                    <a:p>
                      <a:pPr algn="l">
                        <a:lnSpc>
                          <a:spcPct val="106000"/>
                        </a:lnSpc>
                      </a:pPr>
                      <a:r>
                        <a:rPr lang="en-GB" sz="1150" b="0" dirty="0">
                          <a:solidFill>
                            <a:srgbClr val="334155"/>
                          </a:solidFill>
                          <a:latin typeface="Calibri"/>
                          <a:cs typeface="Calibri"/>
                        </a:rPr>
                        <a:t>Facilitator</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A cycle that knows its phase, and a sixty-minute review with a timer</a:t>
                      </a:r>
                    </a:p>
                  </a:txBody>
                  <a:tcPr marL="101600" marR="101600" marT="63500" marB="63500" anchor="ctr">
                    <a:lnB w="9525" cap="flat">
                      <a:solidFill>
                        <a:srgbClr val="E2E8F0"/>
                      </a:solidFill>
                    </a:lnB>
                    <a:solidFill>
                      <a:srgbClr val="FFFFFF"/>
                    </a:solidFill>
                  </a:tcPr>
                </a:tc>
              </a:tr>
              <a:tr h="381000">
                <a:tc>
                  <a:txBody>
                    <a:bodyPr/>
                    <a:lstStyle/>
                    <a:p>
                      <a:pPr algn="l">
                        <a:lnSpc>
                          <a:spcPct val="106000"/>
                        </a:lnSpc>
                      </a:pPr>
                      <a:r>
                        <a:rPr lang="en-GB" sz="1150" b="0" dirty="0">
                          <a:solidFill>
                            <a:srgbClr val="334155"/>
                          </a:solidFill>
                          <a:latin typeface="Calibri"/>
                          <a:cs typeface="Calibri"/>
                        </a:rPr>
                        <a:t>Executive or sponsor</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The organisation on one map, and escalations before things are unrecoverable</a:t>
                      </a:r>
                    </a:p>
                  </a:txBody>
                  <a:tcPr marL="101600" marR="101600" marT="63500" marB="63500" anchor="ctr">
                    <a:lnB w="9525" cap="flat">
                      <a:solidFill>
                        <a:srgbClr val="E2E8F0"/>
                      </a:solidFill>
                    </a:lnB>
                    <a:solidFill>
                      <a:srgbClr val="FFFFFF"/>
                    </a:solidFill>
                  </a:tcPr>
                </a:tc>
              </a:tr>
              <a:tr h="381000">
                <a:tc>
                  <a:txBody>
                    <a:bodyPr/>
                    <a:lstStyle/>
                    <a:p>
                      <a:pPr algn="l">
                        <a:lnSpc>
                          <a:spcPct val="106000"/>
                        </a:lnSpc>
                      </a:pPr>
                      <a:r>
                        <a:rPr lang="en-GB" sz="1150" b="0" dirty="0">
                          <a:solidFill>
                            <a:srgbClr val="334155"/>
                          </a:solidFill>
                          <a:latin typeface="Calibri"/>
                          <a:cs typeface="Calibri"/>
                        </a:rPr>
                        <a:t>OKR lead or PMO</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Cycles across the organisation, KPI trees, alignment health, all exportable</a:t>
                      </a:r>
                    </a:p>
                  </a:txBody>
                  <a:tcPr marL="101600" marR="101600" marT="63500" marB="63500" anchor="ctr">
                    <a:lnB w="9525" cap="flat">
                      <a:solidFill>
                        <a:srgbClr val="E2E8F0"/>
                      </a:solidFill>
                    </a:lnB>
                    <a:solidFill>
                      <a:srgbClr val="FFFFFF"/>
                    </a:solidFill>
                  </a:tcPr>
                </a:tc>
              </a:tr>
              <a:tr h="381000">
                <a:tc>
                  <a:txBody>
                    <a:bodyPr/>
                    <a:lstStyle/>
                    <a:p>
                      <a:pPr algn="l">
                        <a:lnSpc>
                          <a:spcPct val="106000"/>
                        </a:lnSpc>
                      </a:pPr>
                      <a:r>
                        <a:rPr lang="en-GB" sz="1150" b="0" dirty="0">
                          <a:solidFill>
                            <a:srgbClr val="334155"/>
                          </a:solidFill>
                          <a:latin typeface="Calibri"/>
                          <a:cs typeface="Calibri"/>
                        </a:rPr>
                        <a:t>Administrator</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Access, single sign-on, backups, a tamper-evident audit log, AI cost caps</a:t>
                      </a:r>
                    </a:p>
                  </a:txBody>
                  <a:tcPr marL="101600" marR="101600" marT="63500" marB="63500" anchor="ctr">
                    <a:lnB w="9525" cap="flat">
                      <a:solidFill>
                        <a:srgbClr val="E2E8F0"/>
                      </a:solidFill>
                    </a:lnB>
                    <a:solidFill>
                      <a:srgbClr val="FFFFFF"/>
                    </a:solidFill>
                  </a:tcPr>
                </a:tc>
              </a:tr>
              <a:tr h="381000">
                <a:tc>
                  <a:txBody>
                    <a:bodyPr/>
                    <a:lstStyle/>
                    <a:p>
                      <a:pPr algn="l">
                        <a:lnSpc>
                          <a:spcPct val="106000"/>
                        </a:lnSpc>
                      </a:pPr>
                      <a:r>
                        <a:rPr lang="en-GB" sz="1150" b="0" dirty="0">
                          <a:solidFill>
                            <a:srgbClr val="334155"/>
                          </a:solidFill>
                          <a:latin typeface="Calibri"/>
                          <a:cs typeface="Calibri"/>
                        </a:rPr>
                        <a:t>An external AI agent</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A consented sign-in, acting as its user, within their permissions, audited</a:t>
                      </a:r>
                    </a:p>
                  </a:txBody>
                  <a:tcPr marL="101600" marR="101600" marT="63500" marB="63500" anchor="ctr">
                    <a:lnB w="9525" cap="flat">
                      <a:solidFill>
                        <a:srgbClr val="E2E8F0"/>
                      </a:solidFill>
                    </a:lnB>
                    <a:solidFill>
                      <a:srgbClr val="FFFFFF"/>
                    </a:solidFill>
                  </a:tcPr>
                </a:tc>
              </a:tr>
            </a:tbl>
          </a:graphicData>
        </a:graphic>
      </p:graphicFrame>
      <p:sp>
        <p:nvSpPr>
          <p:cNvPr id="6" name="t6"/>
          <p:cNvSpPr txBox="1"/>
          <p:nvPr/>
        </p:nvSpPr>
        <p:spPr>
          <a:xfrm>
            <a:off x="711200" y="5473700"/>
            <a:ext cx="10769600" cy="304800"/>
          </a:xfrm>
          <a:prstGeom prst="rect">
            <a:avLst/>
          </a:prstGeom>
          <a:noFill/>
        </p:spPr>
        <p:txBody>
          <a:bodyPr wrap="square" lIns="0" tIns="0" rIns="0" bIns="0" anchor="t">
            <a:noAutofit/>
          </a:bodyPr>
          <a:lstStyle/>
          <a:p>
            <a:pPr algn="l">
              <a:lnSpc>
                <a:spcPct val="126000"/>
              </a:lnSpc>
              <a:spcBef>
                <a:spcPts val="0"/>
              </a:spcBef>
              <a:spcAft>
                <a:spcPts val="0"/>
              </a:spcAft>
            </a:pPr>
            <a:r>
              <a:rPr lang="en-GB" sz="1200" b="1" dirty="0">
                <a:solidFill>
                  <a:srgbClr val="64748B"/>
                </a:solidFill>
                <a:latin typeface="Calibri"/>
                <a:cs typeface="Calibri"/>
              </a:rPr>
              <a:t>Organisations it fits:</a:t>
            </a:r>
            <a:r>
              <a:rPr lang="en-GB" sz="1200" b="0" dirty="0">
                <a:solidFill>
                  <a:srgbClr val="64748B"/>
                </a:solidFill>
                <a:latin typeface="Calibri"/>
                <a:cs typeface="Calibri"/>
              </a:rPr>
              <a:t> companies of any size that want the practice and not just a database; universities, government and regulated sectors that must self-host; consultancies running the method for clients.</a:t>
            </a:r>
          </a:p>
        </p:txBody>
      </p:sp>
      <p:sp>
        <p:nvSpPr>
          <p:cNvPr id="7" name="r7"/>
          <p:cNvSpPr/>
          <p:nvPr/>
        </p:nvSpPr>
        <p:spPr>
          <a:xfrm>
            <a:off x="711200" y="6375400"/>
            <a:ext cx="10769600" cy="9525"/>
          </a:xfrm>
          <a:prstGeom prst="rect">
            <a:avLst/>
          </a:prstGeom>
          <a:solidFill>
            <a:srgbClr val="E2E8F0"/>
          </a:solidFill>
          <a:ln>
            <a:noFill/>
          </a:ln>
        </p:spPr>
        <p:txBody>
          <a:bodyPr/>
          <a:lstStyle/>
          <a:p>
            <a:endParaRPr lang="en-GB"/>
          </a:p>
        </p:txBody>
      </p:sp>
      <p:sp>
        <p:nvSpPr>
          <p:cNvPr id="8" name="t8"/>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WHAT OPENOKR IS</a:t>
            </a:r>
          </a:p>
        </p:txBody>
      </p:sp>
      <p:sp>
        <p:nvSpPr>
          <p:cNvPr id="9" name="t9"/>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1E1B4B"/>
          </a:solidFill>
          <a:ln>
            <a:noFill/>
          </a:ln>
        </p:spPr>
        <p:txBody>
          <a:bodyPr/>
          <a:lstStyle/>
          <a:p>
            <a:endParaRPr lang="en-GB"/>
          </a:p>
        </p:txBody>
      </p:sp>
      <p:sp>
        <p:nvSpPr>
          <p:cNvPr id="3" name="r3"/>
          <p:cNvSpPr/>
          <p:nvPr/>
        </p:nvSpPr>
        <p:spPr>
          <a:xfrm>
            <a:off x="0" y="0"/>
            <a:ext cx="12192000" cy="6858000"/>
          </a:xfrm>
          <a:prstGeom prst="rect">
            <a:avLst/>
          </a:prstGeom>
          <a:gradFill rotWithShape="1">
            <a:gsLst>
              <a:gs pos="0">
                <a:srgbClr val="1E1B4B"/>
              </a:gs>
              <a:gs pos="100000">
                <a:srgbClr val="312E81"/>
              </a:gs>
            </a:gsLst>
            <a:lin ang="2700000" scaled="0"/>
          </a:gradFill>
          <a:ln>
            <a:noFill/>
          </a:ln>
        </p:spPr>
        <p:txBody>
          <a:bodyPr/>
          <a:lstStyle/>
          <a:p>
            <a:endParaRPr lang="en-GB"/>
          </a:p>
        </p:txBody>
      </p:sp>
      <p:sp>
        <p:nvSpPr>
          <p:cNvPr id="4" name="r4"/>
          <p:cNvSpPr/>
          <p:nvPr/>
        </p:nvSpPr>
        <p:spPr>
          <a:xfrm>
            <a:off x="0" y="0"/>
            <a:ext cx="76200" cy="6858000"/>
          </a:xfrm>
          <a:prstGeom prst="rect">
            <a:avLst/>
          </a:prstGeom>
          <a:solidFill>
            <a:srgbClr val="4F46E5"/>
          </a:solidFill>
          <a:ln>
            <a:noFill/>
          </a:ln>
        </p:spPr>
        <p:txBody>
          <a:bodyPr/>
          <a:lstStyle/>
          <a:p>
            <a:endParaRPr lang="en-GB"/>
          </a:p>
        </p:txBody>
      </p:sp>
      <p:sp>
        <p:nvSpPr>
          <p:cNvPr id="5" name="t5"/>
          <p:cNvSpPr txBox="1"/>
          <p:nvPr/>
        </p:nvSpPr>
        <p:spPr>
          <a:xfrm>
            <a:off x="1092200" y="2489200"/>
            <a:ext cx="1524000" cy="762000"/>
          </a:xfrm>
          <a:prstGeom prst="rect">
            <a:avLst/>
          </a:prstGeom>
          <a:noFill/>
        </p:spPr>
        <p:txBody>
          <a:bodyPr wrap="square" lIns="0" tIns="0" rIns="0" bIns="0" anchor="t">
            <a:noAutofit/>
          </a:bodyPr>
          <a:lstStyle/>
          <a:p>
            <a:pPr algn="l">
              <a:lnSpc>
                <a:spcPct val="116000"/>
              </a:lnSpc>
              <a:spcBef>
                <a:spcPts val="0"/>
              </a:spcBef>
              <a:spcAft>
                <a:spcPts val="0"/>
              </a:spcAft>
            </a:pPr>
            <a:r>
              <a:rPr lang="en-GB" sz="6200" b="1" dirty="0">
                <a:solidFill>
                  <a:srgbClr val="4F46E5"/>
                </a:solidFill>
                <a:latin typeface="Calibri Light"/>
                <a:cs typeface="Calibri Light"/>
              </a:rPr>
              <a:t>02</a:t>
            </a:r>
          </a:p>
        </p:txBody>
      </p:sp>
      <p:sp>
        <p:nvSpPr>
          <p:cNvPr id="6" name="t6"/>
          <p:cNvSpPr txBox="1"/>
          <p:nvPr/>
        </p:nvSpPr>
        <p:spPr>
          <a:xfrm>
            <a:off x="1092200" y="3403600"/>
            <a:ext cx="8890000" cy="711200"/>
          </a:xfrm>
          <a:prstGeom prst="rect">
            <a:avLst/>
          </a:prstGeom>
          <a:noFill/>
        </p:spPr>
        <p:txBody>
          <a:bodyPr wrap="square" lIns="0" tIns="0" rIns="0" bIns="0" anchor="t">
            <a:noAutofit/>
          </a:bodyPr>
          <a:lstStyle/>
          <a:p>
            <a:pPr algn="l">
              <a:lnSpc>
                <a:spcPct val="116000"/>
              </a:lnSpc>
              <a:spcBef>
                <a:spcPts val="0"/>
              </a:spcBef>
              <a:spcAft>
                <a:spcPts val="0"/>
              </a:spcAft>
            </a:pPr>
            <a:r>
              <a:rPr lang="en-GB" sz="4000" b="1" dirty="0">
                <a:solidFill>
                  <a:srgbClr val="FFFFFF"/>
                </a:solidFill>
                <a:latin typeface="Calibri Light"/>
                <a:cs typeface="Calibri Light"/>
              </a:rPr>
              <a:t>The product</a:t>
            </a:r>
          </a:p>
        </p:txBody>
      </p:sp>
      <p:sp>
        <p:nvSpPr>
          <p:cNvPr id="7" name="t7"/>
          <p:cNvSpPr txBox="1"/>
          <p:nvPr/>
        </p:nvSpPr>
        <p:spPr>
          <a:xfrm>
            <a:off x="1092200" y="4191000"/>
            <a:ext cx="7874000" cy="508000"/>
          </a:xfrm>
          <a:prstGeom prst="rect">
            <a:avLst/>
          </a:prstGeom>
          <a:noFill/>
        </p:spPr>
        <p:txBody>
          <a:bodyPr wrap="square" lIns="0" tIns="0" rIns="0" bIns="0" anchor="t">
            <a:noAutofit/>
          </a:bodyPr>
          <a:lstStyle/>
          <a:p>
            <a:pPr algn="l">
              <a:lnSpc>
                <a:spcPct val="126000"/>
              </a:lnSpc>
              <a:spcBef>
                <a:spcPts val="0"/>
              </a:spcBef>
              <a:spcAft>
                <a:spcPts val="0"/>
              </a:spcAft>
            </a:pPr>
            <a:r>
              <a:rPr lang="en-GB" sz="1400" b="0" dirty="0">
                <a:solidFill>
                  <a:srgbClr val="C7D2FE"/>
                </a:solidFill>
                <a:latin typeface="Calibri"/>
                <a:cs typeface="Calibri"/>
              </a:rPr>
              <a:t>What it actually looks like, screen by screen.</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6366F1"/>
                </a:solidFill>
                <a:latin typeface="Calibri"/>
                <a:cs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The Work Map is the front door</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S-01</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One company-wide tree. Every row carries the same contract: health, staleness, confidence, progress, champion and next step. An outdated badge overrides the last reported health, so nobody can hand-paint a goal green.</a:t>
            </a:r>
          </a:p>
        </p:txBody>
      </p:sp>
      <p:pic>
        <p:nvPicPr>
          <p:cNvPr id="6" name="p6"/>
          <p:cNvPicPr>
            <a:picLocks noChangeAspect="1"/>
          </p:cNvPicPr>
          <p:nvPr/>
        </p:nvPicPr>
        <p:blipFill>
          <a:blip r:embed="rId2"/>
          <a:stretch>
            <a:fillRect/>
          </a:stretch>
        </p:blipFill>
        <p:spPr>
          <a:xfrm>
            <a:off x="1381125" y="1270000"/>
            <a:ext cx="9429750"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A guided cycle that knows what is missing</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S-04 / S-06</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Eight phases with computed completion, never self-reported ticks. Here drafting is locked because three of the seven input pack items are missing, and the block names them. A planning session without inputs produces objectives written from opinion.</a:t>
            </a:r>
          </a:p>
        </p:txBody>
      </p:sp>
      <p:pic>
        <p:nvPicPr>
          <p:cNvPr id="6" name="p6"/>
          <p:cNvPicPr>
            <a:picLocks noChangeAspect="1"/>
          </p:cNvPicPr>
          <p:nvPr/>
        </p:nvPicPr>
        <p:blipFill>
          <a:blip r:embed="rId2"/>
          <a:stretch>
            <a:fillRect/>
          </a:stretch>
        </p:blipFill>
        <p:spPr>
          <a:xfrm>
            <a:off x="2072640" y="1270000"/>
            <a:ext cx="8046720"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THE GUIDED CYCLE</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The eight phases, and the gate on each one</a:t>
            </a:r>
          </a:p>
        </p:txBody>
      </p:sp>
      <p:graphicFrame>
        <p:nvGraphicFramePr>
          <p:cNvPr id="5" name="tbl5"/>
          <p:cNvGraphicFramePr>
            <a:graphicFrameLocks noGrp="1"/>
          </p:cNvGraphicFramePr>
          <p:nvPr/>
        </p:nvGraphicFramePr>
        <p:xfrm>
          <a:off x="711200" y="1485900"/>
          <a:ext cx="10769600" cy="3886200"/>
        </p:xfrm>
        <a:graphic>
          <a:graphicData uri="http://schemas.openxmlformats.org/drawingml/2006/main/table">
            <a:tbl>
              <a:tblPr firstRow="1" bandRow="0"/>
              <a:tblGrid>
                <a:gridCol w="1778000"/>
                <a:gridCol w="5080000"/>
                <a:gridCol w="3911600"/>
              </a:tblGrid>
              <a:tr h="431800">
                <a:tc>
                  <a:txBody>
                    <a:bodyPr/>
                    <a:lstStyle/>
                    <a:p>
                      <a:pPr algn="l">
                        <a:lnSpc>
                          <a:spcPct val="106000"/>
                        </a:lnSpc>
                      </a:pPr>
                      <a:r>
                        <a:rPr lang="en-GB" sz="1100" b="1" dirty="0">
                          <a:solidFill>
                            <a:srgbClr val="1E1B4B"/>
                          </a:solidFill>
                          <a:latin typeface="Calibri"/>
                          <a:cs typeface="Calibri"/>
                        </a:rPr>
                        <a:t>Phase</a:t>
                      </a:r>
                    </a:p>
                  </a:txBody>
                  <a:tcPr marL="101600" marR="101600" marT="63500" marB="63500" anchor="ctr">
                    <a:lnB w="9525" cap="flat">
                      <a:solidFill>
                        <a:srgbClr val="C7D2FE"/>
                      </a:solidFill>
                    </a:lnB>
                    <a:solidFill>
                      <a:srgbClr val="EEF2FF"/>
                    </a:solidFill>
                  </a:tcPr>
                </a:tc>
                <a:tc>
                  <a:txBody>
                    <a:bodyPr/>
                    <a:lstStyle/>
                    <a:p>
                      <a:pPr algn="l">
                        <a:lnSpc>
                          <a:spcPct val="106000"/>
                        </a:lnSpc>
                      </a:pPr>
                      <a:r>
                        <a:rPr lang="en-GB" sz="1100" b="1" dirty="0">
                          <a:solidFill>
                            <a:srgbClr val="1E1B4B"/>
                          </a:solidFill>
                          <a:latin typeface="Calibri"/>
                          <a:cs typeface="Calibri"/>
                        </a:rPr>
                        <a:t>What happens</a:t>
                      </a:r>
                    </a:p>
                  </a:txBody>
                  <a:tcPr marL="101600" marR="101600" marT="63500" marB="63500" anchor="ctr">
                    <a:lnB w="9525" cap="flat">
                      <a:solidFill>
                        <a:srgbClr val="C7D2FE"/>
                      </a:solidFill>
                    </a:lnB>
                    <a:solidFill>
                      <a:srgbClr val="EEF2FF"/>
                    </a:solidFill>
                  </a:tcPr>
                </a:tc>
                <a:tc>
                  <a:txBody>
                    <a:bodyPr/>
                    <a:lstStyle/>
                    <a:p>
                      <a:pPr algn="l">
                        <a:lnSpc>
                          <a:spcPct val="106000"/>
                        </a:lnSpc>
                      </a:pPr>
                      <a:r>
                        <a:rPr lang="en-GB" sz="1100" b="1" dirty="0">
                          <a:solidFill>
                            <a:srgbClr val="1E1B4B"/>
                          </a:solidFill>
                          <a:latin typeface="Calibri"/>
                          <a:cs typeface="Calibri"/>
                        </a:rPr>
                        <a:t>The gate</a:t>
                      </a:r>
                    </a:p>
                  </a:txBody>
                  <a:tcPr marL="101600" marR="101600" marT="63500" marB="63500" anchor="ctr">
                    <a:lnB w="9525" cap="flat">
                      <a:solidFill>
                        <a:srgbClr val="C7D2FE"/>
                      </a:solidFill>
                    </a:lnB>
                    <a:solidFill>
                      <a:srgbClr val="EEF2FF"/>
                    </a:solidFill>
                  </a:tcPr>
                </a:tc>
              </a:tr>
              <a:tr h="431800">
                <a:tc>
                  <a:txBody>
                    <a:bodyPr/>
                    <a:lstStyle/>
                    <a:p>
                      <a:pPr algn="l">
                        <a:lnSpc>
                          <a:spcPct val="106000"/>
                        </a:lnSpc>
                      </a:pPr>
                      <a:r>
                        <a:rPr lang="en-GB" sz="1100" b="0" dirty="0">
                          <a:solidFill>
                            <a:srgbClr val="334155"/>
                          </a:solidFill>
                          <a:latin typeface="Calibri"/>
                          <a:cs typeface="Calibri"/>
                        </a:rPr>
                        <a:t>0. Annual strategy</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Mission, vision, annual strategies and objectives, the not-doing list</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The frame is agreed</a:t>
                      </a:r>
                    </a:p>
                  </a:txBody>
                  <a:tcPr marL="101600" marR="101600" marT="63500" marB="63500" anchor="ctr">
                    <a:lnB w="9525" cap="flat">
                      <a:solidFill>
                        <a:srgbClr val="E2E8F0"/>
                      </a:solidFill>
                    </a:lnB>
                    <a:solidFill>
                      <a:srgbClr val="FFFFFF"/>
                    </a:solidFill>
                  </a:tcPr>
                </a:tc>
              </a:tr>
              <a:tr h="431800">
                <a:tc>
                  <a:txBody>
                    <a:bodyPr/>
                    <a:lstStyle/>
                    <a:p>
                      <a:pPr algn="l">
                        <a:lnSpc>
                          <a:spcPct val="106000"/>
                        </a:lnSpc>
                      </a:pPr>
                      <a:r>
                        <a:rPr lang="en-GB" sz="1100" b="0" dirty="0">
                          <a:solidFill>
                            <a:srgbClr val="334155"/>
                          </a:solidFill>
                          <a:latin typeface="Calibri"/>
                          <a:cs typeface="Calibri"/>
                        </a:rPr>
                        <a:t>1. Prepare</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Sponsor, facilitator, every session booked, the seven-item input pack</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Drafting refused until the pack is complete</a:t>
                      </a:r>
                    </a:p>
                  </a:txBody>
                  <a:tcPr marL="101600" marR="101600" marT="63500" marB="63500" anchor="ctr">
                    <a:lnB w="9525" cap="flat">
                      <a:solidFill>
                        <a:srgbClr val="E2E8F0"/>
                      </a:solidFill>
                    </a:lnB>
                    <a:solidFill>
                      <a:srgbClr val="FFFFFF"/>
                    </a:solidFill>
                  </a:tcPr>
                </a:tc>
              </a:tr>
              <a:tr h="431800">
                <a:tc>
                  <a:txBody>
                    <a:bodyPr/>
                    <a:lstStyle/>
                    <a:p>
                      <a:pPr algn="l">
                        <a:lnSpc>
                          <a:spcPct val="106000"/>
                        </a:lnSpc>
                      </a:pPr>
                      <a:r>
                        <a:rPr lang="en-GB" sz="1100" b="0" dirty="0">
                          <a:solidFill>
                            <a:srgbClr val="334155"/>
                          </a:solidFill>
                          <a:latin typeface="Calibri"/>
                          <a:cs typeface="Calibri"/>
                        </a:rPr>
                        <a:t>2. Diagnose</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Score the last cycle, read KPI baselines, rank five to ten issues</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Prior cycle scored, or a first cycle declared</a:t>
                      </a:r>
                    </a:p>
                  </a:txBody>
                  <a:tcPr marL="101600" marR="101600" marT="63500" marB="63500" anchor="ctr">
                    <a:lnB w="9525" cap="flat">
                      <a:solidFill>
                        <a:srgbClr val="E2E8F0"/>
                      </a:solidFill>
                    </a:lnB>
                    <a:solidFill>
                      <a:srgbClr val="FFFFFF"/>
                    </a:solidFill>
                  </a:tcPr>
                </a:tc>
              </a:tr>
              <a:tr h="431800">
                <a:tc>
                  <a:txBody>
                    <a:bodyPr/>
                    <a:lstStyle/>
                    <a:p>
                      <a:pPr algn="l">
                        <a:lnSpc>
                          <a:spcPct val="106000"/>
                        </a:lnSpc>
                      </a:pPr>
                      <a:r>
                        <a:rPr lang="en-GB" sz="1100" b="0" dirty="0">
                          <a:solidFill>
                            <a:srgbClr val="334155"/>
                          </a:solidFill>
                          <a:latin typeface="Calibri"/>
                          <a:cs typeface="Calibri"/>
                        </a:rPr>
                        <a:t>3. Set direction</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Three to five priorities with twelve-month success statements</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The not-doing list is written</a:t>
                      </a:r>
                    </a:p>
                  </a:txBody>
                  <a:tcPr marL="101600" marR="101600" marT="63500" marB="63500" anchor="ctr">
                    <a:lnB w="9525" cap="flat">
                      <a:solidFill>
                        <a:srgbClr val="E2E8F0"/>
                      </a:solidFill>
                    </a:lnB>
                    <a:solidFill>
                      <a:srgbClr val="FFFFFF"/>
                    </a:solidFill>
                  </a:tcPr>
                </a:tc>
              </a:tr>
              <a:tr h="431800">
                <a:tc>
                  <a:txBody>
                    <a:bodyPr/>
                    <a:lstStyle/>
                    <a:p>
                      <a:pPr algn="l">
                        <a:lnSpc>
                          <a:spcPct val="106000"/>
                        </a:lnSpc>
                      </a:pPr>
                      <a:r>
                        <a:rPr lang="en-GB" sz="1100" b="0" dirty="0">
                          <a:solidFill>
                            <a:srgbClr val="334155"/>
                          </a:solidFill>
                          <a:latin typeface="Calibri"/>
                          <a:cs typeface="Calibri"/>
                        </a:rPr>
                        <a:t>4. Draft OKRs</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Write objectives and key results, the quality checks judging live</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Every key result passes its checks</a:t>
                      </a:r>
                    </a:p>
                  </a:txBody>
                  <a:tcPr marL="101600" marR="101600" marT="63500" marB="63500" anchor="ctr">
                    <a:lnB w="9525" cap="flat">
                      <a:solidFill>
                        <a:srgbClr val="E2E8F0"/>
                      </a:solidFill>
                    </a:lnB>
                    <a:solidFill>
                      <a:srgbClr val="FFFFFF"/>
                    </a:solidFill>
                  </a:tcPr>
                </a:tc>
              </a:tr>
              <a:tr h="431800">
                <a:tc>
                  <a:txBody>
                    <a:bodyPr/>
                    <a:lstStyle/>
                    <a:p>
                      <a:pPr algn="l">
                        <a:lnSpc>
                          <a:spcPct val="106000"/>
                        </a:lnSpc>
                      </a:pPr>
                      <a:r>
                        <a:rPr lang="en-GB" sz="1100" b="0" dirty="0">
                          <a:solidFill>
                            <a:srgbClr val="334155"/>
                          </a:solidFill>
                          <a:latin typeface="Calibri"/>
                          <a:cs typeface="Calibri"/>
                        </a:rPr>
                        <a:t>5. Align and commit</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Map contribution, register dependencies, check capacity</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All six publish gates green</a:t>
                      </a:r>
                    </a:p>
                  </a:txBody>
                  <a:tcPr marL="101600" marR="101600" marT="63500" marB="63500" anchor="ctr">
                    <a:lnB w="9525" cap="flat">
                      <a:solidFill>
                        <a:srgbClr val="E2E8F0"/>
                      </a:solidFill>
                    </a:lnB>
                    <a:solidFill>
                      <a:srgbClr val="FFFFFF"/>
                    </a:solidFill>
                  </a:tcPr>
                </a:tc>
              </a:tr>
              <a:tr h="431800">
                <a:tc>
                  <a:txBody>
                    <a:bodyPr/>
                    <a:lstStyle/>
                    <a:p>
                      <a:pPr algn="l">
                        <a:lnSpc>
                          <a:spcPct val="106000"/>
                        </a:lnSpc>
                      </a:pPr>
                      <a:r>
                        <a:rPr lang="en-GB" sz="1100" b="0" dirty="0">
                          <a:solidFill>
                            <a:srgbClr val="334155"/>
                          </a:solidFill>
                          <a:latin typeface="Calibri"/>
                          <a:cs typeface="Calibri"/>
                        </a:rPr>
                        <a:t>6. Run the cadence</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Weekly check-ins, monthly reviews, the decision log</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Sessions booked for the whole cycle</a:t>
                      </a:r>
                    </a:p>
                  </a:txBody>
                  <a:tcPr marL="101600" marR="101600" marT="63500" marB="63500" anchor="ctr">
                    <a:lnB w="9525" cap="flat">
                      <a:solidFill>
                        <a:srgbClr val="E2E8F0"/>
                      </a:solidFill>
                    </a:lnB>
                    <a:solidFill>
                      <a:srgbClr val="FFFFFF"/>
                    </a:solidFill>
                  </a:tcPr>
                </a:tc>
              </a:tr>
              <a:tr h="431800">
                <a:tc>
                  <a:txBody>
                    <a:bodyPr/>
                    <a:lstStyle/>
                    <a:p>
                      <a:pPr algn="l">
                        <a:lnSpc>
                          <a:spcPct val="106000"/>
                        </a:lnSpc>
                      </a:pPr>
                      <a:r>
                        <a:rPr lang="en-GB" sz="1100" b="0" dirty="0">
                          <a:solidFill>
                            <a:srgbClr val="334155"/>
                          </a:solidFill>
                          <a:latin typeface="Calibri"/>
                          <a:cs typeface="Calibri"/>
                        </a:rPr>
                        <a:t>7. Review and learn</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Score, retro, diagnose, feed forward automatically</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00" b="0" dirty="0">
                          <a:solidFill>
                            <a:srgbClr val="334155"/>
                          </a:solidFill>
                          <a:latin typeface="Calibri"/>
                          <a:cs typeface="Calibri"/>
                        </a:rPr>
                        <a:t>Every objective closed deliberately</a:t>
                      </a:r>
                    </a:p>
                  </a:txBody>
                  <a:tcPr marL="101600" marR="101600" marT="63500" marB="63500" anchor="ctr">
                    <a:lnB w="9525" cap="flat">
                      <a:solidFill>
                        <a:srgbClr val="E2E8F0"/>
                      </a:solidFill>
                    </a:lnB>
                    <a:solidFill>
                      <a:srgbClr val="FFFFFF"/>
                    </a:solidFill>
                  </a:tcPr>
                </a:tc>
              </a:tr>
            </a:tbl>
          </a:graphicData>
        </a:graphic>
      </p:graphicFrame>
      <p:sp>
        <p:nvSpPr>
          <p:cNvPr id="6" name="r6"/>
          <p:cNvSpPr/>
          <p:nvPr/>
        </p:nvSpPr>
        <p:spPr>
          <a:xfrm>
            <a:off x="711200" y="6375400"/>
            <a:ext cx="10769600" cy="9525"/>
          </a:xfrm>
          <a:prstGeom prst="rect">
            <a:avLst/>
          </a:prstGeom>
          <a:solidFill>
            <a:srgbClr val="E2E8F0"/>
          </a:solidFill>
          <a:ln>
            <a:noFill/>
          </a:ln>
        </p:spPr>
        <p:txBody>
          <a:bodyPr/>
          <a:lstStyle/>
          <a:p>
            <a:endParaRPr lang="en-GB"/>
          </a:p>
        </p:txBody>
      </p:sp>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Twenty-six checks, running on every keystroke</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S-09</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The failing objective shows its verdicts inline. One key result measures activity, another has no baseline, and the whole set has no leading indicator. The strength meter and quality panel update live. Warnings never block typing.</a:t>
            </a:r>
          </a:p>
        </p:txBody>
      </p:sp>
      <p:pic>
        <p:nvPicPr>
          <p:cNvPr id="6" name="p6"/>
          <p:cNvPicPr>
            <a:picLocks noChangeAspect="1"/>
          </p:cNvPicPr>
          <p:nvPr/>
        </p:nvPicPr>
        <p:blipFill>
          <a:blip r:embed="rId2"/>
          <a:stretch>
            <a:fillRect/>
          </a:stretch>
        </p:blipFill>
        <p:spPr>
          <a:xfrm>
            <a:off x="1981200" y="1270000"/>
            <a:ext cx="8229600"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QUALITY AT THE POINT OF WRITING</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Coaching that is specific, and arguable</a:t>
            </a:r>
          </a:p>
        </p:txBody>
      </p:sp>
      <p:pic>
        <p:nvPicPr>
          <p:cNvPr id="5" name="p5"/>
          <p:cNvPicPr>
            <a:picLocks noChangeAspect="1"/>
          </p:cNvPicPr>
          <p:nvPr/>
        </p:nvPicPr>
        <p:blipFill>
          <a:blip r:embed="rId2"/>
          <a:stretch>
            <a:fillRect/>
          </a:stretch>
        </p:blipFill>
        <p:spPr>
          <a:xfrm>
            <a:off x="711200" y="1492250"/>
            <a:ext cx="5969000" cy="2984500"/>
          </a:xfrm>
          <a:prstGeom prst="rect">
            <a:avLst/>
          </a:prstGeom>
          <a:ln w="9525">
            <a:solidFill>
              <a:srgbClr val="CBD5E1"/>
            </a:solidFill>
          </a:ln>
          <a:effectLst>
            <a:outerShdw blurRad="160000" dist="36000" dir="5400000" rotWithShape="0">
              <a:srgbClr val="0F172A">
                <a:alpha val="18000"/>
              </a:srgbClr>
            </a:outerShdw>
          </a:effectLst>
        </p:spPr>
      </p:pic>
      <p:sp>
        <p:nvSpPr>
          <p:cNvPr id="6" name="t6"/>
          <p:cNvSpPr txBox="1"/>
          <p:nvPr/>
        </p:nvSpPr>
        <p:spPr>
          <a:xfrm>
            <a:off x="6985000" y="1511300"/>
            <a:ext cx="44958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10">
                <a:solidFill>
                  <a:srgbClr val="4338CA"/>
                </a:solidFill>
                <a:latin typeface="Calibri"/>
                <a:cs typeface="Calibri"/>
              </a:rPr>
              <a:t>EVERY VERDICT OPENS INTO THE RULE</a:t>
            </a:r>
          </a:p>
        </p:txBody>
      </p:sp>
      <p:sp>
        <p:nvSpPr>
          <p:cNvPr id="7" name="t7"/>
          <p:cNvSpPr txBox="1"/>
          <p:nvPr/>
        </p:nvSpPr>
        <p:spPr>
          <a:xfrm>
            <a:off x="6985000" y="1790700"/>
            <a:ext cx="4495800" cy="762000"/>
          </a:xfrm>
          <a:prstGeom prst="rect">
            <a:avLst/>
          </a:prstGeom>
          <a:noFill/>
        </p:spPr>
        <p:txBody>
          <a:bodyPr wrap="square" lIns="0" tIns="0" rIns="0" bIns="0" anchor="t">
            <a:noAutofit/>
          </a:bodyPr>
          <a:lstStyle/>
          <a:p>
            <a:pPr algn="l">
              <a:lnSpc>
                <a:spcPct val="130000"/>
              </a:lnSpc>
              <a:spcBef>
                <a:spcPts val="0"/>
              </a:spcBef>
              <a:spcAft>
                <a:spcPts val="0"/>
              </a:spcAft>
            </a:pPr>
            <a:r>
              <a:rPr lang="en-GB" sz="1250" b="0" dirty="0">
                <a:solidFill>
                  <a:srgbClr val="334155"/>
                </a:solidFill>
                <a:latin typeface="Calibri"/>
                <a:cs typeface="Calibri"/>
              </a:rPr>
              <a:t>The coaching prompt, why it matters, a weak-versus-strong pair, and a rewrite the user applies or dismisses. Never a bare error string, and never a mysterious red dot.</a:t>
            </a:r>
          </a:p>
        </p:txBody>
      </p:sp>
      <p:sp>
        <p:nvSpPr>
          <p:cNvPr id="8" name="t8"/>
          <p:cNvSpPr txBox="1"/>
          <p:nvPr/>
        </p:nvSpPr>
        <p:spPr>
          <a:xfrm>
            <a:off x="6985000" y="2705100"/>
            <a:ext cx="44958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10">
                <a:solidFill>
                  <a:srgbClr val="4338CA"/>
                </a:solidFill>
                <a:latin typeface="Calibri"/>
                <a:cs typeface="Calibri"/>
              </a:rPr>
              <a:t>SOME OF WHAT IT CATCHES</a:t>
            </a:r>
          </a:p>
        </p:txBody>
      </p:sp>
      <p:sp>
        <p:nvSpPr>
          <p:cNvPr id="9" name="t9"/>
          <p:cNvSpPr txBox="1"/>
          <p:nvPr/>
        </p:nvSpPr>
        <p:spPr>
          <a:xfrm>
            <a:off x="6985000" y="2984500"/>
            <a:ext cx="4495800" cy="1524000"/>
          </a:xfrm>
          <a:prstGeom prst="rect">
            <a:avLst/>
          </a:prstGeom>
          <a:noFill/>
        </p:spPr>
        <p:txBody>
          <a:bodyPr wrap="square" lIns="0" tIns="0" rIns="0" bIns="0" anchor="t">
            <a:noAutofit/>
          </a:bodyPr>
          <a:lstStyle/>
          <a:p>
            <a:pPr algn="l" marL="177800" indent="-177800">
              <a:lnSpc>
                <a:spcPct val="122000"/>
              </a:lnSpc>
              <a:spcBef>
                <a:spcPts val="0"/>
              </a:spcBef>
              <a:spcAft>
                <a:spcPts val="700"/>
              </a:spcAft>
              <a:buClr>
                <a:srgbClr val="4F46E5"/>
              </a:buClr>
              <a:buSzPct val="90000"/>
              <a:buFont typeface="Arial"/>
              <a:buChar char="●"/>
            </a:pPr>
            <a:r>
              <a:rPr lang="en-GB" sz="1150" b="0" dirty="0">
                <a:solidFill>
                  <a:srgbClr val="334155"/>
                </a:solidFill>
                <a:latin typeface="Calibri"/>
                <a:cs typeface="Calibri"/>
              </a:rPr>
              <a:t>An objective starting with "launch". If we launch it and nothing changes, did we succeed?</a:t>
            </a:r>
          </a:p>
          <a:p>
            <a:pPr algn="l" marL="177800" indent="-177800">
              <a:lnSpc>
                <a:spcPct val="122000"/>
              </a:lnSpc>
              <a:spcBef>
                <a:spcPts val="0"/>
              </a:spcBef>
              <a:spcAft>
                <a:spcPts val="700"/>
              </a:spcAft>
              <a:buClr>
                <a:srgbClr val="4F46E5"/>
              </a:buClr>
              <a:buSzPct val="90000"/>
              <a:buFont typeface="Arial"/>
              <a:buChar char="●"/>
            </a:pPr>
            <a:r>
              <a:rPr lang="en-GB" sz="1150" b="0" dirty="0">
                <a:solidFill>
                  <a:srgbClr val="334155"/>
                </a:solidFill>
                <a:latin typeface="Calibri"/>
                <a:cs typeface="Calibri"/>
              </a:rPr>
              <a:t>A key result with a target but no baseline. Without the "from", movement cannot be proved.</a:t>
            </a:r>
          </a:p>
          <a:p>
            <a:pPr algn="l" marL="177800" indent="-177800">
              <a:lnSpc>
                <a:spcPct val="122000"/>
              </a:lnSpc>
              <a:spcBef>
                <a:spcPts val="0"/>
              </a:spcBef>
              <a:spcAft>
                <a:spcPts val="700"/>
              </a:spcAft>
              <a:buClr>
                <a:srgbClr val="4F46E5"/>
              </a:buClr>
              <a:buSzPct val="90000"/>
              <a:buFont typeface="Arial"/>
              <a:buChar char="●"/>
            </a:pPr>
            <a:r>
              <a:rPr lang="en-GB" sz="1150" b="0" dirty="0">
                <a:solidFill>
                  <a:srgbClr val="334155"/>
                </a:solidFill>
                <a:latin typeface="Calibri"/>
                <a:cs typeface="Calibri"/>
              </a:rPr>
              <a:t>"Hold twelve customer interviews." That is activity. What are they for? Measure that.</a:t>
            </a:r>
          </a:p>
          <a:p>
            <a:pPr algn="l" marL="177800" indent="-177800">
              <a:lnSpc>
                <a:spcPct val="122000"/>
              </a:lnSpc>
              <a:spcBef>
                <a:spcPts val="0"/>
              </a:spcBef>
              <a:spcAft>
                <a:spcPts val="700"/>
              </a:spcAft>
              <a:buClr>
                <a:srgbClr val="4F46E5"/>
              </a:buClr>
              <a:buSzPct val="90000"/>
              <a:buFont typeface="Arial"/>
              <a:buChar char="●"/>
            </a:pPr>
            <a:r>
              <a:rPr lang="en-GB" sz="1150" b="0" dirty="0">
                <a:solidFill>
                  <a:srgbClr val="334155"/>
                </a:solidFill>
                <a:latin typeface="Calibri"/>
                <a:cs typeface="Calibri"/>
              </a:rPr>
              <a:t>Every key result lagging. You only find out at the end. Add a leading indicator.</a:t>
            </a:r>
          </a:p>
          <a:p>
            <a:pPr algn="l" marL="177800" indent="-177800">
              <a:lnSpc>
                <a:spcPct val="122000"/>
              </a:lnSpc>
              <a:spcBef>
                <a:spcPts val="0"/>
              </a:spcBef>
              <a:spcAft>
                <a:spcPts val="700"/>
              </a:spcAft>
              <a:buClr>
                <a:srgbClr val="4F46E5"/>
              </a:buClr>
              <a:buSzPct val="90000"/>
              <a:buFont typeface="Arial"/>
              <a:buChar char="●"/>
            </a:pPr>
            <a:r>
              <a:rPr lang="en-GB" sz="1150" b="0" dirty="0">
                <a:solidFill>
                  <a:srgbClr val="334155"/>
                </a:solidFill>
                <a:latin typeface="Calibri"/>
                <a:cs typeface="Calibri"/>
              </a:rPr>
              <a:t>Average confidence above ninety percent at drafting. That is sandbagging, not a stretch.</a:t>
            </a:r>
          </a:p>
        </p:txBody>
      </p:sp>
      <p:sp>
        <p:nvSpPr>
          <p:cNvPr id="10" name="r10"/>
          <p:cNvSpPr/>
          <p:nvPr/>
        </p:nvSpPr>
        <p:spPr>
          <a:xfrm>
            <a:off x="711200" y="6375400"/>
            <a:ext cx="10769600" cy="9525"/>
          </a:xfrm>
          <a:prstGeom prst="rect">
            <a:avLst/>
          </a:prstGeom>
          <a:solidFill>
            <a:srgbClr val="E2E8F0"/>
          </a:solidFill>
          <a:ln>
            <a:noFill/>
          </a:ln>
        </p:spPr>
        <p:txBody>
          <a:bodyPr/>
          <a:lstStyle/>
          <a:p>
            <a:endParaRPr lang="en-GB"/>
          </a:p>
        </p:txBody>
      </p:sp>
      <p:sp>
        <p:nvSpPr>
          <p:cNvPr id="11" name="t11"/>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12" name="t12"/>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ALIGN AND COMMIT</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Six publish gates, enforced server-side</a:t>
            </a:r>
          </a:p>
        </p:txBody>
      </p:sp>
      <p:sp>
        <p:nvSpPr>
          <p:cNvPr id="5" name="r5"/>
          <p:cNvSpPr/>
          <p:nvPr/>
        </p:nvSpPr>
        <p:spPr>
          <a:xfrm>
            <a:off x="711200" y="1485900"/>
            <a:ext cx="330200" cy="330200"/>
          </a:xfrm>
          <a:prstGeom prst="roundRect">
            <a:avLst>
              <a:gd name="adj" fmla="val 50000"/>
            </a:avLst>
          </a:prstGeom>
          <a:solidFill>
            <a:srgbClr val="EEF2FF"/>
          </a:solidFill>
          <a:ln>
            <a:noFill/>
          </a:ln>
        </p:spPr>
        <p:txBody>
          <a:bodyPr/>
          <a:lstStyle/>
          <a:p>
            <a:endParaRPr lang="en-GB"/>
          </a:p>
        </p:txBody>
      </p:sp>
      <p:sp>
        <p:nvSpPr>
          <p:cNvPr id="6" name="t6"/>
          <p:cNvSpPr txBox="1"/>
          <p:nvPr/>
        </p:nvSpPr>
        <p:spPr>
          <a:xfrm>
            <a:off x="711200" y="15621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4338CA"/>
                </a:solidFill>
                <a:latin typeface="Calibri"/>
                <a:cs typeface="Calibri"/>
              </a:rPr>
              <a:t>1</a:t>
            </a:r>
          </a:p>
        </p:txBody>
      </p:sp>
      <p:sp>
        <p:nvSpPr>
          <p:cNvPr id="7" name="t7"/>
          <p:cNvSpPr txBox="1"/>
          <p:nvPr/>
        </p:nvSpPr>
        <p:spPr>
          <a:xfrm>
            <a:off x="1219200" y="1536700"/>
            <a:ext cx="5842000"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0" dirty="0">
                <a:solidFill>
                  <a:srgbClr val="334155"/>
                </a:solidFill>
                <a:latin typeface="Calibri"/>
                <a:cs typeface="Calibri"/>
              </a:rPr>
              <a:t>Every objective has a title, a named champion and a named reviewer.</a:t>
            </a:r>
          </a:p>
        </p:txBody>
      </p:sp>
      <p:sp>
        <p:nvSpPr>
          <p:cNvPr id="8" name="r8"/>
          <p:cNvSpPr/>
          <p:nvPr/>
        </p:nvSpPr>
        <p:spPr>
          <a:xfrm>
            <a:off x="711200" y="1993900"/>
            <a:ext cx="330200" cy="330200"/>
          </a:xfrm>
          <a:prstGeom prst="roundRect">
            <a:avLst>
              <a:gd name="adj" fmla="val 50000"/>
            </a:avLst>
          </a:prstGeom>
          <a:solidFill>
            <a:srgbClr val="EEF2FF"/>
          </a:solidFill>
          <a:ln>
            <a:noFill/>
          </a:ln>
        </p:spPr>
        <p:txBody>
          <a:bodyPr/>
          <a:lstStyle/>
          <a:p>
            <a:endParaRPr lang="en-GB"/>
          </a:p>
        </p:txBody>
      </p:sp>
      <p:sp>
        <p:nvSpPr>
          <p:cNvPr id="9" name="t9"/>
          <p:cNvSpPr txBox="1"/>
          <p:nvPr/>
        </p:nvSpPr>
        <p:spPr>
          <a:xfrm>
            <a:off x="711200" y="20701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4338CA"/>
                </a:solidFill>
                <a:latin typeface="Calibri"/>
                <a:cs typeface="Calibri"/>
              </a:rPr>
              <a:t>2</a:t>
            </a:r>
          </a:p>
        </p:txBody>
      </p:sp>
      <p:sp>
        <p:nvSpPr>
          <p:cNvPr id="10" name="t10"/>
          <p:cNvSpPr txBox="1"/>
          <p:nvPr/>
        </p:nvSpPr>
        <p:spPr>
          <a:xfrm>
            <a:off x="1219200" y="2044700"/>
            <a:ext cx="5842000"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0" dirty="0">
                <a:solidFill>
                  <a:srgbClr val="334155"/>
                </a:solidFill>
                <a:latin typeface="Calibri"/>
                <a:cs typeface="Calibri"/>
              </a:rPr>
              <a:t>Every key result passes its checks.</a:t>
            </a:r>
          </a:p>
        </p:txBody>
      </p:sp>
      <p:sp>
        <p:nvSpPr>
          <p:cNvPr id="11" name="r11"/>
          <p:cNvSpPr/>
          <p:nvPr/>
        </p:nvSpPr>
        <p:spPr>
          <a:xfrm>
            <a:off x="711200" y="2501900"/>
            <a:ext cx="330200" cy="330200"/>
          </a:xfrm>
          <a:prstGeom prst="roundRect">
            <a:avLst>
              <a:gd name="adj" fmla="val 50000"/>
            </a:avLst>
          </a:prstGeom>
          <a:solidFill>
            <a:srgbClr val="EEF2FF"/>
          </a:solidFill>
          <a:ln>
            <a:noFill/>
          </a:ln>
        </p:spPr>
        <p:txBody>
          <a:bodyPr/>
          <a:lstStyle/>
          <a:p>
            <a:endParaRPr lang="en-GB"/>
          </a:p>
        </p:txBody>
      </p:sp>
      <p:sp>
        <p:nvSpPr>
          <p:cNvPr id="12" name="t12"/>
          <p:cNvSpPr txBox="1"/>
          <p:nvPr/>
        </p:nvSpPr>
        <p:spPr>
          <a:xfrm>
            <a:off x="711200" y="25781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4338CA"/>
                </a:solidFill>
                <a:latin typeface="Calibri"/>
                <a:cs typeface="Calibri"/>
              </a:rPr>
              <a:t>3</a:t>
            </a:r>
          </a:p>
        </p:txBody>
      </p:sp>
      <p:sp>
        <p:nvSpPr>
          <p:cNvPr id="13" name="t13"/>
          <p:cNvSpPr txBox="1"/>
          <p:nvPr/>
        </p:nvSpPr>
        <p:spPr>
          <a:xfrm>
            <a:off x="1219200" y="2552700"/>
            <a:ext cx="5842000"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0" dirty="0">
                <a:solidFill>
                  <a:srgbClr val="334155"/>
                </a:solidFill>
                <a:latin typeface="Calibri"/>
                <a:cs typeface="Calibri"/>
              </a:rPr>
              <a:t>Alignment is mapped. Each objective states what it contributes to.</a:t>
            </a:r>
          </a:p>
        </p:txBody>
      </p:sp>
      <p:sp>
        <p:nvSpPr>
          <p:cNvPr id="14" name="r14"/>
          <p:cNvSpPr/>
          <p:nvPr/>
        </p:nvSpPr>
        <p:spPr>
          <a:xfrm>
            <a:off x="711200" y="3009900"/>
            <a:ext cx="330200" cy="330200"/>
          </a:xfrm>
          <a:prstGeom prst="roundRect">
            <a:avLst>
              <a:gd name="adj" fmla="val 50000"/>
            </a:avLst>
          </a:prstGeom>
          <a:solidFill>
            <a:srgbClr val="EEF2FF"/>
          </a:solidFill>
          <a:ln>
            <a:noFill/>
          </a:ln>
        </p:spPr>
        <p:txBody>
          <a:bodyPr/>
          <a:lstStyle/>
          <a:p>
            <a:endParaRPr lang="en-GB"/>
          </a:p>
        </p:txBody>
      </p:sp>
      <p:sp>
        <p:nvSpPr>
          <p:cNvPr id="15" name="t15"/>
          <p:cNvSpPr txBox="1"/>
          <p:nvPr/>
        </p:nvSpPr>
        <p:spPr>
          <a:xfrm>
            <a:off x="711200" y="30861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4338CA"/>
                </a:solidFill>
                <a:latin typeface="Calibri"/>
                <a:cs typeface="Calibri"/>
              </a:rPr>
              <a:t>4</a:t>
            </a:r>
          </a:p>
        </p:txBody>
      </p:sp>
      <p:sp>
        <p:nvSpPr>
          <p:cNvPr id="16" name="t16"/>
          <p:cNvSpPr txBox="1"/>
          <p:nvPr/>
        </p:nvSpPr>
        <p:spPr>
          <a:xfrm>
            <a:off x="1219200" y="3060700"/>
            <a:ext cx="5842000"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0" dirty="0">
                <a:solidFill>
                  <a:srgbClr val="334155"/>
                </a:solidFill>
                <a:latin typeface="Calibri"/>
                <a:cs typeface="Calibri"/>
              </a:rPr>
              <a:t>Every dependency is confirmed, or logged with a named risk owner.</a:t>
            </a:r>
          </a:p>
        </p:txBody>
      </p:sp>
      <p:sp>
        <p:nvSpPr>
          <p:cNvPr id="17" name="r17"/>
          <p:cNvSpPr/>
          <p:nvPr/>
        </p:nvSpPr>
        <p:spPr>
          <a:xfrm>
            <a:off x="711200" y="3517900"/>
            <a:ext cx="330200" cy="330200"/>
          </a:xfrm>
          <a:prstGeom prst="roundRect">
            <a:avLst>
              <a:gd name="adj" fmla="val 50000"/>
            </a:avLst>
          </a:prstGeom>
          <a:solidFill>
            <a:srgbClr val="EEF2FF"/>
          </a:solidFill>
          <a:ln>
            <a:noFill/>
          </a:ln>
        </p:spPr>
        <p:txBody>
          <a:bodyPr/>
          <a:lstStyle/>
          <a:p>
            <a:endParaRPr lang="en-GB"/>
          </a:p>
        </p:txBody>
      </p:sp>
      <p:sp>
        <p:nvSpPr>
          <p:cNvPr id="18" name="t18"/>
          <p:cNvSpPr txBox="1"/>
          <p:nvPr/>
        </p:nvSpPr>
        <p:spPr>
          <a:xfrm>
            <a:off x="711200" y="35941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4338CA"/>
                </a:solidFill>
                <a:latin typeface="Calibri"/>
                <a:cs typeface="Calibri"/>
              </a:rPr>
              <a:t>5</a:t>
            </a:r>
          </a:p>
        </p:txBody>
      </p:sp>
      <p:sp>
        <p:nvSpPr>
          <p:cNvPr id="19" name="t19"/>
          <p:cNvSpPr txBox="1"/>
          <p:nvPr/>
        </p:nvSpPr>
        <p:spPr>
          <a:xfrm>
            <a:off x="1219200" y="3568700"/>
            <a:ext cx="5842000"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0" dirty="0">
                <a:solidFill>
                  <a:srgbClr val="334155"/>
                </a:solidFill>
                <a:latin typeface="Calibri"/>
                <a:cs typeface="Calibri"/>
              </a:rPr>
              <a:t>Capacity is checked, nothing is left exceeding, and the cuts are recorded.</a:t>
            </a:r>
          </a:p>
        </p:txBody>
      </p:sp>
      <p:sp>
        <p:nvSpPr>
          <p:cNvPr id="20" name="r20"/>
          <p:cNvSpPr/>
          <p:nvPr/>
        </p:nvSpPr>
        <p:spPr>
          <a:xfrm>
            <a:off x="711200" y="4025900"/>
            <a:ext cx="330200" cy="330200"/>
          </a:xfrm>
          <a:prstGeom prst="roundRect">
            <a:avLst>
              <a:gd name="adj" fmla="val 50000"/>
            </a:avLst>
          </a:prstGeom>
          <a:solidFill>
            <a:srgbClr val="EEF2FF"/>
          </a:solidFill>
          <a:ln>
            <a:noFill/>
          </a:ln>
        </p:spPr>
        <p:txBody>
          <a:bodyPr/>
          <a:lstStyle/>
          <a:p>
            <a:endParaRPr lang="en-GB"/>
          </a:p>
        </p:txBody>
      </p:sp>
      <p:sp>
        <p:nvSpPr>
          <p:cNvPr id="21" name="t21"/>
          <p:cNvSpPr txBox="1"/>
          <p:nvPr/>
        </p:nvSpPr>
        <p:spPr>
          <a:xfrm>
            <a:off x="711200" y="41021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4338CA"/>
                </a:solidFill>
                <a:latin typeface="Calibri"/>
                <a:cs typeface="Calibri"/>
              </a:rPr>
              <a:t>6</a:t>
            </a:r>
          </a:p>
        </p:txBody>
      </p:sp>
      <p:sp>
        <p:nvSpPr>
          <p:cNvPr id="22" name="t22"/>
          <p:cNvSpPr txBox="1"/>
          <p:nvPr/>
        </p:nvSpPr>
        <p:spPr>
          <a:xfrm>
            <a:off x="1219200" y="4076700"/>
            <a:ext cx="5842000"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0" dirty="0">
                <a:solidFill>
                  <a:srgbClr val="334155"/>
                </a:solidFill>
                <a:latin typeface="Calibri"/>
                <a:cs typeface="Calibri"/>
              </a:rPr>
              <a:t>A publication date is set before day one of the cycle.</a:t>
            </a:r>
          </a:p>
        </p:txBody>
      </p:sp>
      <p:sp>
        <p:nvSpPr>
          <p:cNvPr id="23" name="r23"/>
          <p:cNvSpPr/>
          <p:nvPr/>
        </p:nvSpPr>
        <p:spPr>
          <a:xfrm>
            <a:off x="7416800" y="1485900"/>
            <a:ext cx="4064000" cy="3175000"/>
          </a:xfrm>
          <a:prstGeom prst="roundRect">
            <a:avLst>
              <a:gd name="adj" fmla="val 3200"/>
            </a:avLst>
          </a:prstGeom>
          <a:solidFill>
            <a:srgbClr val="FEF3C7"/>
          </a:solidFill>
          <a:ln w="12700">
            <a:solidFill>
              <a:srgbClr val="FCD34D"/>
            </a:solidFill>
          </a:ln>
        </p:spPr>
        <p:txBody>
          <a:bodyPr/>
          <a:lstStyle/>
          <a:p>
            <a:endParaRPr lang="en-GB"/>
          </a:p>
        </p:txBody>
      </p:sp>
      <p:sp>
        <p:nvSpPr>
          <p:cNvPr id="24" name="t24"/>
          <p:cNvSpPr txBox="1"/>
          <p:nvPr/>
        </p:nvSpPr>
        <p:spPr>
          <a:xfrm>
            <a:off x="7721600" y="1790700"/>
            <a:ext cx="3454400" cy="3048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1" dirty="0">
                <a:solidFill>
                  <a:srgbClr val="B45309"/>
                </a:solidFill>
                <a:latin typeface="Calibri"/>
                <a:cs typeface="Calibri"/>
              </a:rPr>
              <a:t>Gate five is the one nobody has had</a:t>
            </a:r>
          </a:p>
        </p:txBody>
      </p:sp>
      <p:sp>
        <p:nvSpPr>
          <p:cNvPr id="25" name="t25"/>
          <p:cNvSpPr txBox="1"/>
          <p:nvPr/>
        </p:nvSpPr>
        <p:spPr>
          <a:xfrm>
            <a:off x="7721600" y="2171700"/>
            <a:ext cx="3454400" cy="2286000"/>
          </a:xfrm>
          <a:prstGeom prst="rect">
            <a:avLst/>
          </a:prstGeom>
          <a:noFill/>
        </p:spPr>
        <p:txBody>
          <a:bodyPr wrap="square" lIns="0" tIns="0" rIns="0" bIns="0" anchor="t">
            <a:noAutofit/>
          </a:bodyPr>
          <a:lstStyle/>
          <a:p>
            <a:pPr algn="l">
              <a:lnSpc>
                <a:spcPct val="130000"/>
              </a:lnSpc>
              <a:spcBef>
                <a:spcPts val="0"/>
              </a:spcBef>
              <a:spcAft>
                <a:spcPts val="0"/>
              </a:spcAft>
            </a:pPr>
            <a:r>
              <a:rPr lang="en-GB" sz="1200" b="0" dirty="0">
                <a:solidFill>
                  <a:srgbClr val="B45309"/>
                </a:solidFill>
                <a:latin typeface="Calibri"/>
                <a:cs typeface="Calibri"/>
              </a:rPr>
              <a:t>Capacity is read from the initiatives actually planned against each key result, not self-declared.
If one exceeds and no cut is recorded, the cycle cannot be published.
</a:t>
            </a:r>
            <a:r>
              <a:rPr lang="en-GB" sz="1200" b="1" dirty="0">
                <a:solidFill>
                  <a:srgbClr val="B45309"/>
                </a:solidFill>
                <a:latin typeface="Calibri"/>
                <a:cs typeface="Calibri"/>
              </a:rPr>
              <a:t>A plan where nothing was cut is a plan that has not been made.</a:t>
            </a:r>
          </a:p>
        </p:txBody>
      </p:sp>
      <p:sp>
        <p:nvSpPr>
          <p:cNvPr id="26" name="r26"/>
          <p:cNvSpPr/>
          <p:nvPr/>
        </p:nvSpPr>
        <p:spPr>
          <a:xfrm>
            <a:off x="711200" y="6375400"/>
            <a:ext cx="10769600" cy="9525"/>
          </a:xfrm>
          <a:prstGeom prst="rect">
            <a:avLst/>
          </a:prstGeom>
          <a:solidFill>
            <a:srgbClr val="E2E8F0"/>
          </a:solidFill>
          <a:ln>
            <a:noFill/>
          </a:ln>
        </p:spPr>
        <p:txBody>
          <a:bodyPr/>
          <a:lstStyle/>
          <a:p>
            <a:endParaRPr lang="en-GB"/>
          </a:p>
        </p:txBody>
      </p:sp>
      <p:sp>
        <p:nvSpPr>
          <p:cNvPr id="27" name="t2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28" name="t2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The publish control states its reason, never sits silently inert</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S-10</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Two gates are red. Capacity exceeds on one key result with nothing recorded as cut, and a dependency on Finance is unconfirmed. The Coach names the consequence rather than just the rule.</a:t>
            </a:r>
          </a:p>
        </p:txBody>
      </p:sp>
      <p:pic>
        <p:nvPicPr>
          <p:cNvPr id="6" name="p6"/>
          <p:cNvPicPr>
            <a:picLocks noChangeAspect="1"/>
          </p:cNvPicPr>
          <p:nvPr/>
        </p:nvPicPr>
        <p:blipFill>
          <a:blip r:embed="rId2"/>
          <a:stretch>
            <a:fillRect/>
          </a:stretch>
        </p:blipFill>
        <p:spPr>
          <a:xfrm>
            <a:off x="1680117" y="1270000"/>
            <a:ext cx="8831766"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Alignment is contribution, not copying</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S-16</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Solid connectors are contribution, dashed are dependencies both teams know about. The orphan goal is flagged, the health score names every gap with its penalty, and the Coach adds what structure alone cannot see.</a:t>
            </a:r>
          </a:p>
        </p:txBody>
      </p:sp>
      <p:pic>
        <p:nvPicPr>
          <p:cNvPr id="6" name="p6"/>
          <p:cNvPicPr>
            <a:picLocks noChangeAspect="1"/>
          </p:cNvPicPr>
          <p:nvPr/>
        </p:nvPicPr>
        <p:blipFill>
          <a:blip r:embed="rId2"/>
          <a:stretch>
            <a:fillRect/>
          </a:stretch>
        </p:blipFill>
        <p:spPr>
          <a:xfrm>
            <a:off x="2510828" y="1270000"/>
            <a:ext cx="7170345"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When a KPI leaves its corridor, the product drafts the fix</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S-18 / S-19</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Expansion revenue sits at forty-three percent of target. It was forty percent when the recovery launched and the recovery is forty-nine percent complete, so effective health reads sixty-five: the fix shows before the lagging number catches up. One key result per leading child driver.</a:t>
            </a:r>
          </a:p>
        </p:txBody>
      </p:sp>
      <p:pic>
        <p:nvPicPr>
          <p:cNvPr id="6" name="p6"/>
          <p:cNvPicPr>
            <a:picLocks noChangeAspect="1"/>
          </p:cNvPicPr>
          <p:nvPr/>
        </p:nvPicPr>
        <p:blipFill>
          <a:blip r:embed="rId2"/>
          <a:stretch>
            <a:fillRect/>
          </a:stretch>
        </p:blipFill>
        <p:spPr>
          <a:xfrm>
            <a:off x="1569720" y="1270000"/>
            <a:ext cx="9052560"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Fifteen minutes, four steps, run by the product</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S-22</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Team votes reveal together so nobody anchors on the champion. Every low score becomes a typed blocker with a named owner and one action inside twenty-four hours. Last week's commitments close honestly, including the one that did not land.</a:t>
            </a:r>
          </a:p>
        </p:txBody>
      </p:sp>
      <p:pic>
        <p:nvPicPr>
          <p:cNvPr id="6" name="p6"/>
          <p:cNvPicPr>
            <a:picLocks noChangeAspect="1"/>
          </p:cNvPicPr>
          <p:nvPr/>
        </p:nvPicPr>
        <p:blipFill>
          <a:blip r:embed="rId2"/>
          <a:stretch>
            <a:fillRect/>
          </a:stretch>
        </p:blipFill>
        <p:spPr>
          <a:xfrm>
            <a:off x="2072640" y="1270000"/>
            <a:ext cx="8046720"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Sixty minutes, eleven timed stages, one honest diagnosis</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S-24</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Scores stay hidden until the room reveals them together. Every key result below 0.7 gets exactly one cause. Five process-health statements are scored anonymously, and the lowest becomes next quarter's process priority.</a:t>
            </a:r>
          </a:p>
        </p:txBody>
      </p:sp>
      <p:pic>
        <p:nvPicPr>
          <p:cNvPr id="6" name="p6"/>
          <p:cNvPicPr>
            <a:picLocks noChangeAspect="1"/>
          </p:cNvPicPr>
          <p:nvPr/>
        </p:nvPicPr>
        <p:blipFill>
          <a:blip r:embed="rId2"/>
          <a:stretch>
            <a:fillRect/>
          </a:stretch>
        </p:blipFill>
        <p:spPr>
          <a:xfrm>
            <a:off x="2072640" y="1270000"/>
            <a:ext cx="8046720"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REVIEW AND LEARN</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The diagnostic is the most valuable output of the quarter</a:t>
            </a:r>
          </a:p>
        </p:txBody>
      </p:sp>
      <p:sp>
        <p:nvSpPr>
          <p:cNvPr id="5" name="t5"/>
          <p:cNvSpPr txBox="1"/>
          <p:nvPr/>
        </p:nvSpPr>
        <p:spPr>
          <a:xfrm>
            <a:off x="711200" y="12827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350" b="0" dirty="0">
                <a:solidFill>
                  <a:srgbClr val="64748B"/>
                </a:solidFill>
                <a:latin typeface="Calibri"/>
                <a:cs typeface="Calibri"/>
              </a:rPr>
              <a:t>It reads the cycle score against the rhythm score and returns a verdict with a prescription. Computed from the workspace's own data, and the same answer with AI off.</a:t>
            </a:r>
          </a:p>
        </p:txBody>
      </p:sp>
      <p:graphicFrame>
        <p:nvGraphicFramePr>
          <p:cNvPr id="6" name="tbl6"/>
          <p:cNvGraphicFramePr>
            <a:graphicFrameLocks noGrp="1"/>
          </p:cNvGraphicFramePr>
          <p:nvPr/>
        </p:nvGraphicFramePr>
        <p:xfrm>
          <a:off x="711200" y="1866900"/>
          <a:ext cx="10769600" cy="2438400"/>
        </p:xfrm>
        <a:graphic>
          <a:graphicData uri="http://schemas.openxmlformats.org/drawingml/2006/main/table">
            <a:tbl>
              <a:tblPr firstRow="1" bandRow="0"/>
              <a:tblGrid>
                <a:gridCol w="2667000"/>
                <a:gridCol w="2921000"/>
                <a:gridCol w="5181600"/>
              </a:tblGrid>
              <a:tr h="609600">
                <a:tc>
                  <a:txBody>
                    <a:bodyPr/>
                    <a:lstStyle/>
                    <a:p>
                      <a:pPr algn="l">
                        <a:lnSpc>
                          <a:spcPct val="106000"/>
                        </a:lnSpc>
                      </a:pPr>
                      <a:r>
                        <a:rPr lang="en-GB" sz="1200" b="1" dirty="0">
                          <a:solidFill>
                            <a:srgbClr val="1E1B4B"/>
                          </a:solidFill>
                          <a:latin typeface="Calibri"/>
                          <a:cs typeface="Calibri"/>
                        </a:rPr>
                        <a:t>The situation</a:t>
                      </a:r>
                    </a:p>
                  </a:txBody>
                  <a:tcPr marL="101600" marR="101600" marT="63500" marB="63500" anchor="ctr">
                    <a:lnB w="9525" cap="flat">
                      <a:solidFill>
                        <a:srgbClr val="C7D2FE"/>
                      </a:solidFill>
                    </a:lnB>
                    <a:solidFill>
                      <a:srgbClr val="EEF2FF"/>
                    </a:solidFill>
                  </a:tcPr>
                </a:tc>
                <a:tc>
                  <a:txBody>
                    <a:bodyPr/>
                    <a:lstStyle/>
                    <a:p>
                      <a:pPr algn="l">
                        <a:lnSpc>
                          <a:spcPct val="106000"/>
                        </a:lnSpc>
                      </a:pPr>
                      <a:r>
                        <a:rPr lang="en-GB" sz="1200" b="1" dirty="0">
                          <a:solidFill>
                            <a:srgbClr val="1E1B4B"/>
                          </a:solidFill>
                          <a:latin typeface="Calibri"/>
                          <a:cs typeface="Calibri"/>
                        </a:rPr>
                        <a:t>What it means</a:t>
                      </a:r>
                    </a:p>
                  </a:txBody>
                  <a:tcPr marL="101600" marR="101600" marT="63500" marB="63500" anchor="ctr">
                    <a:lnB w="9525" cap="flat">
                      <a:solidFill>
                        <a:srgbClr val="C7D2FE"/>
                      </a:solidFill>
                    </a:lnB>
                    <a:solidFill>
                      <a:srgbClr val="EEF2FF"/>
                    </a:solidFill>
                  </a:tcPr>
                </a:tc>
                <a:tc>
                  <a:txBody>
                    <a:bodyPr/>
                    <a:lstStyle/>
                    <a:p>
                      <a:pPr algn="l">
                        <a:lnSpc>
                          <a:spcPct val="106000"/>
                        </a:lnSpc>
                      </a:pPr>
                      <a:r>
                        <a:rPr lang="en-GB" sz="1200" b="1" dirty="0">
                          <a:solidFill>
                            <a:srgbClr val="1E1B4B"/>
                          </a:solidFill>
                          <a:latin typeface="Calibri"/>
                          <a:cs typeface="Calibri"/>
                        </a:rPr>
                        <a:t>What to do about it</a:t>
                      </a:r>
                    </a:p>
                  </a:txBody>
                  <a:tcPr marL="101600" marR="101600" marT="63500" marB="63500" anchor="ctr">
                    <a:lnB w="9525" cap="flat">
                      <a:solidFill>
                        <a:srgbClr val="C7D2FE"/>
                      </a:solidFill>
                    </a:lnB>
                    <a:solidFill>
                      <a:srgbClr val="EEF2FF"/>
                    </a:solidFill>
                  </a:tcPr>
                </a:tc>
              </a:tr>
              <a:tr h="609600">
                <a:tc>
                  <a:txBody>
                    <a:bodyPr/>
                    <a:lstStyle/>
                    <a:p>
                      <a:pPr algn="l">
                        <a:lnSpc>
                          <a:spcPct val="106000"/>
                        </a:lnSpc>
                      </a:pPr>
                      <a:r>
                        <a:rPr lang="en-GB" sz="1200" b="0" dirty="0">
                          <a:solidFill>
                            <a:srgbClr val="334155"/>
                          </a:solidFill>
                          <a:latin typeface="Calibri"/>
                          <a:cs typeface="Calibri"/>
                        </a:rPr>
                        <a:t>Cycle score 0.7 or above</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200" b="0" dirty="0">
                          <a:solidFill>
                            <a:srgbClr val="334155"/>
                          </a:solidFill>
                          <a:latin typeface="Calibri"/>
                          <a:cs typeface="Calibri"/>
                        </a:rPr>
                        <a:t>Results delivered</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200" b="0" dirty="0">
                          <a:solidFill>
                            <a:srgbClr val="334155"/>
                          </a:solidFill>
                          <a:latin typeface="Calibri"/>
                          <a:cs typeface="Calibri"/>
                        </a:rPr>
                        <a:t>The question is not effort. It is whether the ambition was set high enough to be worth the quarter</a:t>
                      </a:r>
                    </a:p>
                  </a:txBody>
                  <a:tcPr marL="101600" marR="101600" marT="63500" marB="63500" anchor="ctr">
                    <a:lnB w="9525" cap="flat">
                      <a:solidFill>
                        <a:srgbClr val="E2E8F0"/>
                      </a:solidFill>
                    </a:lnB>
                    <a:solidFill>
                      <a:srgbClr val="FFFFFF"/>
                    </a:solidFill>
                  </a:tcPr>
                </a:tc>
              </a:tr>
              <a:tr h="609600">
                <a:tc>
                  <a:txBody>
                    <a:bodyPr/>
                    <a:lstStyle/>
                    <a:p>
                      <a:pPr algn="l">
                        <a:lnSpc>
                          <a:spcPct val="106000"/>
                        </a:lnSpc>
                      </a:pPr>
                      <a:r>
                        <a:rPr lang="en-GB" sz="1200" b="0" dirty="0">
                          <a:solidFill>
                            <a:srgbClr val="334155"/>
                          </a:solidFill>
                          <a:latin typeface="Calibri"/>
                          <a:cs typeface="Calibri"/>
                        </a:rPr>
                        <a:t>Below 0.7, rhythm strong</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200" b="0" dirty="0">
                          <a:solidFill>
                            <a:srgbClr val="334155"/>
                          </a:solidFill>
                          <a:latin typeface="Calibri"/>
                          <a:cs typeface="Calibri"/>
                        </a:rPr>
                        <a:t>A strategy or OKR-quality problem</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200" b="0" dirty="0">
                          <a:solidFill>
                            <a:srgbClr val="334155"/>
                          </a:solidFill>
                          <a:latin typeface="Calibri"/>
                          <a:cs typeface="Calibri"/>
                        </a:rPr>
                        <a:t>The team ran the practice and still missed. Fix the key results, not the people</a:t>
                      </a:r>
                    </a:p>
                  </a:txBody>
                  <a:tcPr marL="101600" marR="101600" marT="63500" marB="63500" anchor="ctr">
                    <a:lnB w="9525" cap="flat">
                      <a:solidFill>
                        <a:srgbClr val="E2E8F0"/>
                      </a:solidFill>
                    </a:lnB>
                    <a:solidFill>
                      <a:srgbClr val="FFFFFF"/>
                    </a:solidFill>
                  </a:tcPr>
                </a:tc>
              </a:tr>
              <a:tr h="609600">
                <a:tc>
                  <a:txBody>
                    <a:bodyPr/>
                    <a:lstStyle/>
                    <a:p>
                      <a:pPr algn="l">
                        <a:lnSpc>
                          <a:spcPct val="106000"/>
                        </a:lnSpc>
                      </a:pPr>
                      <a:r>
                        <a:rPr lang="en-GB" sz="1200" b="0" dirty="0">
                          <a:solidFill>
                            <a:srgbClr val="334155"/>
                          </a:solidFill>
                          <a:latin typeface="Calibri"/>
                          <a:cs typeface="Calibri"/>
                        </a:rPr>
                        <a:t>Below 0.7, rhythm weak</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200" b="0" dirty="0">
                          <a:solidFill>
                            <a:srgbClr val="334155"/>
                          </a:solidFill>
                          <a:latin typeface="Calibri"/>
                          <a:cs typeface="Calibri"/>
                        </a:rPr>
                        <a:t>A cadence problem</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200" b="0" dirty="0">
                          <a:solidFill>
                            <a:srgbClr val="334155"/>
                          </a:solidFill>
                          <a:latin typeface="Calibri"/>
                          <a:cs typeface="Calibri"/>
                        </a:rPr>
                        <a:t>Restore the weekly check-in before rewriting a single objective</a:t>
                      </a:r>
                    </a:p>
                  </a:txBody>
                  <a:tcPr marL="101600" marR="101600" marT="63500" marB="63500" anchor="ctr">
                    <a:lnB w="9525" cap="flat">
                      <a:solidFill>
                        <a:srgbClr val="E2E8F0"/>
                      </a:solidFill>
                    </a:lnB>
                    <a:solidFill>
                      <a:srgbClr val="FFFFFF"/>
                    </a:solidFill>
                  </a:tcPr>
                </a:tc>
              </a:tr>
            </a:tbl>
          </a:graphicData>
        </a:graphic>
      </p:graphicFrame>
      <p:sp>
        <p:nvSpPr>
          <p:cNvPr id="7" name="t7"/>
          <p:cNvSpPr txBox="1"/>
          <p:nvPr/>
        </p:nvSpPr>
        <p:spPr>
          <a:xfrm>
            <a:off x="711200" y="4610100"/>
            <a:ext cx="10769600" cy="3048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0" dirty="0" i="1">
                <a:solidFill>
                  <a:srgbClr val="334155"/>
                </a:solidFill>
                <a:latin typeface="Calibri"/>
                <a:cs typeface="Calibri"/>
              </a:rPr>
              <a:t>That is the single question every executive asks at the close, and the one no tracker answers.</a:t>
            </a:r>
          </a:p>
        </p:txBody>
      </p:sp>
      <p:sp>
        <p:nvSpPr>
          <p:cNvPr id="8" name="r8"/>
          <p:cNvSpPr/>
          <p:nvPr/>
        </p:nvSpPr>
        <p:spPr>
          <a:xfrm>
            <a:off x="711200" y="6375400"/>
            <a:ext cx="10769600" cy="9525"/>
          </a:xfrm>
          <a:prstGeom prst="rect">
            <a:avLst/>
          </a:prstGeom>
          <a:solidFill>
            <a:srgbClr val="E2E8F0"/>
          </a:solidFill>
          <a:ln>
            <a:noFill/>
          </a:ln>
        </p:spPr>
        <p:txBody>
          <a:bodyPr/>
          <a:lstStyle/>
          <a:p>
            <a:endParaRPr lang="en-GB"/>
          </a:p>
        </p:txBody>
      </p:sp>
      <p:sp>
        <p:nvSpPr>
          <p:cNvPr id="9" name="t9"/>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10" name="t10"/>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A coach that only lives in a browser tab is not active</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CHANNELS</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Every channel is two-way: nudges out, and real work in. A fully conversational WhatsApp check-in captures a typed blocker and its owner. Every message names the rule that sent it and where it sits on the escalation ladder.</a:t>
            </a:r>
          </a:p>
        </p:txBody>
      </p:sp>
      <p:pic>
        <p:nvPicPr>
          <p:cNvPr id="6" name="p6"/>
          <p:cNvPicPr>
            <a:picLocks noChangeAspect="1"/>
          </p:cNvPicPr>
          <p:nvPr/>
        </p:nvPicPr>
        <p:blipFill>
          <a:blip r:embed="rId2"/>
          <a:stretch>
            <a:fillRect/>
          </a:stretch>
        </p:blipFill>
        <p:spPr>
          <a:xfrm>
            <a:off x="1733320" y="1270000"/>
            <a:ext cx="8725359"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482600"/>
            <a:ext cx="10769600" cy="330200"/>
          </a:xfrm>
          <a:prstGeom prst="rect">
            <a:avLst/>
          </a:prstGeom>
          <a:noFill/>
        </p:spPr>
        <p:txBody>
          <a:bodyPr wrap="square" lIns="0" tIns="0" rIns="0" bIns="0" anchor="t">
            <a:noAutofit/>
          </a:bodyPr>
          <a:lstStyle/>
          <a:p>
            <a:pPr algn="l">
              <a:lnSpc>
                <a:spcPct val="116000"/>
              </a:lnSpc>
              <a:spcBef>
                <a:spcPts val="0"/>
              </a:spcBef>
              <a:spcAft>
                <a:spcPts val="0"/>
              </a:spcAft>
            </a:pPr>
            <a:r>
              <a:rPr lang="en-GB" sz="2100" b="1" dirty="0">
                <a:solidFill>
                  <a:srgbClr val="1E1B4B"/>
                </a:solidFill>
                <a:latin typeface="Calibri Light"/>
                <a:cs typeface="Calibri Light"/>
              </a:rPr>
              <a:t>Notifications say what happened. This says what you owe.</a:t>
            </a:r>
          </a:p>
        </p:txBody>
      </p:sp>
      <p:sp>
        <p:nvSpPr>
          <p:cNvPr id="4" name="t4"/>
          <p:cNvSpPr txBox="1"/>
          <p:nvPr/>
        </p:nvSpPr>
        <p:spPr>
          <a:xfrm>
            <a:off x="8686800" y="533400"/>
            <a:ext cx="2794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850" b="1" dirty="0" spc="110">
                <a:solidFill>
                  <a:srgbClr val="4338CA"/>
                </a:solidFill>
                <a:latin typeface="Calibri"/>
                <a:cs typeface="Calibri"/>
              </a:rPr>
              <a:t>S-02</a:t>
            </a:r>
          </a:p>
        </p:txBody>
      </p:sp>
      <p:sp>
        <p:nvSpPr>
          <p:cNvPr id="5" name="t5"/>
          <p:cNvSpPr txBox="1"/>
          <p:nvPr/>
        </p:nvSpPr>
        <p:spPr>
          <a:xfrm>
            <a:off x="711200" y="863600"/>
            <a:ext cx="10769600" cy="381000"/>
          </a:xfrm>
          <a:prstGeom prst="rect">
            <a:avLst/>
          </a:prstGeom>
          <a:noFill/>
        </p:spPr>
        <p:txBody>
          <a:bodyPr wrap="square" lIns="0" tIns="0" rIns="0" bIns="0" anchor="t">
            <a:noAutofit/>
          </a:bodyPr>
          <a:lstStyle/>
          <a:p>
            <a:pPr algn="l">
              <a:lnSpc>
                <a:spcPct val="122000"/>
              </a:lnSpc>
              <a:spcBef>
                <a:spcPts val="0"/>
              </a:spcBef>
              <a:spcAft>
                <a:spcPts val="0"/>
              </a:spcAft>
            </a:pPr>
            <a:r>
              <a:rPr lang="en-GB" sz="1150" b="0" dirty="0">
                <a:solidFill>
                  <a:srgbClr val="64748B"/>
                </a:solidFill>
                <a:latin typeface="Calibri"/>
                <a:cs typeface="Calibri"/>
              </a:rPr>
              <a:t>Server-computed, overdue first, driving a live badge. Agent proposals queue here too. A snooze quietens the message and never hides the obligation.</a:t>
            </a:r>
          </a:p>
        </p:txBody>
      </p:sp>
      <p:pic>
        <p:nvPicPr>
          <p:cNvPr id="6" name="p6"/>
          <p:cNvPicPr>
            <a:picLocks noChangeAspect="1"/>
          </p:cNvPicPr>
          <p:nvPr/>
        </p:nvPicPr>
        <p:blipFill>
          <a:blip r:embed="rId2"/>
          <a:stretch>
            <a:fillRect/>
          </a:stretch>
        </p:blipFill>
        <p:spPr>
          <a:xfrm>
            <a:off x="1885507" y="1270000"/>
            <a:ext cx="8420986" cy="5029200"/>
          </a:xfrm>
          <a:prstGeom prst="rect">
            <a:avLst/>
          </a:prstGeom>
          <a:ln w="9525">
            <a:solidFill>
              <a:srgbClr val="CBD5E1"/>
            </a:solidFill>
          </a:ln>
          <a:effectLst>
            <a:outerShdw blurRad="160000" dist="36000" dir="5400000" rotWithShape="0">
              <a:srgbClr val="0F172A">
                <a:alpha val="18000"/>
              </a:srgbClr>
            </a:outerShdw>
          </a:effectLst>
        </p:spPr>
      </p:pic>
      <p:sp>
        <p:nvSpPr>
          <p:cNvPr id="7" name="t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PRODUCT</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1E1B4B"/>
          </a:solidFill>
          <a:ln>
            <a:noFill/>
          </a:ln>
        </p:spPr>
        <p:txBody>
          <a:bodyPr/>
          <a:lstStyle/>
          <a:p>
            <a:endParaRPr lang="en-GB"/>
          </a:p>
        </p:txBody>
      </p:sp>
      <p:sp>
        <p:nvSpPr>
          <p:cNvPr id="3" name="r3"/>
          <p:cNvSpPr/>
          <p:nvPr/>
        </p:nvSpPr>
        <p:spPr>
          <a:xfrm>
            <a:off x="0" y="0"/>
            <a:ext cx="12192000" cy="6858000"/>
          </a:xfrm>
          <a:prstGeom prst="rect">
            <a:avLst/>
          </a:prstGeom>
          <a:gradFill rotWithShape="1">
            <a:gsLst>
              <a:gs pos="0">
                <a:srgbClr val="1E1B4B"/>
              </a:gs>
              <a:gs pos="100000">
                <a:srgbClr val="312E81"/>
              </a:gs>
            </a:gsLst>
            <a:lin ang="2700000" scaled="0"/>
          </a:gradFill>
          <a:ln>
            <a:noFill/>
          </a:ln>
        </p:spPr>
        <p:txBody>
          <a:bodyPr/>
          <a:lstStyle/>
          <a:p>
            <a:endParaRPr lang="en-GB"/>
          </a:p>
        </p:txBody>
      </p:sp>
      <p:sp>
        <p:nvSpPr>
          <p:cNvPr id="4" name="r4"/>
          <p:cNvSpPr/>
          <p:nvPr/>
        </p:nvSpPr>
        <p:spPr>
          <a:xfrm>
            <a:off x="0" y="0"/>
            <a:ext cx="76200" cy="6858000"/>
          </a:xfrm>
          <a:prstGeom prst="rect">
            <a:avLst/>
          </a:prstGeom>
          <a:solidFill>
            <a:srgbClr val="4F46E5"/>
          </a:solidFill>
          <a:ln>
            <a:noFill/>
          </a:ln>
        </p:spPr>
        <p:txBody>
          <a:bodyPr/>
          <a:lstStyle/>
          <a:p>
            <a:endParaRPr lang="en-GB"/>
          </a:p>
        </p:txBody>
      </p:sp>
      <p:sp>
        <p:nvSpPr>
          <p:cNvPr id="5" name="t5"/>
          <p:cNvSpPr txBox="1"/>
          <p:nvPr/>
        </p:nvSpPr>
        <p:spPr>
          <a:xfrm>
            <a:off x="1092200" y="2489200"/>
            <a:ext cx="1524000" cy="762000"/>
          </a:xfrm>
          <a:prstGeom prst="rect">
            <a:avLst/>
          </a:prstGeom>
          <a:noFill/>
        </p:spPr>
        <p:txBody>
          <a:bodyPr wrap="square" lIns="0" tIns="0" rIns="0" bIns="0" anchor="t">
            <a:noAutofit/>
          </a:bodyPr>
          <a:lstStyle/>
          <a:p>
            <a:pPr algn="l">
              <a:lnSpc>
                <a:spcPct val="116000"/>
              </a:lnSpc>
              <a:spcBef>
                <a:spcPts val="0"/>
              </a:spcBef>
              <a:spcAft>
                <a:spcPts val="0"/>
              </a:spcAft>
            </a:pPr>
            <a:r>
              <a:rPr lang="en-GB" sz="6200" b="1" dirty="0">
                <a:solidFill>
                  <a:srgbClr val="4F46E5"/>
                </a:solidFill>
                <a:latin typeface="Calibri Light"/>
                <a:cs typeface="Calibri Light"/>
              </a:rPr>
              <a:t>03</a:t>
            </a:r>
          </a:p>
        </p:txBody>
      </p:sp>
      <p:sp>
        <p:nvSpPr>
          <p:cNvPr id="6" name="t6"/>
          <p:cNvSpPr txBox="1"/>
          <p:nvPr/>
        </p:nvSpPr>
        <p:spPr>
          <a:xfrm>
            <a:off x="1092200" y="3403600"/>
            <a:ext cx="8890000" cy="711200"/>
          </a:xfrm>
          <a:prstGeom prst="rect">
            <a:avLst/>
          </a:prstGeom>
          <a:noFill/>
        </p:spPr>
        <p:txBody>
          <a:bodyPr wrap="square" lIns="0" tIns="0" rIns="0" bIns="0" anchor="t">
            <a:noAutofit/>
          </a:bodyPr>
          <a:lstStyle/>
          <a:p>
            <a:pPr algn="l">
              <a:lnSpc>
                <a:spcPct val="116000"/>
              </a:lnSpc>
              <a:spcBef>
                <a:spcPts val="0"/>
              </a:spcBef>
              <a:spcAft>
                <a:spcPts val="0"/>
              </a:spcAft>
            </a:pPr>
            <a:r>
              <a:rPr lang="en-GB" sz="4000" b="1" dirty="0">
                <a:solidFill>
                  <a:srgbClr val="FFFFFF"/>
                </a:solidFill>
                <a:latin typeface="Calibri Light"/>
                <a:cs typeface="Calibri Light"/>
              </a:rPr>
              <a:t>Why it wins</a:t>
            </a:r>
          </a:p>
        </p:txBody>
      </p:sp>
      <p:sp>
        <p:nvSpPr>
          <p:cNvPr id="7" name="t7"/>
          <p:cNvSpPr txBox="1"/>
          <p:nvPr/>
        </p:nvSpPr>
        <p:spPr>
          <a:xfrm>
            <a:off x="1092200" y="4191000"/>
            <a:ext cx="7874000" cy="508000"/>
          </a:xfrm>
          <a:prstGeom prst="rect">
            <a:avLst/>
          </a:prstGeom>
          <a:noFill/>
        </p:spPr>
        <p:txBody>
          <a:bodyPr wrap="square" lIns="0" tIns="0" rIns="0" bIns="0" anchor="t">
            <a:noAutofit/>
          </a:bodyPr>
          <a:lstStyle/>
          <a:p>
            <a:pPr algn="l">
              <a:lnSpc>
                <a:spcPct val="126000"/>
              </a:lnSpc>
              <a:spcBef>
                <a:spcPts val="0"/>
              </a:spcBef>
              <a:spcAft>
                <a:spcPts val="0"/>
              </a:spcAft>
            </a:pPr>
            <a:r>
              <a:rPr lang="en-GB" sz="1400" b="0" dirty="0">
                <a:solidFill>
                  <a:srgbClr val="C7D2FE"/>
                </a:solidFill>
                <a:latin typeface="Calibri"/>
                <a:cs typeface="Calibri"/>
              </a:rPr>
              <a:t>What no other OKR tool does, and what each of you gets.</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6366F1"/>
                </a:solidFill>
                <a:latin typeface="Calibri"/>
                <a:cs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WHY IT WINS</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Five things no other OKR tool does</a:t>
            </a:r>
          </a:p>
        </p:txBody>
      </p:sp>
      <p:sp>
        <p:nvSpPr>
          <p:cNvPr id="5" name="r5"/>
          <p:cNvSpPr/>
          <p:nvPr/>
        </p:nvSpPr>
        <p:spPr>
          <a:xfrm>
            <a:off x="711200" y="1485900"/>
            <a:ext cx="330200" cy="330200"/>
          </a:xfrm>
          <a:prstGeom prst="roundRect">
            <a:avLst>
              <a:gd name="adj" fmla="val 50000"/>
            </a:avLst>
          </a:prstGeom>
          <a:solidFill>
            <a:srgbClr val="4F46E5"/>
          </a:solidFill>
          <a:ln>
            <a:noFill/>
          </a:ln>
        </p:spPr>
        <p:txBody>
          <a:bodyPr/>
          <a:lstStyle/>
          <a:p>
            <a:endParaRPr lang="en-GB"/>
          </a:p>
        </p:txBody>
      </p:sp>
      <p:sp>
        <p:nvSpPr>
          <p:cNvPr id="6" name="t6"/>
          <p:cNvSpPr txBox="1"/>
          <p:nvPr/>
        </p:nvSpPr>
        <p:spPr>
          <a:xfrm>
            <a:off x="711200" y="15621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FFFFFF"/>
                </a:solidFill>
                <a:latin typeface="Calibri"/>
                <a:cs typeface="Calibri"/>
              </a:rPr>
              <a:t>1</a:t>
            </a:r>
          </a:p>
        </p:txBody>
      </p:sp>
      <p:sp>
        <p:nvSpPr>
          <p:cNvPr id="7" name="t7"/>
          <p:cNvSpPr txBox="1"/>
          <p:nvPr/>
        </p:nvSpPr>
        <p:spPr>
          <a:xfrm>
            <a:off x="1244600" y="1498600"/>
            <a:ext cx="102362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The method is executable, not documentation</a:t>
            </a:r>
          </a:p>
        </p:txBody>
      </p:sp>
      <p:sp>
        <p:nvSpPr>
          <p:cNvPr id="8" name="t8"/>
          <p:cNvSpPr txBox="1"/>
          <p:nvPr/>
        </p:nvSpPr>
        <p:spPr>
          <a:xfrm>
            <a:off x="1244600" y="17780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200" b="0" dirty="0">
                <a:solidFill>
                  <a:srgbClr val="64748B"/>
                </a:solidFill>
                <a:latin typeface="Calibri"/>
                <a:cs typeface="Calibri"/>
              </a:rPr>
              <a:t>Competitors ship templates and help articles. We ship rules that run on every keystroke and refuse a bad publish. A customer cannot quietly stop doing the practice.</a:t>
            </a:r>
          </a:p>
        </p:txBody>
      </p:sp>
      <p:sp>
        <p:nvSpPr>
          <p:cNvPr id="9" name="r9"/>
          <p:cNvSpPr/>
          <p:nvPr/>
        </p:nvSpPr>
        <p:spPr>
          <a:xfrm>
            <a:off x="711200" y="2273300"/>
            <a:ext cx="330200" cy="330200"/>
          </a:xfrm>
          <a:prstGeom prst="roundRect">
            <a:avLst>
              <a:gd name="adj" fmla="val 50000"/>
            </a:avLst>
          </a:prstGeom>
          <a:solidFill>
            <a:srgbClr val="4F46E5"/>
          </a:solidFill>
          <a:ln>
            <a:noFill/>
          </a:ln>
        </p:spPr>
        <p:txBody>
          <a:bodyPr/>
          <a:lstStyle/>
          <a:p>
            <a:endParaRPr lang="en-GB"/>
          </a:p>
        </p:txBody>
      </p:sp>
      <p:sp>
        <p:nvSpPr>
          <p:cNvPr id="10" name="t10"/>
          <p:cNvSpPr txBox="1"/>
          <p:nvPr/>
        </p:nvSpPr>
        <p:spPr>
          <a:xfrm>
            <a:off x="711200" y="23495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FFFFFF"/>
                </a:solidFill>
                <a:latin typeface="Calibri"/>
                <a:cs typeface="Calibri"/>
              </a:rPr>
              <a:t>2</a:t>
            </a:r>
          </a:p>
        </p:txBody>
      </p:sp>
      <p:sp>
        <p:nvSpPr>
          <p:cNvPr id="11" name="t11"/>
          <p:cNvSpPr txBox="1"/>
          <p:nvPr/>
        </p:nvSpPr>
        <p:spPr>
          <a:xfrm>
            <a:off x="1244600" y="2286000"/>
            <a:ext cx="102362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The software initiates</a:t>
            </a:r>
          </a:p>
        </p:txBody>
      </p:sp>
      <p:sp>
        <p:nvSpPr>
          <p:cNvPr id="12" name="t12"/>
          <p:cNvSpPr txBox="1"/>
          <p:nvPr/>
        </p:nvSpPr>
        <p:spPr>
          <a:xfrm>
            <a:off x="1244600" y="25654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200" b="0" dirty="0">
                <a:solidFill>
                  <a:srgbClr val="64748B"/>
                </a:solidFill>
                <a:latin typeface="Calibri"/>
                <a:cs typeface="Calibri"/>
              </a:rPr>
              <a:t>Every other tool waits to be visited. Ours arrives in Slack on Friday morning, escalates the blocker that aged past its clock, and tells the sponsor early.</a:t>
            </a:r>
          </a:p>
        </p:txBody>
      </p:sp>
      <p:sp>
        <p:nvSpPr>
          <p:cNvPr id="13" name="r13"/>
          <p:cNvSpPr/>
          <p:nvPr/>
        </p:nvSpPr>
        <p:spPr>
          <a:xfrm>
            <a:off x="711200" y="3060700"/>
            <a:ext cx="330200" cy="330200"/>
          </a:xfrm>
          <a:prstGeom prst="roundRect">
            <a:avLst>
              <a:gd name="adj" fmla="val 50000"/>
            </a:avLst>
          </a:prstGeom>
          <a:solidFill>
            <a:srgbClr val="4F46E5"/>
          </a:solidFill>
          <a:ln>
            <a:noFill/>
          </a:ln>
        </p:spPr>
        <p:txBody>
          <a:bodyPr/>
          <a:lstStyle/>
          <a:p>
            <a:endParaRPr lang="en-GB"/>
          </a:p>
        </p:txBody>
      </p:sp>
      <p:sp>
        <p:nvSpPr>
          <p:cNvPr id="14" name="t14"/>
          <p:cNvSpPr txBox="1"/>
          <p:nvPr/>
        </p:nvSpPr>
        <p:spPr>
          <a:xfrm>
            <a:off x="711200" y="31369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FFFFFF"/>
                </a:solidFill>
                <a:latin typeface="Calibri"/>
                <a:cs typeface="Calibri"/>
              </a:rPr>
              <a:t>3</a:t>
            </a:r>
          </a:p>
        </p:txBody>
      </p:sp>
      <p:sp>
        <p:nvSpPr>
          <p:cNvPr id="15" name="t15"/>
          <p:cNvSpPr txBox="1"/>
          <p:nvPr/>
        </p:nvSpPr>
        <p:spPr>
          <a:xfrm>
            <a:off x="1244600" y="3073400"/>
            <a:ext cx="102362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It works with AI switched off</a:t>
            </a:r>
          </a:p>
        </p:txBody>
      </p:sp>
      <p:sp>
        <p:nvSpPr>
          <p:cNvPr id="16" name="t16"/>
          <p:cNvSpPr txBox="1"/>
          <p:nvPr/>
        </p:nvSpPr>
        <p:spPr>
          <a:xfrm>
            <a:off x="1244600" y="33528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200" b="0" dirty="0">
                <a:solidFill>
                  <a:srgbClr val="64748B"/>
                </a:solidFill>
                <a:latin typeface="Calibri"/>
                <a:cs typeface="Calibri"/>
              </a:rPr>
              <a:t>The deterministic core makes it sellable into regulated, air-gapped and AI-sceptical buyers who would reject an LLM-dependent product outright.</a:t>
            </a:r>
          </a:p>
        </p:txBody>
      </p:sp>
      <p:sp>
        <p:nvSpPr>
          <p:cNvPr id="17" name="r17"/>
          <p:cNvSpPr/>
          <p:nvPr/>
        </p:nvSpPr>
        <p:spPr>
          <a:xfrm>
            <a:off x="711200" y="3848100"/>
            <a:ext cx="330200" cy="330200"/>
          </a:xfrm>
          <a:prstGeom prst="roundRect">
            <a:avLst>
              <a:gd name="adj" fmla="val 50000"/>
            </a:avLst>
          </a:prstGeom>
          <a:solidFill>
            <a:srgbClr val="4F46E5"/>
          </a:solidFill>
          <a:ln>
            <a:noFill/>
          </a:ln>
        </p:spPr>
        <p:txBody>
          <a:bodyPr/>
          <a:lstStyle/>
          <a:p>
            <a:endParaRPr lang="en-GB"/>
          </a:p>
        </p:txBody>
      </p:sp>
      <p:sp>
        <p:nvSpPr>
          <p:cNvPr id="18" name="t18"/>
          <p:cNvSpPr txBox="1"/>
          <p:nvPr/>
        </p:nvSpPr>
        <p:spPr>
          <a:xfrm>
            <a:off x="711200" y="39243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FFFFFF"/>
                </a:solidFill>
                <a:latin typeface="Calibri"/>
                <a:cs typeface="Calibri"/>
              </a:rPr>
              <a:t>4</a:t>
            </a:r>
          </a:p>
        </p:txBody>
      </p:sp>
      <p:sp>
        <p:nvSpPr>
          <p:cNvPr id="19" name="t19"/>
          <p:cNvSpPr txBox="1"/>
          <p:nvPr/>
        </p:nvSpPr>
        <p:spPr>
          <a:xfrm>
            <a:off x="1244600" y="3860800"/>
            <a:ext cx="102362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It diagnoses, not just reports</a:t>
            </a:r>
          </a:p>
        </p:txBody>
      </p:sp>
      <p:sp>
        <p:nvSpPr>
          <p:cNvPr id="20" name="t20"/>
          <p:cNvSpPr txBox="1"/>
          <p:nvPr/>
        </p:nvSpPr>
        <p:spPr>
          <a:xfrm>
            <a:off x="1244600" y="41402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200" b="0" dirty="0">
                <a:solidFill>
                  <a:srgbClr val="64748B"/>
                </a:solidFill>
                <a:latin typeface="Calibri"/>
                <a:cs typeface="Calibri"/>
              </a:rPr>
              <a:t>At the close it says whether a missed quarter was a cadence problem or a strategy problem. Every executive asks that. No tracker answers it.</a:t>
            </a:r>
          </a:p>
        </p:txBody>
      </p:sp>
      <p:sp>
        <p:nvSpPr>
          <p:cNvPr id="21" name="r21"/>
          <p:cNvSpPr/>
          <p:nvPr/>
        </p:nvSpPr>
        <p:spPr>
          <a:xfrm>
            <a:off x="711200" y="4635500"/>
            <a:ext cx="330200" cy="330200"/>
          </a:xfrm>
          <a:prstGeom prst="roundRect">
            <a:avLst>
              <a:gd name="adj" fmla="val 50000"/>
            </a:avLst>
          </a:prstGeom>
          <a:solidFill>
            <a:srgbClr val="4F46E5"/>
          </a:solidFill>
          <a:ln>
            <a:noFill/>
          </a:ln>
        </p:spPr>
        <p:txBody>
          <a:bodyPr/>
          <a:lstStyle/>
          <a:p>
            <a:endParaRPr lang="en-GB"/>
          </a:p>
        </p:txBody>
      </p:sp>
      <p:sp>
        <p:nvSpPr>
          <p:cNvPr id="22" name="t22"/>
          <p:cNvSpPr txBox="1"/>
          <p:nvPr/>
        </p:nvSpPr>
        <p:spPr>
          <a:xfrm>
            <a:off x="711200" y="4711700"/>
            <a:ext cx="3302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200" b="1" dirty="0">
                <a:solidFill>
                  <a:srgbClr val="FFFFFF"/>
                </a:solidFill>
                <a:latin typeface="Calibri"/>
                <a:cs typeface="Calibri"/>
              </a:rPr>
              <a:t>5</a:t>
            </a:r>
          </a:p>
        </p:txBody>
      </p:sp>
      <p:sp>
        <p:nvSpPr>
          <p:cNvPr id="23" name="t23"/>
          <p:cNvSpPr txBox="1"/>
          <p:nvPr/>
        </p:nvSpPr>
        <p:spPr>
          <a:xfrm>
            <a:off x="1244600" y="4648200"/>
            <a:ext cx="102362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Agent-native to the core</a:t>
            </a:r>
          </a:p>
        </p:txBody>
      </p:sp>
      <p:sp>
        <p:nvSpPr>
          <p:cNvPr id="24" name="t24"/>
          <p:cNvSpPr txBox="1"/>
          <p:nvPr/>
        </p:nvSpPr>
        <p:spPr>
          <a:xfrm>
            <a:off x="1244600" y="49276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200" b="0" dirty="0">
                <a:solidFill>
                  <a:srgbClr val="64748B"/>
                </a:solidFill>
                <a:latin typeface="Calibri"/>
                <a:cs typeface="Calibri"/>
              </a:rPr>
              <a:t>Everything a human can do, an agent can do, through one permission-checked contract. The customer's own Claude or ChatGPT is a first-class user, not a scraping workaround.</a:t>
            </a:r>
          </a:p>
        </p:txBody>
      </p:sp>
      <p:sp>
        <p:nvSpPr>
          <p:cNvPr id="25" name="r25"/>
          <p:cNvSpPr/>
          <p:nvPr/>
        </p:nvSpPr>
        <p:spPr>
          <a:xfrm>
            <a:off x="711200" y="6375400"/>
            <a:ext cx="10769600" cy="9525"/>
          </a:xfrm>
          <a:prstGeom prst="rect">
            <a:avLst/>
          </a:prstGeom>
          <a:solidFill>
            <a:srgbClr val="E2E8F0"/>
          </a:solidFill>
          <a:ln>
            <a:noFill/>
          </a:ln>
        </p:spPr>
        <p:txBody>
          <a:bodyPr/>
          <a:lstStyle/>
          <a:p>
            <a:endParaRPr lang="en-GB"/>
          </a:p>
        </p:txBody>
      </p:sp>
      <p:sp>
        <p:nvSpPr>
          <p:cNvPr id="26" name="t26"/>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WHY IT WINS</a:t>
            </a:r>
          </a:p>
        </p:txBody>
      </p:sp>
      <p:sp>
        <p:nvSpPr>
          <p:cNvPr id="27" name="t27"/>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WHY IT WINS</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What each of you gets</a:t>
            </a:r>
          </a:p>
        </p:txBody>
      </p:sp>
      <p:sp>
        <p:nvSpPr>
          <p:cNvPr id="5" name="r5"/>
          <p:cNvSpPr/>
          <p:nvPr/>
        </p:nvSpPr>
        <p:spPr>
          <a:xfrm>
            <a:off x="711200" y="1485900"/>
            <a:ext cx="3437467" cy="3403600"/>
          </a:xfrm>
          <a:prstGeom prst="roundRect">
            <a:avLst>
              <a:gd name="adj" fmla="val 2985"/>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6" name="r6"/>
          <p:cNvSpPr/>
          <p:nvPr/>
        </p:nvSpPr>
        <p:spPr>
          <a:xfrm>
            <a:off x="711200" y="1485900"/>
            <a:ext cx="3437467" cy="44450"/>
          </a:xfrm>
          <a:prstGeom prst="rect">
            <a:avLst/>
          </a:prstGeom>
          <a:solidFill>
            <a:srgbClr val="4F46E5"/>
          </a:solidFill>
          <a:ln>
            <a:noFill/>
          </a:ln>
        </p:spPr>
        <p:txBody>
          <a:bodyPr/>
          <a:lstStyle/>
          <a:p>
            <a:endParaRPr lang="en-GB"/>
          </a:p>
        </p:txBody>
      </p:sp>
      <p:sp>
        <p:nvSpPr>
          <p:cNvPr id="7" name="t7"/>
          <p:cNvSpPr txBox="1"/>
          <p:nvPr/>
        </p:nvSpPr>
        <p:spPr>
          <a:xfrm>
            <a:off x="965200" y="1765300"/>
            <a:ext cx="2929467"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500" b="1" dirty="0">
                <a:solidFill>
                  <a:srgbClr val="0F172A"/>
                </a:solidFill>
                <a:latin typeface="Calibri"/>
                <a:cs typeface="Calibri"/>
              </a:rPr>
              <a:t>A methodology institute</a:t>
            </a:r>
          </a:p>
        </p:txBody>
      </p:sp>
      <p:sp>
        <p:nvSpPr>
          <p:cNvPr id="8" name="t8"/>
          <p:cNvSpPr txBox="1"/>
          <p:nvPr/>
        </p:nvSpPr>
        <p:spPr>
          <a:xfrm>
            <a:off x="965200" y="2146300"/>
            <a:ext cx="2929467" cy="25400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334155"/>
                </a:solidFill>
                <a:latin typeface="Calibri"/>
                <a:cs typeface="Calibri"/>
              </a:rPr>
              <a:t>The practice becomes enforceable after the engagement ends.
Every rule, band, corridor, taxonomy and agenda lives in one versioned, auditable specification, separable from the code. Coaching prompts and rule names are translatable strings.
You can see exactly what the product teaches, and disagree with it in a specific place rather than in general.</a:t>
            </a:r>
          </a:p>
        </p:txBody>
      </p:sp>
      <p:sp>
        <p:nvSpPr>
          <p:cNvPr id="9" name="r9"/>
          <p:cNvSpPr/>
          <p:nvPr/>
        </p:nvSpPr>
        <p:spPr>
          <a:xfrm>
            <a:off x="4377267" y="1485900"/>
            <a:ext cx="3437467" cy="3403600"/>
          </a:xfrm>
          <a:prstGeom prst="roundRect">
            <a:avLst>
              <a:gd name="adj" fmla="val 2985"/>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10" name="r10"/>
          <p:cNvSpPr/>
          <p:nvPr/>
        </p:nvSpPr>
        <p:spPr>
          <a:xfrm>
            <a:off x="4377267" y="1485900"/>
            <a:ext cx="3437467" cy="44450"/>
          </a:xfrm>
          <a:prstGeom prst="rect">
            <a:avLst/>
          </a:prstGeom>
          <a:solidFill>
            <a:srgbClr val="7C3AED"/>
          </a:solidFill>
          <a:ln>
            <a:noFill/>
          </a:ln>
        </p:spPr>
        <p:txBody>
          <a:bodyPr/>
          <a:lstStyle/>
          <a:p>
            <a:endParaRPr lang="en-GB"/>
          </a:p>
        </p:txBody>
      </p:sp>
      <p:sp>
        <p:nvSpPr>
          <p:cNvPr id="11" name="t11"/>
          <p:cNvSpPr txBox="1"/>
          <p:nvPr/>
        </p:nvSpPr>
        <p:spPr>
          <a:xfrm>
            <a:off x="4631267" y="1765300"/>
            <a:ext cx="2929467"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500" b="1" dirty="0">
                <a:solidFill>
                  <a:srgbClr val="0F172A"/>
                </a:solidFill>
                <a:latin typeface="Calibri"/>
                <a:cs typeface="Calibri"/>
              </a:rPr>
              <a:t>An investor</a:t>
            </a:r>
          </a:p>
        </p:txBody>
      </p:sp>
      <p:sp>
        <p:nvSpPr>
          <p:cNvPr id="12" name="t12"/>
          <p:cNvSpPr txBox="1"/>
          <p:nvPr/>
        </p:nvSpPr>
        <p:spPr>
          <a:xfrm>
            <a:off x="4631267" y="2146300"/>
            <a:ext cx="2929467" cy="25400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334155"/>
                </a:solidFill>
                <a:latin typeface="Calibri"/>
                <a:cs typeface="Calibri"/>
              </a:rPr>
              <a:t>A category with real budget, sold today mostly as passive databases.
Open source removes funnel cost and makes the enterprise security review a non-event. AGPL blocks a hyperscaler reselling it. The cloud sells operation, so there is one product, one release and no feature-gate resentment.
The agent layer is the moat: accumulated method, not a copyable prompt.</a:t>
            </a:r>
          </a:p>
        </p:txBody>
      </p:sp>
      <p:sp>
        <p:nvSpPr>
          <p:cNvPr id="13" name="r13"/>
          <p:cNvSpPr/>
          <p:nvPr/>
        </p:nvSpPr>
        <p:spPr>
          <a:xfrm>
            <a:off x="8043333" y="1485900"/>
            <a:ext cx="3437467" cy="3403600"/>
          </a:xfrm>
          <a:prstGeom prst="roundRect">
            <a:avLst>
              <a:gd name="adj" fmla="val 2985"/>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14" name="r14"/>
          <p:cNvSpPr/>
          <p:nvPr/>
        </p:nvSpPr>
        <p:spPr>
          <a:xfrm>
            <a:off x="8043333" y="1485900"/>
            <a:ext cx="3437467" cy="44450"/>
          </a:xfrm>
          <a:prstGeom prst="rect">
            <a:avLst/>
          </a:prstGeom>
          <a:solidFill>
            <a:srgbClr val="0EA5E9"/>
          </a:solidFill>
          <a:ln>
            <a:noFill/>
          </a:ln>
        </p:spPr>
        <p:txBody>
          <a:bodyPr/>
          <a:lstStyle/>
          <a:p>
            <a:endParaRPr lang="en-GB"/>
          </a:p>
        </p:txBody>
      </p:sp>
      <p:sp>
        <p:nvSpPr>
          <p:cNvPr id="15" name="t15"/>
          <p:cNvSpPr txBox="1"/>
          <p:nvPr/>
        </p:nvSpPr>
        <p:spPr>
          <a:xfrm>
            <a:off x="8297333" y="1765300"/>
            <a:ext cx="2929467"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500" b="1" dirty="0">
                <a:solidFill>
                  <a:srgbClr val="0F172A"/>
                </a:solidFill>
                <a:latin typeface="Calibri"/>
                <a:cs typeface="Calibri"/>
              </a:rPr>
              <a:t>An early customer</a:t>
            </a:r>
          </a:p>
        </p:txBody>
      </p:sp>
      <p:sp>
        <p:nvSpPr>
          <p:cNvPr id="16" name="t16"/>
          <p:cNvSpPr txBox="1"/>
          <p:nvPr/>
        </p:nvSpPr>
        <p:spPr>
          <a:xfrm>
            <a:off x="8297333" y="2146300"/>
            <a:ext cx="2929467" cy="25400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334155"/>
                </a:solidFill>
                <a:latin typeface="Calibri"/>
                <a:cs typeface="Calibri"/>
              </a:rPr>
              <a:t>Setup to first check-in in under fifteen minutes.
Data on your own servers, in your own country, with no seat limit and no feature gate. Existing goals import from a spreadsheet with an AI-assisted mapper and a dry run.
The whole workspace exports whenever you want. Nothing creates lock-in, which is exactly why it is easy to say yes to.</a:t>
            </a:r>
          </a:p>
        </p:txBody>
      </p:sp>
      <p:sp>
        <p:nvSpPr>
          <p:cNvPr id="17" name="r17"/>
          <p:cNvSpPr/>
          <p:nvPr/>
        </p:nvSpPr>
        <p:spPr>
          <a:xfrm>
            <a:off x="711200" y="6375400"/>
            <a:ext cx="10769600" cy="9525"/>
          </a:xfrm>
          <a:prstGeom prst="rect">
            <a:avLst/>
          </a:prstGeom>
          <a:solidFill>
            <a:srgbClr val="E2E8F0"/>
          </a:solidFill>
          <a:ln>
            <a:noFill/>
          </a:ln>
        </p:spPr>
        <p:txBody>
          <a:bodyPr/>
          <a:lstStyle/>
          <a:p>
            <a:endParaRPr lang="en-GB"/>
          </a:p>
        </p:txBody>
      </p:sp>
      <p:sp>
        <p:nvSpPr>
          <p:cNvPr id="18" name="t18"/>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WHY IT WINS</a:t>
            </a:r>
          </a:p>
        </p:txBody>
      </p:sp>
      <p:sp>
        <p:nvSpPr>
          <p:cNvPr id="19" name="t19"/>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WHY IT WINS</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The outcomes we are designing for</a:t>
            </a:r>
          </a:p>
        </p:txBody>
      </p:sp>
      <p:sp>
        <p:nvSpPr>
          <p:cNvPr id="5" name="t5"/>
          <p:cNvSpPr txBox="1"/>
          <p:nvPr/>
        </p:nvSpPr>
        <p:spPr>
          <a:xfrm>
            <a:off x="711200" y="12827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350" b="0" dirty="0">
                <a:solidFill>
                  <a:srgbClr val="64748B"/>
                </a:solidFill>
                <a:latin typeface="Calibri"/>
                <a:cs typeface="Calibri"/>
              </a:rPr>
              <a:t>Leading indicators, instrumented in the product from day one.</a:t>
            </a:r>
          </a:p>
        </p:txBody>
      </p:sp>
      <p:sp>
        <p:nvSpPr>
          <p:cNvPr id="6" name="r6"/>
          <p:cNvSpPr/>
          <p:nvPr/>
        </p:nvSpPr>
        <p:spPr>
          <a:xfrm>
            <a:off x="711200" y="1866900"/>
            <a:ext cx="1991360" cy="1905000"/>
          </a:xfrm>
          <a:prstGeom prst="roundRect">
            <a:avLst>
              <a:gd name="adj" fmla="val 5333"/>
            </a:avLst>
          </a:prstGeom>
          <a:solidFill>
            <a:srgbClr val="F8FAFC"/>
          </a:solidFill>
          <a:ln w="12700">
            <a:solidFill>
              <a:srgbClr val="E2E8F0"/>
            </a:solidFill>
          </a:ln>
        </p:spPr>
        <p:txBody>
          <a:bodyPr/>
          <a:lstStyle/>
          <a:p>
            <a:endParaRPr lang="en-GB"/>
          </a:p>
        </p:txBody>
      </p:sp>
      <p:sp>
        <p:nvSpPr>
          <p:cNvPr id="7" name="t7"/>
          <p:cNvSpPr txBox="1"/>
          <p:nvPr/>
        </p:nvSpPr>
        <p:spPr>
          <a:xfrm>
            <a:off x="711200" y="2247900"/>
            <a:ext cx="1991360" cy="508000"/>
          </a:xfrm>
          <a:prstGeom prst="rect">
            <a:avLst/>
          </a:prstGeom>
          <a:noFill/>
        </p:spPr>
        <p:txBody>
          <a:bodyPr wrap="square" lIns="0" tIns="0" rIns="0" bIns="0" anchor="t">
            <a:noAutofit/>
          </a:bodyPr>
          <a:lstStyle/>
          <a:p>
            <a:pPr algn="ctr">
              <a:lnSpc>
                <a:spcPct val="116000"/>
              </a:lnSpc>
              <a:spcBef>
                <a:spcPts val="0"/>
              </a:spcBef>
              <a:spcAft>
                <a:spcPts val="0"/>
              </a:spcAft>
            </a:pPr>
            <a:r>
              <a:rPr lang="en-GB" sz="3200" b="1" dirty="0">
                <a:solidFill>
                  <a:srgbClr val="4338CA"/>
                </a:solidFill>
                <a:latin typeface="Calibri Light"/>
                <a:cs typeface="Calibri Light"/>
              </a:rPr>
              <a:t>&lt; 15 min</a:t>
            </a:r>
          </a:p>
        </p:txBody>
      </p:sp>
      <p:sp>
        <p:nvSpPr>
          <p:cNvPr id="8" name="t8"/>
          <p:cNvSpPr txBox="1"/>
          <p:nvPr/>
        </p:nvSpPr>
        <p:spPr>
          <a:xfrm>
            <a:off x="711200" y="2781300"/>
            <a:ext cx="1991360" cy="381000"/>
          </a:xfrm>
          <a:prstGeom prst="rect">
            <a:avLst/>
          </a:prstGeom>
          <a:noFill/>
        </p:spPr>
        <p:txBody>
          <a:bodyPr wrap="square" lIns="0" tIns="0" rIns="0" bIns="0" anchor="t">
            <a:noAutofit/>
          </a:bodyPr>
          <a:lstStyle/>
          <a:p>
            <a:pPr algn="ctr">
              <a:lnSpc>
                <a:spcPct val="118000"/>
              </a:lnSpc>
              <a:spcBef>
                <a:spcPts val="0"/>
              </a:spcBef>
              <a:spcAft>
                <a:spcPts val="0"/>
              </a:spcAft>
            </a:pPr>
            <a:r>
              <a:rPr lang="en-GB" sz="1050" b="0" dirty="0">
                <a:solidFill>
                  <a:srgbClr val="64748B"/>
                </a:solidFill>
                <a:latin typeface="Calibri"/>
                <a:cs typeface="Calibri"/>
              </a:rPr>
              <a:t>From install to first published check-in</a:t>
            </a:r>
          </a:p>
        </p:txBody>
      </p:sp>
      <p:sp>
        <p:nvSpPr>
          <p:cNvPr id="9" name="r9"/>
          <p:cNvSpPr/>
          <p:nvPr/>
        </p:nvSpPr>
        <p:spPr>
          <a:xfrm>
            <a:off x="2905760" y="1866900"/>
            <a:ext cx="1991360" cy="1905000"/>
          </a:xfrm>
          <a:prstGeom prst="roundRect">
            <a:avLst>
              <a:gd name="adj" fmla="val 5333"/>
            </a:avLst>
          </a:prstGeom>
          <a:solidFill>
            <a:srgbClr val="F8FAFC"/>
          </a:solidFill>
          <a:ln w="12700">
            <a:solidFill>
              <a:srgbClr val="E2E8F0"/>
            </a:solidFill>
          </a:ln>
        </p:spPr>
        <p:txBody>
          <a:bodyPr/>
          <a:lstStyle/>
          <a:p>
            <a:endParaRPr lang="en-GB"/>
          </a:p>
        </p:txBody>
      </p:sp>
      <p:sp>
        <p:nvSpPr>
          <p:cNvPr id="10" name="t10"/>
          <p:cNvSpPr txBox="1"/>
          <p:nvPr/>
        </p:nvSpPr>
        <p:spPr>
          <a:xfrm>
            <a:off x="2905760" y="2247900"/>
            <a:ext cx="1991360" cy="508000"/>
          </a:xfrm>
          <a:prstGeom prst="rect">
            <a:avLst/>
          </a:prstGeom>
          <a:noFill/>
        </p:spPr>
        <p:txBody>
          <a:bodyPr wrap="square" lIns="0" tIns="0" rIns="0" bIns="0" anchor="t">
            <a:noAutofit/>
          </a:bodyPr>
          <a:lstStyle/>
          <a:p>
            <a:pPr algn="ctr">
              <a:lnSpc>
                <a:spcPct val="116000"/>
              </a:lnSpc>
              <a:spcBef>
                <a:spcPts val="0"/>
              </a:spcBef>
              <a:spcAft>
                <a:spcPts val="0"/>
              </a:spcAft>
            </a:pPr>
            <a:r>
              <a:rPr lang="en-GB" sz="3200" b="1" dirty="0">
                <a:solidFill>
                  <a:srgbClr val="4338CA"/>
                </a:solidFill>
                <a:latin typeface="Calibri Light"/>
                <a:cs typeface="Calibri Light"/>
              </a:rPr>
              <a:t>70%+</a:t>
            </a:r>
          </a:p>
        </p:txBody>
      </p:sp>
      <p:sp>
        <p:nvSpPr>
          <p:cNvPr id="11" name="t11"/>
          <p:cNvSpPr txBox="1"/>
          <p:nvPr/>
        </p:nvSpPr>
        <p:spPr>
          <a:xfrm>
            <a:off x="2905760" y="2781300"/>
            <a:ext cx="1991360" cy="381000"/>
          </a:xfrm>
          <a:prstGeom prst="rect">
            <a:avLst/>
          </a:prstGeom>
          <a:noFill/>
        </p:spPr>
        <p:txBody>
          <a:bodyPr wrap="square" lIns="0" tIns="0" rIns="0" bIns="0" anchor="t">
            <a:noAutofit/>
          </a:bodyPr>
          <a:lstStyle/>
          <a:p>
            <a:pPr algn="ctr">
              <a:lnSpc>
                <a:spcPct val="118000"/>
              </a:lnSpc>
              <a:spcBef>
                <a:spcPts val="0"/>
              </a:spcBef>
              <a:spcAft>
                <a:spcPts val="0"/>
              </a:spcAft>
            </a:pPr>
            <a:r>
              <a:rPr lang="en-GB" sz="1050" b="0" dirty="0">
                <a:solidFill>
                  <a:srgbClr val="64748B"/>
                </a:solidFill>
                <a:latin typeface="Calibri"/>
                <a:cs typeface="Calibri"/>
              </a:rPr>
              <a:t>Of due check-ins submitted on time</a:t>
            </a:r>
          </a:p>
        </p:txBody>
      </p:sp>
      <p:sp>
        <p:nvSpPr>
          <p:cNvPr id="12" name="r12"/>
          <p:cNvSpPr/>
          <p:nvPr/>
        </p:nvSpPr>
        <p:spPr>
          <a:xfrm>
            <a:off x="5100320" y="1866900"/>
            <a:ext cx="1991360" cy="1905000"/>
          </a:xfrm>
          <a:prstGeom prst="roundRect">
            <a:avLst>
              <a:gd name="adj" fmla="val 5333"/>
            </a:avLst>
          </a:prstGeom>
          <a:solidFill>
            <a:srgbClr val="F8FAFC"/>
          </a:solidFill>
          <a:ln w="12700">
            <a:solidFill>
              <a:srgbClr val="E2E8F0"/>
            </a:solidFill>
          </a:ln>
        </p:spPr>
        <p:txBody>
          <a:bodyPr/>
          <a:lstStyle/>
          <a:p>
            <a:endParaRPr lang="en-GB"/>
          </a:p>
        </p:txBody>
      </p:sp>
      <p:sp>
        <p:nvSpPr>
          <p:cNvPr id="13" name="t13"/>
          <p:cNvSpPr txBox="1"/>
          <p:nvPr/>
        </p:nvSpPr>
        <p:spPr>
          <a:xfrm>
            <a:off x="5100320" y="2247900"/>
            <a:ext cx="1991360" cy="508000"/>
          </a:xfrm>
          <a:prstGeom prst="rect">
            <a:avLst/>
          </a:prstGeom>
          <a:noFill/>
        </p:spPr>
        <p:txBody>
          <a:bodyPr wrap="square" lIns="0" tIns="0" rIns="0" bIns="0" anchor="t">
            <a:noAutofit/>
          </a:bodyPr>
          <a:lstStyle/>
          <a:p>
            <a:pPr algn="ctr">
              <a:lnSpc>
                <a:spcPct val="116000"/>
              </a:lnSpc>
              <a:spcBef>
                <a:spcPts val="0"/>
              </a:spcBef>
              <a:spcAft>
                <a:spcPts val="0"/>
              </a:spcAft>
            </a:pPr>
            <a:r>
              <a:rPr lang="en-GB" sz="3200" b="1" dirty="0">
                <a:solidFill>
                  <a:srgbClr val="4338CA"/>
                </a:solidFill>
                <a:latin typeface="Calibri Light"/>
                <a:cs typeface="Calibri Light"/>
              </a:rPr>
              <a:t>&gt; 75%</a:t>
            </a:r>
          </a:p>
        </p:txBody>
      </p:sp>
      <p:sp>
        <p:nvSpPr>
          <p:cNvPr id="14" name="t14"/>
          <p:cNvSpPr txBox="1"/>
          <p:nvPr/>
        </p:nvSpPr>
        <p:spPr>
          <a:xfrm>
            <a:off x="5100320" y="2781300"/>
            <a:ext cx="1991360" cy="381000"/>
          </a:xfrm>
          <a:prstGeom prst="rect">
            <a:avLst/>
          </a:prstGeom>
          <a:noFill/>
        </p:spPr>
        <p:txBody>
          <a:bodyPr wrap="square" lIns="0" tIns="0" rIns="0" bIns="0" anchor="t">
            <a:noAutofit/>
          </a:bodyPr>
          <a:lstStyle/>
          <a:p>
            <a:pPr algn="ctr">
              <a:lnSpc>
                <a:spcPct val="118000"/>
              </a:lnSpc>
              <a:spcBef>
                <a:spcPts val="0"/>
              </a:spcBef>
              <a:spcAft>
                <a:spcPts val="0"/>
              </a:spcAft>
            </a:pPr>
            <a:r>
              <a:rPr lang="en-GB" sz="1050" b="0" dirty="0">
                <a:solidFill>
                  <a:srgbClr val="64748B"/>
                </a:solidFill>
                <a:latin typeface="Calibri"/>
                <a:cs typeface="Calibri"/>
              </a:rPr>
              <a:t>Median OKR strength score at publication</a:t>
            </a:r>
          </a:p>
        </p:txBody>
      </p:sp>
      <p:sp>
        <p:nvSpPr>
          <p:cNvPr id="15" name="r15"/>
          <p:cNvSpPr/>
          <p:nvPr/>
        </p:nvSpPr>
        <p:spPr>
          <a:xfrm>
            <a:off x="7294880" y="1866900"/>
            <a:ext cx="1991360" cy="1905000"/>
          </a:xfrm>
          <a:prstGeom prst="roundRect">
            <a:avLst>
              <a:gd name="adj" fmla="val 5333"/>
            </a:avLst>
          </a:prstGeom>
          <a:solidFill>
            <a:srgbClr val="F8FAFC"/>
          </a:solidFill>
          <a:ln w="12700">
            <a:solidFill>
              <a:srgbClr val="E2E8F0"/>
            </a:solidFill>
          </a:ln>
        </p:spPr>
        <p:txBody>
          <a:bodyPr/>
          <a:lstStyle/>
          <a:p>
            <a:endParaRPr lang="en-GB"/>
          </a:p>
        </p:txBody>
      </p:sp>
      <p:sp>
        <p:nvSpPr>
          <p:cNvPr id="16" name="t16"/>
          <p:cNvSpPr txBox="1"/>
          <p:nvPr/>
        </p:nvSpPr>
        <p:spPr>
          <a:xfrm>
            <a:off x="7294880" y="2247900"/>
            <a:ext cx="1991360" cy="508000"/>
          </a:xfrm>
          <a:prstGeom prst="rect">
            <a:avLst/>
          </a:prstGeom>
          <a:noFill/>
        </p:spPr>
        <p:txBody>
          <a:bodyPr wrap="square" lIns="0" tIns="0" rIns="0" bIns="0" anchor="t">
            <a:noAutofit/>
          </a:bodyPr>
          <a:lstStyle/>
          <a:p>
            <a:pPr algn="ctr">
              <a:lnSpc>
                <a:spcPct val="116000"/>
              </a:lnSpc>
              <a:spcBef>
                <a:spcPts val="0"/>
              </a:spcBef>
              <a:spcAft>
                <a:spcPts val="0"/>
              </a:spcAft>
            </a:pPr>
            <a:r>
              <a:rPr lang="en-GB" sz="3200" b="1" dirty="0">
                <a:solidFill>
                  <a:srgbClr val="4338CA"/>
                </a:solidFill>
                <a:latin typeface="Calibri Light"/>
                <a:cs typeface="Calibri Light"/>
              </a:rPr>
              <a:t>&lt; 24 h</a:t>
            </a:r>
          </a:p>
        </p:txBody>
      </p:sp>
      <p:sp>
        <p:nvSpPr>
          <p:cNvPr id="17" name="t17"/>
          <p:cNvSpPr txBox="1"/>
          <p:nvPr/>
        </p:nvSpPr>
        <p:spPr>
          <a:xfrm>
            <a:off x="7294880" y="2781300"/>
            <a:ext cx="1991360" cy="381000"/>
          </a:xfrm>
          <a:prstGeom prst="rect">
            <a:avLst/>
          </a:prstGeom>
          <a:noFill/>
        </p:spPr>
        <p:txBody>
          <a:bodyPr wrap="square" lIns="0" tIns="0" rIns="0" bIns="0" anchor="t">
            <a:noAutofit/>
          </a:bodyPr>
          <a:lstStyle/>
          <a:p>
            <a:pPr algn="ctr">
              <a:lnSpc>
                <a:spcPct val="118000"/>
              </a:lnSpc>
              <a:spcBef>
                <a:spcPts val="0"/>
              </a:spcBef>
              <a:spcAft>
                <a:spcPts val="0"/>
              </a:spcAft>
            </a:pPr>
            <a:r>
              <a:rPr lang="en-GB" sz="1050" b="0" dirty="0">
                <a:solidFill>
                  <a:srgbClr val="64748B"/>
                </a:solidFill>
                <a:latin typeface="Calibri"/>
                <a:cs typeface="Calibri"/>
              </a:rPr>
              <a:t>Median blocker logged to next action taken</a:t>
            </a:r>
          </a:p>
        </p:txBody>
      </p:sp>
      <p:sp>
        <p:nvSpPr>
          <p:cNvPr id="18" name="r18"/>
          <p:cNvSpPr/>
          <p:nvPr/>
        </p:nvSpPr>
        <p:spPr>
          <a:xfrm>
            <a:off x="9489440" y="1866900"/>
            <a:ext cx="1991360" cy="1905000"/>
          </a:xfrm>
          <a:prstGeom prst="roundRect">
            <a:avLst>
              <a:gd name="adj" fmla="val 5333"/>
            </a:avLst>
          </a:prstGeom>
          <a:solidFill>
            <a:srgbClr val="F8FAFC"/>
          </a:solidFill>
          <a:ln w="12700">
            <a:solidFill>
              <a:srgbClr val="E2E8F0"/>
            </a:solidFill>
          </a:ln>
        </p:spPr>
        <p:txBody>
          <a:bodyPr/>
          <a:lstStyle/>
          <a:p>
            <a:endParaRPr lang="en-GB"/>
          </a:p>
        </p:txBody>
      </p:sp>
      <p:sp>
        <p:nvSpPr>
          <p:cNvPr id="19" name="t19"/>
          <p:cNvSpPr txBox="1"/>
          <p:nvPr/>
        </p:nvSpPr>
        <p:spPr>
          <a:xfrm>
            <a:off x="9489440" y="2247900"/>
            <a:ext cx="1991360" cy="508000"/>
          </a:xfrm>
          <a:prstGeom prst="rect">
            <a:avLst/>
          </a:prstGeom>
          <a:noFill/>
        </p:spPr>
        <p:txBody>
          <a:bodyPr wrap="square" lIns="0" tIns="0" rIns="0" bIns="0" anchor="t">
            <a:noAutofit/>
          </a:bodyPr>
          <a:lstStyle/>
          <a:p>
            <a:pPr algn="ctr">
              <a:lnSpc>
                <a:spcPct val="116000"/>
              </a:lnSpc>
              <a:spcBef>
                <a:spcPts val="0"/>
              </a:spcBef>
              <a:spcAft>
                <a:spcPts val="0"/>
              </a:spcAft>
            </a:pPr>
            <a:r>
              <a:rPr lang="en-GB" sz="3200" b="1" dirty="0">
                <a:solidFill>
                  <a:srgbClr val="4338CA"/>
                </a:solidFill>
                <a:latin typeface="Calibri Light"/>
                <a:cs typeface="Calibri Light"/>
              </a:rPr>
              <a:t>6+ weeks</a:t>
            </a:r>
          </a:p>
        </p:txBody>
      </p:sp>
      <p:sp>
        <p:nvSpPr>
          <p:cNvPr id="20" name="t20"/>
          <p:cNvSpPr txBox="1"/>
          <p:nvPr/>
        </p:nvSpPr>
        <p:spPr>
          <a:xfrm>
            <a:off x="9489440" y="2781300"/>
            <a:ext cx="1991360" cy="381000"/>
          </a:xfrm>
          <a:prstGeom prst="rect">
            <a:avLst/>
          </a:prstGeom>
          <a:noFill/>
        </p:spPr>
        <p:txBody>
          <a:bodyPr wrap="square" lIns="0" tIns="0" rIns="0" bIns="0" anchor="t">
            <a:noAutofit/>
          </a:bodyPr>
          <a:lstStyle/>
          <a:p>
            <a:pPr algn="ctr">
              <a:lnSpc>
                <a:spcPct val="118000"/>
              </a:lnSpc>
              <a:spcBef>
                <a:spcPts val="0"/>
              </a:spcBef>
              <a:spcAft>
                <a:spcPts val="0"/>
              </a:spcAft>
            </a:pPr>
            <a:r>
              <a:rPr lang="en-GB" sz="1050" b="0" dirty="0">
                <a:solidFill>
                  <a:srgbClr val="64748B"/>
                </a:solidFill>
                <a:latin typeface="Calibri"/>
                <a:cs typeface="Calibri"/>
              </a:rPr>
              <a:t>Rhythm streak in half or more of active spaces</a:t>
            </a:r>
          </a:p>
        </p:txBody>
      </p:sp>
      <p:sp>
        <p:nvSpPr>
          <p:cNvPr id="21" name="t21"/>
          <p:cNvSpPr txBox="1"/>
          <p:nvPr/>
        </p:nvSpPr>
        <p:spPr>
          <a:xfrm>
            <a:off x="711200" y="4102100"/>
            <a:ext cx="10769600" cy="304800"/>
          </a:xfrm>
          <a:prstGeom prst="rect">
            <a:avLst/>
          </a:prstGeom>
          <a:noFill/>
        </p:spPr>
        <p:txBody>
          <a:bodyPr wrap="square" lIns="0" tIns="0" rIns="0" bIns="0" anchor="t">
            <a:noAutofit/>
          </a:bodyPr>
          <a:lstStyle/>
          <a:p>
            <a:pPr algn="l">
              <a:lnSpc>
                <a:spcPct val="116000"/>
              </a:lnSpc>
              <a:spcBef>
                <a:spcPts val="0"/>
              </a:spcBef>
              <a:spcAft>
                <a:spcPts val="0"/>
              </a:spcAft>
            </a:pPr>
            <a:r>
              <a:rPr lang="en-GB" sz="1250" b="0" dirty="0">
                <a:solidFill>
                  <a:srgbClr val="64748B"/>
                </a:solidFill>
                <a:latin typeface="Calibri"/>
                <a:cs typeface="Calibri"/>
              </a:rPr>
              <a:t>Lagging: active instances after six months, organisations completing a full cycle end to end, and organisations running an agent unattended every week.</a:t>
            </a:r>
          </a:p>
        </p:txBody>
      </p:sp>
      <p:sp>
        <p:nvSpPr>
          <p:cNvPr id="22" name="r22"/>
          <p:cNvSpPr/>
          <p:nvPr/>
        </p:nvSpPr>
        <p:spPr>
          <a:xfrm>
            <a:off x="711200" y="6375400"/>
            <a:ext cx="10769600" cy="9525"/>
          </a:xfrm>
          <a:prstGeom prst="rect">
            <a:avLst/>
          </a:prstGeom>
          <a:solidFill>
            <a:srgbClr val="E2E8F0"/>
          </a:solidFill>
          <a:ln>
            <a:noFill/>
          </a:ln>
        </p:spPr>
        <p:txBody>
          <a:bodyPr/>
          <a:lstStyle/>
          <a:p>
            <a:endParaRPr lang="en-GB"/>
          </a:p>
        </p:txBody>
      </p:sp>
      <p:sp>
        <p:nvSpPr>
          <p:cNvPr id="23" name="t23"/>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WHY IT WINS</a:t>
            </a:r>
          </a:p>
        </p:txBody>
      </p:sp>
      <p:sp>
        <p:nvSpPr>
          <p:cNvPr id="24" name="t24"/>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1E1B4B"/>
          </a:solidFill>
          <a:ln>
            <a:noFill/>
          </a:ln>
        </p:spPr>
        <p:txBody>
          <a:bodyPr/>
          <a:lstStyle/>
          <a:p>
            <a:endParaRPr lang="en-GB"/>
          </a:p>
        </p:txBody>
      </p:sp>
      <p:sp>
        <p:nvSpPr>
          <p:cNvPr id="3" name="r3"/>
          <p:cNvSpPr/>
          <p:nvPr/>
        </p:nvSpPr>
        <p:spPr>
          <a:xfrm>
            <a:off x="0" y="0"/>
            <a:ext cx="12192000" cy="6858000"/>
          </a:xfrm>
          <a:prstGeom prst="rect">
            <a:avLst/>
          </a:prstGeom>
          <a:gradFill rotWithShape="1">
            <a:gsLst>
              <a:gs pos="0">
                <a:srgbClr val="1E1B4B"/>
              </a:gs>
              <a:gs pos="100000">
                <a:srgbClr val="312E81"/>
              </a:gs>
            </a:gsLst>
            <a:lin ang="2700000" scaled="0"/>
          </a:gradFill>
          <a:ln>
            <a:noFill/>
          </a:ln>
        </p:spPr>
        <p:txBody>
          <a:bodyPr/>
          <a:lstStyle/>
          <a:p>
            <a:endParaRPr lang="en-GB"/>
          </a:p>
        </p:txBody>
      </p:sp>
      <p:sp>
        <p:nvSpPr>
          <p:cNvPr id="4" name="r4"/>
          <p:cNvSpPr/>
          <p:nvPr/>
        </p:nvSpPr>
        <p:spPr>
          <a:xfrm>
            <a:off x="0" y="0"/>
            <a:ext cx="76200" cy="6858000"/>
          </a:xfrm>
          <a:prstGeom prst="rect">
            <a:avLst/>
          </a:prstGeom>
          <a:solidFill>
            <a:srgbClr val="4F46E5"/>
          </a:solidFill>
          <a:ln>
            <a:noFill/>
          </a:ln>
        </p:spPr>
        <p:txBody>
          <a:bodyPr/>
          <a:lstStyle/>
          <a:p>
            <a:endParaRPr lang="en-GB"/>
          </a:p>
        </p:txBody>
      </p:sp>
      <p:sp>
        <p:nvSpPr>
          <p:cNvPr id="5" name="t5"/>
          <p:cNvSpPr txBox="1"/>
          <p:nvPr/>
        </p:nvSpPr>
        <p:spPr>
          <a:xfrm>
            <a:off x="1092200" y="2489200"/>
            <a:ext cx="1524000" cy="762000"/>
          </a:xfrm>
          <a:prstGeom prst="rect">
            <a:avLst/>
          </a:prstGeom>
          <a:noFill/>
        </p:spPr>
        <p:txBody>
          <a:bodyPr wrap="square" lIns="0" tIns="0" rIns="0" bIns="0" anchor="t">
            <a:noAutofit/>
          </a:bodyPr>
          <a:lstStyle/>
          <a:p>
            <a:pPr algn="l">
              <a:lnSpc>
                <a:spcPct val="116000"/>
              </a:lnSpc>
              <a:spcBef>
                <a:spcPts val="0"/>
              </a:spcBef>
              <a:spcAft>
                <a:spcPts val="0"/>
              </a:spcAft>
            </a:pPr>
            <a:r>
              <a:rPr lang="en-GB" sz="6200" b="1" dirty="0">
                <a:solidFill>
                  <a:srgbClr val="4F46E5"/>
                </a:solidFill>
                <a:latin typeface="Calibri Light"/>
                <a:cs typeface="Calibri Light"/>
              </a:rPr>
              <a:t>04</a:t>
            </a:r>
          </a:p>
        </p:txBody>
      </p:sp>
      <p:sp>
        <p:nvSpPr>
          <p:cNvPr id="6" name="t6"/>
          <p:cNvSpPr txBox="1"/>
          <p:nvPr/>
        </p:nvSpPr>
        <p:spPr>
          <a:xfrm>
            <a:off x="1092200" y="3403600"/>
            <a:ext cx="8890000" cy="711200"/>
          </a:xfrm>
          <a:prstGeom prst="rect">
            <a:avLst/>
          </a:prstGeom>
          <a:noFill/>
        </p:spPr>
        <p:txBody>
          <a:bodyPr wrap="square" lIns="0" tIns="0" rIns="0" bIns="0" anchor="t">
            <a:noAutofit/>
          </a:bodyPr>
          <a:lstStyle/>
          <a:p>
            <a:pPr algn="l">
              <a:lnSpc>
                <a:spcPct val="116000"/>
              </a:lnSpc>
              <a:spcBef>
                <a:spcPts val="0"/>
              </a:spcBef>
              <a:spcAft>
                <a:spcPts val="0"/>
              </a:spcAft>
            </a:pPr>
            <a:r>
              <a:rPr lang="en-GB" sz="4000" b="1" dirty="0">
                <a:solidFill>
                  <a:srgbClr val="FFFFFF"/>
                </a:solidFill>
                <a:latin typeface="Calibri Light"/>
                <a:cs typeface="Calibri Light"/>
              </a:rPr>
              <a:t>The business</a:t>
            </a:r>
          </a:p>
        </p:txBody>
      </p:sp>
      <p:sp>
        <p:nvSpPr>
          <p:cNvPr id="7" name="t7"/>
          <p:cNvSpPr txBox="1"/>
          <p:nvPr/>
        </p:nvSpPr>
        <p:spPr>
          <a:xfrm>
            <a:off x="1092200" y="4191000"/>
            <a:ext cx="7874000" cy="508000"/>
          </a:xfrm>
          <a:prstGeom prst="rect">
            <a:avLst/>
          </a:prstGeom>
          <a:noFill/>
        </p:spPr>
        <p:txBody>
          <a:bodyPr wrap="square" lIns="0" tIns="0" rIns="0" bIns="0" anchor="t">
            <a:noAutofit/>
          </a:bodyPr>
          <a:lstStyle/>
          <a:p>
            <a:pPr algn="l">
              <a:lnSpc>
                <a:spcPct val="126000"/>
              </a:lnSpc>
              <a:spcBef>
                <a:spcPts val="0"/>
              </a:spcBef>
              <a:spcAft>
                <a:spcPts val="0"/>
              </a:spcAft>
            </a:pPr>
            <a:r>
              <a:rPr lang="en-GB" sz="1400" b="0" dirty="0">
                <a:solidFill>
                  <a:srgbClr val="C7D2FE"/>
                </a:solidFill>
                <a:latin typeface="Calibri"/>
                <a:cs typeface="Calibri"/>
              </a:rPr>
              <a:t>Scope, licence, status, and what we are asking for.</a:t>
            </a:r>
          </a:p>
        </p:txBody>
      </p:sp>
      <p:sp>
        <p:nvSpPr>
          <p:cNvPr id="8" name="t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6366F1"/>
                </a:solidFill>
                <a:latin typeface="Calibri"/>
                <a:cs typeface="Calibri"/>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SCOPE</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Everything in version one, across six pillars</a:t>
            </a:r>
          </a:p>
        </p:txBody>
      </p:sp>
      <p:sp>
        <p:nvSpPr>
          <p:cNvPr id="5" name="t5"/>
          <p:cNvSpPr txBox="1"/>
          <p:nvPr/>
        </p:nvSpPr>
        <p:spPr>
          <a:xfrm>
            <a:off x="711200" y="12827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350" b="0" dirty="0">
                <a:solidFill>
                  <a:srgbClr val="64748B"/>
                </a:solidFill>
                <a:latin typeface="Calibri"/>
                <a:cs typeface="Calibri"/>
              </a:rPr>
              <a:t>Nothing is gated behind a paid tier. Self-host gets every capability, with no seat limit.</a:t>
            </a:r>
          </a:p>
        </p:txBody>
      </p:sp>
      <p:sp>
        <p:nvSpPr>
          <p:cNvPr id="6" name="r6"/>
          <p:cNvSpPr/>
          <p:nvPr/>
        </p:nvSpPr>
        <p:spPr>
          <a:xfrm>
            <a:off x="711200" y="1866900"/>
            <a:ext cx="3454400" cy="1930400"/>
          </a:xfrm>
          <a:prstGeom prst="roundRect">
            <a:avLst>
              <a:gd name="adj" fmla="val 5263"/>
            </a:avLst>
          </a:prstGeom>
          <a:solidFill>
            <a:srgbClr val="FFFFFF"/>
          </a:solidFill>
          <a:ln w="12700">
            <a:solidFill>
              <a:srgbClr val="E2E8F0"/>
            </a:solidFill>
          </a:ln>
        </p:spPr>
        <p:txBody>
          <a:bodyPr/>
          <a:lstStyle/>
          <a:p>
            <a:endParaRPr lang="en-GB"/>
          </a:p>
        </p:txBody>
      </p:sp>
      <p:sp>
        <p:nvSpPr>
          <p:cNvPr id="7" name="r7"/>
          <p:cNvSpPr/>
          <p:nvPr/>
        </p:nvSpPr>
        <p:spPr>
          <a:xfrm>
            <a:off x="939800" y="2070100"/>
            <a:ext cx="279400" cy="279400"/>
          </a:xfrm>
          <a:prstGeom prst="roundRect">
            <a:avLst>
              <a:gd name="adj" fmla="val 27272"/>
            </a:avLst>
          </a:prstGeom>
          <a:solidFill>
            <a:srgbClr val="EEF2FF"/>
          </a:solidFill>
          <a:ln>
            <a:noFill/>
          </a:ln>
        </p:spPr>
        <p:txBody>
          <a:bodyPr/>
          <a:lstStyle/>
          <a:p>
            <a:endParaRPr lang="en-GB"/>
          </a:p>
        </p:txBody>
      </p:sp>
      <p:sp>
        <p:nvSpPr>
          <p:cNvPr id="8" name="t8"/>
          <p:cNvSpPr txBox="1"/>
          <p:nvPr/>
        </p:nvSpPr>
        <p:spPr>
          <a:xfrm>
            <a:off x="939800" y="2133600"/>
            <a:ext cx="279400" cy="177800"/>
          </a:xfrm>
          <a:prstGeom prst="rect">
            <a:avLst/>
          </a:prstGeom>
          <a:noFill/>
        </p:spPr>
        <p:txBody>
          <a:bodyPr wrap="square" lIns="0" tIns="0" rIns="0" bIns="0" anchor="t">
            <a:noAutofit/>
          </a:bodyPr>
          <a:lstStyle/>
          <a:p>
            <a:pPr algn="ctr">
              <a:lnSpc>
                <a:spcPct val="116000"/>
              </a:lnSpc>
              <a:spcBef>
                <a:spcPts val="0"/>
              </a:spcBef>
              <a:spcAft>
                <a:spcPts val="0"/>
              </a:spcAft>
            </a:pPr>
            <a:r>
              <a:rPr lang="en-GB" sz="1050" b="1" dirty="0">
                <a:solidFill>
                  <a:srgbClr val="4338CA"/>
                </a:solidFill>
                <a:latin typeface="Calibri"/>
                <a:cs typeface="Calibri"/>
              </a:rPr>
              <a:t>A</a:t>
            </a:r>
          </a:p>
        </p:txBody>
      </p:sp>
      <p:sp>
        <p:nvSpPr>
          <p:cNvPr id="9" name="t9"/>
          <p:cNvSpPr txBox="1"/>
          <p:nvPr/>
        </p:nvSpPr>
        <p:spPr>
          <a:xfrm>
            <a:off x="1320800" y="2095500"/>
            <a:ext cx="26162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The OKR core</a:t>
            </a:r>
          </a:p>
        </p:txBody>
      </p:sp>
      <p:sp>
        <p:nvSpPr>
          <p:cNvPr id="10" name="t10"/>
          <p:cNvSpPr txBox="1"/>
          <p:nvPr/>
        </p:nvSpPr>
        <p:spPr>
          <a:xfrm>
            <a:off x="939800" y="2476500"/>
            <a:ext cx="2997200" cy="1219200"/>
          </a:xfrm>
          <a:prstGeom prst="rect">
            <a:avLst/>
          </a:prstGeom>
          <a:noFill/>
        </p:spPr>
        <p:txBody>
          <a:bodyPr wrap="square" lIns="0" tIns="0" rIns="0" bIns="0" anchor="t">
            <a:noAutofit/>
          </a:bodyPr>
          <a:lstStyle/>
          <a:p>
            <a:pPr algn="l">
              <a:lnSpc>
                <a:spcPct val="126000"/>
              </a:lnSpc>
              <a:spcBef>
                <a:spcPts val="0"/>
              </a:spcBef>
              <a:spcAft>
                <a:spcPts val="0"/>
              </a:spcAft>
            </a:pPr>
            <a:r>
              <a:rPr lang="en-GB" sz="1050" b="0" dirty="0">
                <a:solidFill>
                  <a:srgbClr val="64748B"/>
                </a:solidFill>
                <a:latin typeface="Calibri"/>
                <a:cs typeface="Calibri"/>
              </a:rPr>
              <a:t>Cycles and the guided workflow · goals and direction-aware key results · alignment with dependencies and the health score · KPIs, driver trees and formulas · health corridors and recovery OKRs · check-ins with snapshots and team voting · scorecard</a:t>
            </a:r>
          </a:p>
        </p:txBody>
      </p:sp>
      <p:sp>
        <p:nvSpPr>
          <p:cNvPr id="11" name="r11"/>
          <p:cNvSpPr/>
          <p:nvPr/>
        </p:nvSpPr>
        <p:spPr>
          <a:xfrm>
            <a:off x="4368800" y="1866900"/>
            <a:ext cx="3454400" cy="1930400"/>
          </a:xfrm>
          <a:prstGeom prst="roundRect">
            <a:avLst>
              <a:gd name="adj" fmla="val 5263"/>
            </a:avLst>
          </a:prstGeom>
          <a:solidFill>
            <a:srgbClr val="FFFFFF"/>
          </a:solidFill>
          <a:ln w="12700">
            <a:solidFill>
              <a:srgbClr val="E2E8F0"/>
            </a:solidFill>
          </a:ln>
        </p:spPr>
        <p:txBody>
          <a:bodyPr/>
          <a:lstStyle/>
          <a:p>
            <a:endParaRPr lang="en-GB"/>
          </a:p>
        </p:txBody>
      </p:sp>
      <p:sp>
        <p:nvSpPr>
          <p:cNvPr id="12" name="r12"/>
          <p:cNvSpPr/>
          <p:nvPr/>
        </p:nvSpPr>
        <p:spPr>
          <a:xfrm>
            <a:off x="4597400" y="2070100"/>
            <a:ext cx="279400" cy="279400"/>
          </a:xfrm>
          <a:prstGeom prst="roundRect">
            <a:avLst>
              <a:gd name="adj" fmla="val 27272"/>
            </a:avLst>
          </a:prstGeom>
          <a:solidFill>
            <a:srgbClr val="EEF2FF"/>
          </a:solidFill>
          <a:ln>
            <a:noFill/>
          </a:ln>
        </p:spPr>
        <p:txBody>
          <a:bodyPr/>
          <a:lstStyle/>
          <a:p>
            <a:endParaRPr lang="en-GB"/>
          </a:p>
        </p:txBody>
      </p:sp>
      <p:sp>
        <p:nvSpPr>
          <p:cNvPr id="13" name="t13"/>
          <p:cNvSpPr txBox="1"/>
          <p:nvPr/>
        </p:nvSpPr>
        <p:spPr>
          <a:xfrm>
            <a:off x="4597400" y="2133600"/>
            <a:ext cx="279400" cy="177800"/>
          </a:xfrm>
          <a:prstGeom prst="rect">
            <a:avLst/>
          </a:prstGeom>
          <a:noFill/>
        </p:spPr>
        <p:txBody>
          <a:bodyPr wrap="square" lIns="0" tIns="0" rIns="0" bIns="0" anchor="t">
            <a:noAutofit/>
          </a:bodyPr>
          <a:lstStyle/>
          <a:p>
            <a:pPr algn="ctr">
              <a:lnSpc>
                <a:spcPct val="116000"/>
              </a:lnSpc>
              <a:spcBef>
                <a:spcPts val="0"/>
              </a:spcBef>
              <a:spcAft>
                <a:spcPts val="0"/>
              </a:spcAft>
            </a:pPr>
            <a:r>
              <a:rPr lang="en-GB" sz="1050" b="1" dirty="0">
                <a:solidFill>
                  <a:srgbClr val="4338CA"/>
                </a:solidFill>
                <a:latin typeface="Calibri"/>
                <a:cs typeface="Calibri"/>
              </a:rPr>
              <a:t>B</a:t>
            </a:r>
          </a:p>
        </p:txBody>
      </p:sp>
      <p:sp>
        <p:nvSpPr>
          <p:cNvPr id="14" name="t14"/>
          <p:cNvSpPr txBox="1"/>
          <p:nvPr/>
        </p:nvSpPr>
        <p:spPr>
          <a:xfrm>
            <a:off x="4978400" y="2095500"/>
            <a:ext cx="26162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The rhythm</a:t>
            </a:r>
          </a:p>
        </p:txBody>
      </p:sp>
      <p:sp>
        <p:nvSpPr>
          <p:cNvPr id="15" name="t15"/>
          <p:cNvSpPr txBox="1"/>
          <p:nvPr/>
        </p:nvSpPr>
        <p:spPr>
          <a:xfrm>
            <a:off x="4597400" y="2476500"/>
            <a:ext cx="2997200" cy="1219200"/>
          </a:xfrm>
          <a:prstGeom prst="rect">
            <a:avLst/>
          </a:prstGeom>
          <a:noFill/>
        </p:spPr>
        <p:txBody>
          <a:bodyPr wrap="square" lIns="0" tIns="0" rIns="0" bIns="0" anchor="t">
            <a:noAutofit/>
          </a:bodyPr>
          <a:lstStyle/>
          <a:p>
            <a:pPr algn="l">
              <a:lnSpc>
                <a:spcPct val="126000"/>
              </a:lnSpc>
              <a:spcBef>
                <a:spcPts val="0"/>
              </a:spcBef>
              <a:spcAft>
                <a:spcPts val="0"/>
              </a:spcAft>
            </a:pPr>
            <a:r>
              <a:rPr lang="en-GB" sz="1050" b="0" dirty="0">
                <a:solidFill>
                  <a:srgbClr val="64748B"/>
                </a:solidFill>
                <a:latin typeface="Calibri"/>
                <a:cs typeface="Calibri"/>
              </a:rPr>
              <a:t>Weekly check-in session · the five-type blocker taxonomy on a 24-hour clock · commitments · monthly review and decision log · the eleven-stage quarterly review · mid-cycle calibration · cadence and staleness · the review inbox and digests</a:t>
            </a:r>
          </a:p>
        </p:txBody>
      </p:sp>
      <p:sp>
        <p:nvSpPr>
          <p:cNvPr id="16" name="r16"/>
          <p:cNvSpPr/>
          <p:nvPr/>
        </p:nvSpPr>
        <p:spPr>
          <a:xfrm>
            <a:off x="8026400" y="1866900"/>
            <a:ext cx="3454400" cy="1930400"/>
          </a:xfrm>
          <a:prstGeom prst="roundRect">
            <a:avLst>
              <a:gd name="adj" fmla="val 5263"/>
            </a:avLst>
          </a:prstGeom>
          <a:solidFill>
            <a:srgbClr val="FFFFFF"/>
          </a:solidFill>
          <a:ln w="12700">
            <a:solidFill>
              <a:srgbClr val="E2E8F0"/>
            </a:solidFill>
          </a:ln>
        </p:spPr>
        <p:txBody>
          <a:bodyPr/>
          <a:lstStyle/>
          <a:p>
            <a:endParaRPr lang="en-GB"/>
          </a:p>
        </p:txBody>
      </p:sp>
      <p:sp>
        <p:nvSpPr>
          <p:cNvPr id="17" name="r17"/>
          <p:cNvSpPr/>
          <p:nvPr/>
        </p:nvSpPr>
        <p:spPr>
          <a:xfrm>
            <a:off x="8255000" y="2070100"/>
            <a:ext cx="279400" cy="279400"/>
          </a:xfrm>
          <a:prstGeom prst="roundRect">
            <a:avLst>
              <a:gd name="adj" fmla="val 27272"/>
            </a:avLst>
          </a:prstGeom>
          <a:solidFill>
            <a:srgbClr val="EEF2FF"/>
          </a:solidFill>
          <a:ln>
            <a:noFill/>
          </a:ln>
        </p:spPr>
        <p:txBody>
          <a:bodyPr/>
          <a:lstStyle/>
          <a:p>
            <a:endParaRPr lang="en-GB"/>
          </a:p>
        </p:txBody>
      </p:sp>
      <p:sp>
        <p:nvSpPr>
          <p:cNvPr id="18" name="t18"/>
          <p:cNvSpPr txBox="1"/>
          <p:nvPr/>
        </p:nvSpPr>
        <p:spPr>
          <a:xfrm>
            <a:off x="8255000" y="2133600"/>
            <a:ext cx="279400" cy="177800"/>
          </a:xfrm>
          <a:prstGeom prst="rect">
            <a:avLst/>
          </a:prstGeom>
          <a:noFill/>
        </p:spPr>
        <p:txBody>
          <a:bodyPr wrap="square" lIns="0" tIns="0" rIns="0" bIns="0" anchor="t">
            <a:noAutofit/>
          </a:bodyPr>
          <a:lstStyle/>
          <a:p>
            <a:pPr algn="ctr">
              <a:lnSpc>
                <a:spcPct val="116000"/>
              </a:lnSpc>
              <a:spcBef>
                <a:spcPts val="0"/>
              </a:spcBef>
              <a:spcAft>
                <a:spcPts val="0"/>
              </a:spcAft>
            </a:pPr>
            <a:r>
              <a:rPr lang="en-GB" sz="1050" b="1" dirty="0">
                <a:solidFill>
                  <a:srgbClr val="4338CA"/>
                </a:solidFill>
                <a:latin typeface="Calibri"/>
                <a:cs typeface="Calibri"/>
              </a:rPr>
              <a:t>C</a:t>
            </a:r>
          </a:p>
        </p:txBody>
      </p:sp>
      <p:sp>
        <p:nvSpPr>
          <p:cNvPr id="19" name="t19"/>
          <p:cNvSpPr txBox="1"/>
          <p:nvPr/>
        </p:nvSpPr>
        <p:spPr>
          <a:xfrm>
            <a:off x="8636000" y="2095500"/>
            <a:ext cx="26162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The work</a:t>
            </a:r>
          </a:p>
        </p:txBody>
      </p:sp>
      <p:sp>
        <p:nvSpPr>
          <p:cNvPr id="20" name="t20"/>
          <p:cNvSpPr txBox="1"/>
          <p:nvPr/>
        </p:nvSpPr>
        <p:spPr>
          <a:xfrm>
            <a:off x="8255000" y="2476500"/>
            <a:ext cx="2997200" cy="1219200"/>
          </a:xfrm>
          <a:prstGeom prst="rect">
            <a:avLst/>
          </a:prstGeom>
          <a:noFill/>
        </p:spPr>
        <p:txBody>
          <a:bodyPr wrap="square" lIns="0" tIns="0" rIns="0" bIns="0" anchor="t">
            <a:noAutofit/>
          </a:bodyPr>
          <a:lstStyle/>
          <a:p>
            <a:pPr algn="l">
              <a:lnSpc>
                <a:spcPct val="126000"/>
              </a:lnSpc>
              <a:spcBef>
                <a:spcPts val="0"/>
              </a:spcBef>
              <a:spcAft>
                <a:spcPts val="0"/>
              </a:spcAft>
            </a:pPr>
            <a:r>
              <a:rPr lang="en-GB" sz="1050" b="0" dirty="0">
                <a:solidFill>
                  <a:srgbClr val="64748B"/>
                </a:solidFill>
                <a:latin typeface="Calibri"/>
                <a:cs typeface="Calibri"/>
              </a:rPr>
              <a:t>Initiatives with a capacity verdict · tasks and the key-result-linked board · rich documents with version history · file attachments. Deliberately OKR-shaped, not a project management suite</a:t>
            </a:r>
          </a:p>
        </p:txBody>
      </p:sp>
      <p:sp>
        <p:nvSpPr>
          <p:cNvPr id="21" name="r21"/>
          <p:cNvSpPr/>
          <p:nvPr/>
        </p:nvSpPr>
        <p:spPr>
          <a:xfrm>
            <a:off x="711200" y="3949700"/>
            <a:ext cx="3454400" cy="1930400"/>
          </a:xfrm>
          <a:prstGeom prst="roundRect">
            <a:avLst>
              <a:gd name="adj" fmla="val 5263"/>
            </a:avLst>
          </a:prstGeom>
          <a:solidFill>
            <a:srgbClr val="FFFFFF"/>
          </a:solidFill>
          <a:ln w="12700">
            <a:solidFill>
              <a:srgbClr val="E2E8F0"/>
            </a:solidFill>
          </a:ln>
        </p:spPr>
        <p:txBody>
          <a:bodyPr/>
          <a:lstStyle/>
          <a:p>
            <a:endParaRPr lang="en-GB"/>
          </a:p>
        </p:txBody>
      </p:sp>
      <p:sp>
        <p:nvSpPr>
          <p:cNvPr id="22" name="r22"/>
          <p:cNvSpPr/>
          <p:nvPr/>
        </p:nvSpPr>
        <p:spPr>
          <a:xfrm>
            <a:off x="939800" y="4152900"/>
            <a:ext cx="279400" cy="279400"/>
          </a:xfrm>
          <a:prstGeom prst="roundRect">
            <a:avLst>
              <a:gd name="adj" fmla="val 27272"/>
            </a:avLst>
          </a:prstGeom>
          <a:solidFill>
            <a:srgbClr val="EEF2FF"/>
          </a:solidFill>
          <a:ln>
            <a:noFill/>
          </a:ln>
        </p:spPr>
        <p:txBody>
          <a:bodyPr/>
          <a:lstStyle/>
          <a:p>
            <a:endParaRPr lang="en-GB"/>
          </a:p>
        </p:txBody>
      </p:sp>
      <p:sp>
        <p:nvSpPr>
          <p:cNvPr id="23" name="t23"/>
          <p:cNvSpPr txBox="1"/>
          <p:nvPr/>
        </p:nvSpPr>
        <p:spPr>
          <a:xfrm>
            <a:off x="939800" y="4216400"/>
            <a:ext cx="279400" cy="177800"/>
          </a:xfrm>
          <a:prstGeom prst="rect">
            <a:avLst/>
          </a:prstGeom>
          <a:noFill/>
        </p:spPr>
        <p:txBody>
          <a:bodyPr wrap="square" lIns="0" tIns="0" rIns="0" bIns="0" anchor="t">
            <a:noAutofit/>
          </a:bodyPr>
          <a:lstStyle/>
          <a:p>
            <a:pPr algn="ctr">
              <a:lnSpc>
                <a:spcPct val="116000"/>
              </a:lnSpc>
              <a:spcBef>
                <a:spcPts val="0"/>
              </a:spcBef>
              <a:spcAft>
                <a:spcPts val="0"/>
              </a:spcAft>
            </a:pPr>
            <a:r>
              <a:rPr lang="en-GB" sz="1050" b="1" dirty="0">
                <a:solidFill>
                  <a:srgbClr val="4338CA"/>
                </a:solidFill>
                <a:latin typeface="Calibri"/>
                <a:cs typeface="Calibri"/>
              </a:rPr>
              <a:t>D</a:t>
            </a:r>
          </a:p>
        </p:txBody>
      </p:sp>
      <p:sp>
        <p:nvSpPr>
          <p:cNvPr id="24" name="t24"/>
          <p:cNvSpPr txBox="1"/>
          <p:nvPr/>
        </p:nvSpPr>
        <p:spPr>
          <a:xfrm>
            <a:off x="1320800" y="4178300"/>
            <a:ext cx="26162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Coaching and AI</a:t>
            </a:r>
          </a:p>
        </p:txBody>
      </p:sp>
      <p:sp>
        <p:nvSpPr>
          <p:cNvPr id="25" name="t25"/>
          <p:cNvSpPr txBox="1"/>
          <p:nvPr/>
        </p:nvSpPr>
        <p:spPr>
          <a:xfrm>
            <a:off x="939800" y="4559300"/>
            <a:ext cx="2997200" cy="1219200"/>
          </a:xfrm>
          <a:prstGeom prst="rect">
            <a:avLst/>
          </a:prstGeom>
          <a:noFill/>
        </p:spPr>
        <p:txBody>
          <a:bodyPr wrap="square" lIns="0" tIns="0" rIns="0" bIns="0" anchor="t">
            <a:noAutofit/>
          </a:bodyPr>
          <a:lstStyle/>
          <a:p>
            <a:pPr algn="l">
              <a:lnSpc>
                <a:spcPct val="126000"/>
              </a:lnSpc>
              <a:spcBef>
                <a:spcPts val="0"/>
              </a:spcBef>
              <a:spcAft>
                <a:spcPts val="0"/>
              </a:spcAft>
            </a:pPr>
            <a:r>
              <a:rPr lang="en-GB" sz="1050" b="0" dirty="0">
                <a:solidFill>
                  <a:srgbClr val="64748B"/>
                </a:solidFill>
                <a:latin typeface="Calibri"/>
                <a:cs typeface="Calibri"/>
              </a:rPr>
              <a:t>The Draft Coach rule engine · the OKR Coach and OKR Champion · agent governance with least privilege, proposals and hard caps · the nudge engine · assists everywhere · the copilot · bring your own provider, including local models</a:t>
            </a:r>
          </a:p>
        </p:txBody>
      </p:sp>
      <p:sp>
        <p:nvSpPr>
          <p:cNvPr id="26" name="r26"/>
          <p:cNvSpPr/>
          <p:nvPr/>
        </p:nvSpPr>
        <p:spPr>
          <a:xfrm>
            <a:off x="4368800" y="3949700"/>
            <a:ext cx="3454400" cy="1930400"/>
          </a:xfrm>
          <a:prstGeom prst="roundRect">
            <a:avLst>
              <a:gd name="adj" fmla="val 5263"/>
            </a:avLst>
          </a:prstGeom>
          <a:solidFill>
            <a:srgbClr val="FFFFFF"/>
          </a:solidFill>
          <a:ln w="12700">
            <a:solidFill>
              <a:srgbClr val="E2E8F0"/>
            </a:solidFill>
          </a:ln>
        </p:spPr>
        <p:txBody>
          <a:bodyPr/>
          <a:lstStyle/>
          <a:p>
            <a:endParaRPr lang="en-GB"/>
          </a:p>
        </p:txBody>
      </p:sp>
      <p:sp>
        <p:nvSpPr>
          <p:cNvPr id="27" name="r27"/>
          <p:cNvSpPr/>
          <p:nvPr/>
        </p:nvSpPr>
        <p:spPr>
          <a:xfrm>
            <a:off x="4597400" y="4152900"/>
            <a:ext cx="279400" cy="279400"/>
          </a:xfrm>
          <a:prstGeom prst="roundRect">
            <a:avLst>
              <a:gd name="adj" fmla="val 27272"/>
            </a:avLst>
          </a:prstGeom>
          <a:solidFill>
            <a:srgbClr val="EEF2FF"/>
          </a:solidFill>
          <a:ln>
            <a:noFill/>
          </a:ln>
        </p:spPr>
        <p:txBody>
          <a:bodyPr/>
          <a:lstStyle/>
          <a:p>
            <a:endParaRPr lang="en-GB"/>
          </a:p>
        </p:txBody>
      </p:sp>
      <p:sp>
        <p:nvSpPr>
          <p:cNvPr id="28" name="t28"/>
          <p:cNvSpPr txBox="1"/>
          <p:nvPr/>
        </p:nvSpPr>
        <p:spPr>
          <a:xfrm>
            <a:off x="4597400" y="4216400"/>
            <a:ext cx="279400" cy="177800"/>
          </a:xfrm>
          <a:prstGeom prst="rect">
            <a:avLst/>
          </a:prstGeom>
          <a:noFill/>
        </p:spPr>
        <p:txBody>
          <a:bodyPr wrap="square" lIns="0" tIns="0" rIns="0" bIns="0" anchor="t">
            <a:noAutofit/>
          </a:bodyPr>
          <a:lstStyle/>
          <a:p>
            <a:pPr algn="ctr">
              <a:lnSpc>
                <a:spcPct val="116000"/>
              </a:lnSpc>
              <a:spcBef>
                <a:spcPts val="0"/>
              </a:spcBef>
              <a:spcAft>
                <a:spcPts val="0"/>
              </a:spcAft>
            </a:pPr>
            <a:r>
              <a:rPr lang="en-GB" sz="1050" b="1" dirty="0">
                <a:solidFill>
                  <a:srgbClr val="4338CA"/>
                </a:solidFill>
                <a:latin typeface="Calibri"/>
                <a:cs typeface="Calibri"/>
              </a:rPr>
              <a:t>E</a:t>
            </a:r>
          </a:p>
        </p:txBody>
      </p:sp>
      <p:sp>
        <p:nvSpPr>
          <p:cNvPr id="29" name="t29"/>
          <p:cNvSpPr txBox="1"/>
          <p:nvPr/>
        </p:nvSpPr>
        <p:spPr>
          <a:xfrm>
            <a:off x="4978400" y="4178300"/>
            <a:ext cx="26162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Channels and reach</a:t>
            </a:r>
          </a:p>
        </p:txBody>
      </p:sp>
      <p:sp>
        <p:nvSpPr>
          <p:cNvPr id="30" name="t30"/>
          <p:cNvSpPr txBox="1"/>
          <p:nvPr/>
        </p:nvSpPr>
        <p:spPr>
          <a:xfrm>
            <a:off x="4597400" y="4559300"/>
            <a:ext cx="2997200" cy="1219200"/>
          </a:xfrm>
          <a:prstGeom prst="rect">
            <a:avLst/>
          </a:prstGeom>
          <a:noFill/>
        </p:spPr>
        <p:txBody>
          <a:bodyPr wrap="square" lIns="0" tIns="0" rIns="0" bIns="0" anchor="t">
            <a:noAutofit/>
          </a:bodyPr>
          <a:lstStyle/>
          <a:p>
            <a:pPr algn="l">
              <a:lnSpc>
                <a:spcPct val="126000"/>
              </a:lnSpc>
              <a:spcBef>
                <a:spcPts val="0"/>
              </a:spcBef>
              <a:spcAft>
                <a:spcPts val="0"/>
              </a:spcAft>
            </a:pPr>
            <a:r>
              <a:rPr lang="en-GB" sz="1050" b="0" dirty="0">
                <a:solidFill>
                  <a:srgbClr val="64748B"/>
                </a:solidFill>
                <a:latin typeface="Calibri"/>
                <a:cs typeface="Calibri"/>
              </a:rPr>
              <a:t>Browser · email · Slack · Microsoft Teams · WhatsApp Business · Telegram · any external AI agent acting as its user. Every inbound message runs the same permission checks as a click</a:t>
            </a:r>
          </a:p>
        </p:txBody>
      </p:sp>
      <p:sp>
        <p:nvSpPr>
          <p:cNvPr id="31" name="r31"/>
          <p:cNvSpPr/>
          <p:nvPr/>
        </p:nvSpPr>
        <p:spPr>
          <a:xfrm>
            <a:off x="8026400" y="3949700"/>
            <a:ext cx="3454400" cy="1930400"/>
          </a:xfrm>
          <a:prstGeom prst="roundRect">
            <a:avLst>
              <a:gd name="adj" fmla="val 5263"/>
            </a:avLst>
          </a:prstGeom>
          <a:solidFill>
            <a:srgbClr val="FFFFFF"/>
          </a:solidFill>
          <a:ln w="12700">
            <a:solidFill>
              <a:srgbClr val="E2E8F0"/>
            </a:solidFill>
          </a:ln>
        </p:spPr>
        <p:txBody>
          <a:bodyPr/>
          <a:lstStyle/>
          <a:p>
            <a:endParaRPr lang="en-GB"/>
          </a:p>
        </p:txBody>
      </p:sp>
      <p:sp>
        <p:nvSpPr>
          <p:cNvPr id="32" name="r32"/>
          <p:cNvSpPr/>
          <p:nvPr/>
        </p:nvSpPr>
        <p:spPr>
          <a:xfrm>
            <a:off x="8255000" y="4152900"/>
            <a:ext cx="279400" cy="279400"/>
          </a:xfrm>
          <a:prstGeom prst="roundRect">
            <a:avLst>
              <a:gd name="adj" fmla="val 27272"/>
            </a:avLst>
          </a:prstGeom>
          <a:solidFill>
            <a:srgbClr val="EEF2FF"/>
          </a:solidFill>
          <a:ln>
            <a:noFill/>
          </a:ln>
        </p:spPr>
        <p:txBody>
          <a:bodyPr/>
          <a:lstStyle/>
          <a:p>
            <a:endParaRPr lang="en-GB"/>
          </a:p>
        </p:txBody>
      </p:sp>
      <p:sp>
        <p:nvSpPr>
          <p:cNvPr id="33" name="t33"/>
          <p:cNvSpPr txBox="1"/>
          <p:nvPr/>
        </p:nvSpPr>
        <p:spPr>
          <a:xfrm>
            <a:off x="8255000" y="4216400"/>
            <a:ext cx="279400" cy="177800"/>
          </a:xfrm>
          <a:prstGeom prst="rect">
            <a:avLst/>
          </a:prstGeom>
          <a:noFill/>
        </p:spPr>
        <p:txBody>
          <a:bodyPr wrap="square" lIns="0" tIns="0" rIns="0" bIns="0" anchor="t">
            <a:noAutofit/>
          </a:bodyPr>
          <a:lstStyle/>
          <a:p>
            <a:pPr algn="ctr">
              <a:lnSpc>
                <a:spcPct val="116000"/>
              </a:lnSpc>
              <a:spcBef>
                <a:spcPts val="0"/>
              </a:spcBef>
              <a:spcAft>
                <a:spcPts val="0"/>
              </a:spcAft>
            </a:pPr>
            <a:r>
              <a:rPr lang="en-GB" sz="1050" b="1" dirty="0">
                <a:solidFill>
                  <a:srgbClr val="4338CA"/>
                </a:solidFill>
                <a:latin typeface="Calibri"/>
                <a:cs typeface="Calibri"/>
              </a:rPr>
              <a:t>F</a:t>
            </a:r>
          </a:p>
        </p:txBody>
      </p:sp>
      <p:sp>
        <p:nvSpPr>
          <p:cNvPr id="34" name="t34"/>
          <p:cNvSpPr txBox="1"/>
          <p:nvPr/>
        </p:nvSpPr>
        <p:spPr>
          <a:xfrm>
            <a:off x="8636000" y="4178300"/>
            <a:ext cx="26162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Platform</a:t>
            </a:r>
          </a:p>
        </p:txBody>
      </p:sp>
      <p:sp>
        <p:nvSpPr>
          <p:cNvPr id="35" name="t35"/>
          <p:cNvSpPr txBox="1"/>
          <p:nvPr/>
        </p:nvSpPr>
        <p:spPr>
          <a:xfrm>
            <a:off x="8255000" y="4559300"/>
            <a:ext cx="2997200" cy="1219200"/>
          </a:xfrm>
          <a:prstGeom prst="rect">
            <a:avLst/>
          </a:prstGeom>
          <a:noFill/>
        </p:spPr>
        <p:txBody>
          <a:bodyPr wrap="square" lIns="0" tIns="0" rIns="0" bIns="0" anchor="t">
            <a:noAutofit/>
          </a:bodyPr>
          <a:lstStyle/>
          <a:p>
            <a:pPr algn="l">
              <a:lnSpc>
                <a:spcPct val="126000"/>
              </a:lnSpc>
              <a:spcBef>
                <a:spcPts val="0"/>
              </a:spcBef>
              <a:spcAft>
                <a:spcPts val="0"/>
              </a:spcAft>
            </a:pPr>
            <a:r>
              <a:rPr lang="en-GB" sz="1050" b="0" dirty="0">
                <a:solidFill>
                  <a:srgbClr val="64748B"/>
                </a:solidFill>
                <a:latin typeface="Calibri"/>
                <a:cs typeface="Calibri"/>
              </a:rPr>
              <a:t>Spaces · people and org chart · relationship-based access · comments, mentions and notifications · activity feed · search and command palette · admin and audit · encrypted export and import · spreadsheet and FlowyTeam importers · accessibility</a:t>
            </a:r>
          </a:p>
        </p:txBody>
      </p:sp>
      <p:sp>
        <p:nvSpPr>
          <p:cNvPr id="36" name="r36"/>
          <p:cNvSpPr/>
          <p:nvPr/>
        </p:nvSpPr>
        <p:spPr>
          <a:xfrm>
            <a:off x="711200" y="6375400"/>
            <a:ext cx="10769600" cy="9525"/>
          </a:xfrm>
          <a:prstGeom prst="rect">
            <a:avLst/>
          </a:prstGeom>
          <a:solidFill>
            <a:srgbClr val="E2E8F0"/>
          </a:solidFill>
          <a:ln>
            <a:noFill/>
          </a:ln>
        </p:spPr>
        <p:txBody>
          <a:bodyPr/>
          <a:lstStyle/>
          <a:p>
            <a:endParaRPr lang="en-GB"/>
          </a:p>
        </p:txBody>
      </p:sp>
      <p:sp>
        <p:nvSpPr>
          <p:cNvPr id="37" name="t37"/>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BUSINESS</a:t>
            </a:r>
          </a:p>
        </p:txBody>
      </p:sp>
      <p:sp>
        <p:nvSpPr>
          <p:cNvPr id="38" name="t38"/>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DEPLOYMENT AND LICENCE</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One release, run two ways</a:t>
            </a:r>
          </a:p>
        </p:txBody>
      </p:sp>
      <p:graphicFrame>
        <p:nvGraphicFramePr>
          <p:cNvPr id="5" name="tbl5"/>
          <p:cNvGraphicFramePr>
            <a:graphicFrameLocks noGrp="1"/>
          </p:cNvGraphicFramePr>
          <p:nvPr/>
        </p:nvGraphicFramePr>
        <p:xfrm>
          <a:off x="711200" y="1485900"/>
          <a:ext cx="10769600" cy="2336800"/>
        </p:xfrm>
        <a:graphic>
          <a:graphicData uri="http://schemas.openxmlformats.org/drawingml/2006/main/table">
            <a:tbl>
              <a:tblPr firstRow="1" bandRow="0"/>
              <a:tblGrid>
                <a:gridCol w="2413000"/>
                <a:gridCol w="3175000"/>
                <a:gridCol w="5181600"/>
              </a:tblGrid>
              <a:tr h="584200">
                <a:tc>
                  <a:txBody>
                    <a:bodyPr/>
                    <a:lstStyle/>
                    <a:p>
                      <a:pPr algn="l">
                        <a:lnSpc>
                          <a:spcPct val="106000"/>
                        </a:lnSpc>
                      </a:pPr>
                      <a:r>
                        <a:rPr lang="en-GB" sz="1150" b="1" dirty="0">
                          <a:solidFill>
                            <a:srgbClr val="1E1B4B"/>
                          </a:solidFill>
                          <a:latin typeface="Calibri"/>
                          <a:cs typeface="Calibri"/>
                        </a:rPr>
                        <a:t>How</a:t>
                      </a:r>
                    </a:p>
                  </a:txBody>
                  <a:tcPr marL="101600" marR="101600" marT="63500" marB="63500" anchor="ctr">
                    <a:lnB w="9525" cap="flat">
                      <a:solidFill>
                        <a:srgbClr val="C7D2FE"/>
                      </a:solidFill>
                    </a:lnB>
                    <a:solidFill>
                      <a:srgbClr val="EEF2FF"/>
                    </a:solidFill>
                  </a:tcPr>
                </a:tc>
                <a:tc>
                  <a:txBody>
                    <a:bodyPr/>
                    <a:lstStyle/>
                    <a:p>
                      <a:pPr algn="l">
                        <a:lnSpc>
                          <a:spcPct val="106000"/>
                        </a:lnSpc>
                      </a:pPr>
                      <a:r>
                        <a:rPr lang="en-GB" sz="1150" b="1" dirty="0">
                          <a:solidFill>
                            <a:srgbClr val="1E1B4B"/>
                          </a:solidFill>
                          <a:latin typeface="Calibri"/>
                          <a:cs typeface="Calibri"/>
                        </a:rPr>
                        <a:t>Who it suits</a:t>
                      </a:r>
                    </a:p>
                  </a:txBody>
                  <a:tcPr marL="101600" marR="101600" marT="63500" marB="63500" anchor="ctr">
                    <a:lnB w="9525" cap="flat">
                      <a:solidFill>
                        <a:srgbClr val="C7D2FE"/>
                      </a:solidFill>
                    </a:lnB>
                    <a:solidFill>
                      <a:srgbClr val="EEF2FF"/>
                    </a:solidFill>
                  </a:tcPr>
                </a:tc>
                <a:tc>
                  <a:txBody>
                    <a:bodyPr/>
                    <a:lstStyle/>
                    <a:p>
                      <a:pPr algn="l">
                        <a:lnSpc>
                          <a:spcPct val="106000"/>
                        </a:lnSpc>
                      </a:pPr>
                      <a:r>
                        <a:rPr lang="en-GB" sz="1150" b="1" dirty="0">
                          <a:solidFill>
                            <a:srgbClr val="1E1B4B"/>
                          </a:solidFill>
                          <a:latin typeface="Calibri"/>
                          <a:cs typeface="Calibri"/>
                        </a:rPr>
                        <a:t>What it takes</a:t>
                      </a:r>
                    </a:p>
                  </a:txBody>
                  <a:tcPr marL="101600" marR="101600" marT="63500" marB="63500" anchor="ctr">
                    <a:lnB w="9525" cap="flat">
                      <a:solidFill>
                        <a:srgbClr val="C7D2FE"/>
                      </a:solidFill>
                    </a:lnB>
                    <a:solidFill>
                      <a:srgbClr val="EEF2FF"/>
                    </a:solidFill>
                  </a:tcPr>
                </a:tc>
              </a:tr>
              <a:tr h="584200">
                <a:tc>
                  <a:txBody>
                    <a:bodyPr/>
                    <a:lstStyle/>
                    <a:p>
                      <a:pPr algn="l">
                        <a:lnSpc>
                          <a:spcPct val="106000"/>
                        </a:lnSpc>
                      </a:pPr>
                      <a:r>
                        <a:rPr lang="en-GB" sz="1150" b="0" dirty="0">
                          <a:solidFill>
                            <a:srgbClr val="334155"/>
                          </a:solidFill>
                          <a:latin typeface="Calibri"/>
                          <a:cs typeface="Calibri"/>
                        </a:rPr>
                        <a:t>Self-hosted, one server</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Anyone who wants data on their own machines</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One Docker Compose file and a first-run wizard that generates every secret. Target: under 30 minutes</a:t>
                      </a:r>
                    </a:p>
                  </a:txBody>
                  <a:tcPr marL="101600" marR="101600" marT="63500" marB="63500" anchor="ctr">
                    <a:lnB w="9525" cap="flat">
                      <a:solidFill>
                        <a:srgbClr val="E2E8F0"/>
                      </a:solidFill>
                    </a:lnB>
                    <a:solidFill>
                      <a:srgbClr val="FFFFFF"/>
                    </a:solidFill>
                  </a:tcPr>
                </a:tc>
              </a:tr>
              <a:tr h="584200">
                <a:tc>
                  <a:txBody>
                    <a:bodyPr/>
                    <a:lstStyle/>
                    <a:p>
                      <a:pPr algn="l">
                        <a:lnSpc>
                          <a:spcPct val="106000"/>
                        </a:lnSpc>
                      </a:pPr>
                      <a:r>
                        <a:rPr lang="en-GB" sz="1150" b="0" dirty="0">
                          <a:solidFill>
                            <a:srgbClr val="334155"/>
                          </a:solidFill>
                          <a:latin typeface="Calibri"/>
                          <a:cs typeface="Calibri"/>
                        </a:rPr>
                        <a:t>Self-hosted, Kubernetes</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Universities, government, large enterprise</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A Helm chart, the customer's own PostgreSQL, single sign-on and backups</a:t>
                      </a:r>
                    </a:p>
                  </a:txBody>
                  <a:tcPr marL="101600" marR="101600" marT="63500" marB="63500" anchor="ctr">
                    <a:lnB w="9525" cap="flat">
                      <a:solidFill>
                        <a:srgbClr val="E2E8F0"/>
                      </a:solidFill>
                    </a:lnB>
                    <a:solidFill>
                      <a:srgbClr val="FFFFFF"/>
                    </a:solidFill>
                  </a:tcPr>
                </a:tc>
              </a:tr>
              <a:tr h="584200">
                <a:tc>
                  <a:txBody>
                    <a:bodyPr/>
                    <a:lstStyle/>
                    <a:p>
                      <a:pPr algn="l">
                        <a:lnSpc>
                          <a:spcPct val="106000"/>
                        </a:lnSpc>
                      </a:pPr>
                      <a:r>
                        <a:rPr lang="en-GB" sz="1150" b="0" dirty="0">
                          <a:solidFill>
                            <a:srgbClr val="334155"/>
                          </a:solidFill>
                          <a:latin typeface="Calibri"/>
                          <a:cs typeface="Calibri"/>
                        </a:rPr>
                        <a:t>Managed cloud</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Teams that do not want to run anything</a:t>
                      </a:r>
                    </a:p>
                  </a:txBody>
                  <a:tcPr marL="101600" marR="101600" marT="63500" marB="63500" anchor="ctr">
                    <a:lnB w="9525" cap="flat">
                      <a:solidFill>
                        <a:srgbClr val="E2E8F0"/>
                      </a:solidFill>
                    </a:lnB>
                    <a:solidFill>
                      <a:srgbClr val="FFFFFF"/>
                    </a:solidFill>
                  </a:tcPr>
                </a:tc>
                <a:tc>
                  <a:txBody>
                    <a:bodyPr/>
                    <a:lstStyle/>
                    <a:p>
                      <a:pPr algn="l">
                        <a:lnSpc>
                          <a:spcPct val="106000"/>
                        </a:lnSpc>
                      </a:pPr>
                      <a:r>
                        <a:rPr lang="en-GB" sz="1150" b="0" dirty="0">
                          <a:solidFill>
                            <a:srgbClr val="334155"/>
                          </a:solidFill>
                          <a:latin typeface="Calibri"/>
                          <a:cs typeface="Calibri"/>
                        </a:rPr>
                        <a:t>Sign up, name a workspace, start. The same container under our operation</a:t>
                      </a:r>
                    </a:p>
                  </a:txBody>
                  <a:tcPr marL="101600" marR="101600" marT="63500" marB="63500" anchor="ctr">
                    <a:lnB w="9525" cap="flat">
                      <a:solidFill>
                        <a:srgbClr val="E2E8F0"/>
                      </a:solidFill>
                    </a:lnB>
                    <a:solidFill>
                      <a:srgbClr val="FFFFFF"/>
                    </a:solidFill>
                  </a:tcPr>
                </a:tc>
              </a:tr>
            </a:tbl>
          </a:graphicData>
        </a:graphic>
      </p:graphicFrame>
      <p:sp>
        <p:nvSpPr>
          <p:cNvPr id="6" name="r6"/>
          <p:cNvSpPr/>
          <p:nvPr/>
        </p:nvSpPr>
        <p:spPr>
          <a:xfrm>
            <a:off x="711200" y="3898900"/>
            <a:ext cx="5257800" cy="1625600"/>
          </a:xfrm>
          <a:prstGeom prst="roundRect">
            <a:avLst>
              <a:gd name="adj" fmla="val 6250"/>
            </a:avLst>
          </a:prstGeom>
          <a:solidFill>
            <a:srgbClr val="EEF2FF"/>
          </a:solidFill>
          <a:ln w="12700">
            <a:solidFill>
              <a:srgbClr val="C7D2FE"/>
            </a:solidFill>
          </a:ln>
        </p:spPr>
        <p:txBody>
          <a:bodyPr/>
          <a:lstStyle/>
          <a:p>
            <a:endParaRPr lang="en-GB"/>
          </a:p>
        </p:txBody>
      </p:sp>
      <p:sp>
        <p:nvSpPr>
          <p:cNvPr id="7" name="t7"/>
          <p:cNvSpPr txBox="1"/>
          <p:nvPr/>
        </p:nvSpPr>
        <p:spPr>
          <a:xfrm>
            <a:off x="990600" y="4152900"/>
            <a:ext cx="46990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1" dirty="0">
                <a:solidFill>
                  <a:srgbClr val="4338CA"/>
                </a:solidFill>
                <a:latin typeface="Calibri"/>
                <a:cs typeface="Calibri"/>
              </a:rPr>
              <a:t>AGPL-3.0, plus a contributor agreement</a:t>
            </a:r>
          </a:p>
        </p:txBody>
      </p:sp>
      <p:sp>
        <p:nvSpPr>
          <p:cNvPr id="8" name="t8"/>
          <p:cNvSpPr txBox="1"/>
          <p:nvPr/>
        </p:nvSpPr>
        <p:spPr>
          <a:xfrm>
            <a:off x="990600" y="4483100"/>
            <a:ext cx="4699000" cy="9144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4338CA"/>
                </a:solidFill>
                <a:latin typeface="Calibri"/>
                <a:cs typeface="Calibri"/>
              </a:rPr>
              <a:t>AGPL stops a third party selling a closed hosted version. An organisation self-hosting for its own staff takes on no obligations at all. The contributor agreement preserves the right to run a paid cloud and to relax the licence later.</a:t>
            </a:r>
          </a:p>
        </p:txBody>
      </p:sp>
      <p:sp>
        <p:nvSpPr>
          <p:cNvPr id="9" name="r9"/>
          <p:cNvSpPr/>
          <p:nvPr/>
        </p:nvSpPr>
        <p:spPr>
          <a:xfrm>
            <a:off x="6223000" y="3898900"/>
            <a:ext cx="5257800" cy="1625600"/>
          </a:xfrm>
          <a:prstGeom prst="roundRect">
            <a:avLst>
              <a:gd name="adj" fmla="val 6250"/>
            </a:avLst>
          </a:prstGeom>
          <a:solidFill>
            <a:srgbClr val="F8FAFC"/>
          </a:solidFill>
          <a:ln w="12700">
            <a:solidFill>
              <a:srgbClr val="E2E8F0"/>
            </a:solidFill>
          </a:ln>
        </p:spPr>
        <p:txBody>
          <a:bodyPr/>
          <a:lstStyle/>
          <a:p>
            <a:endParaRPr lang="en-GB"/>
          </a:p>
        </p:txBody>
      </p:sp>
      <p:sp>
        <p:nvSpPr>
          <p:cNvPr id="10" name="t10"/>
          <p:cNvSpPr txBox="1"/>
          <p:nvPr/>
        </p:nvSpPr>
        <p:spPr>
          <a:xfrm>
            <a:off x="6502400" y="4152900"/>
            <a:ext cx="46990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1" dirty="0">
                <a:solidFill>
                  <a:srgbClr val="0F172A"/>
                </a:solidFill>
                <a:latin typeface="Calibri"/>
                <a:cs typeface="Calibri"/>
              </a:rPr>
              <a:t>Air-gap capable, by construction</a:t>
            </a:r>
          </a:p>
        </p:txBody>
      </p:sp>
      <p:sp>
        <p:nvSpPr>
          <p:cNvPr id="11" name="t11"/>
          <p:cNvSpPr txBox="1"/>
          <p:nvPr/>
        </p:nvSpPr>
        <p:spPr>
          <a:xfrm>
            <a:off x="6502400" y="4483100"/>
            <a:ext cx="4699000" cy="9144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334155"/>
                </a:solidFill>
                <a:latin typeface="Calibri"/>
                <a:cs typeface="Calibri"/>
              </a:rPr>
              <a:t>No feature hard-depends on an external service. AI points at a local model or is off. Channels are optional, telemetry is opt-in, assets are self-hosted. Tenant isolation is enforced inside the database, not in application code.</a:t>
            </a:r>
          </a:p>
        </p:txBody>
      </p:sp>
      <p:sp>
        <p:nvSpPr>
          <p:cNvPr id="12" name="t12"/>
          <p:cNvSpPr txBox="1"/>
          <p:nvPr/>
        </p:nvSpPr>
        <p:spPr>
          <a:xfrm>
            <a:off x="711200" y="5702300"/>
            <a:ext cx="10769600"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350" b="1" dirty="0">
                <a:solidFill>
                  <a:srgbClr val="1E1B4B"/>
                </a:solidFill>
                <a:latin typeface="Calibri"/>
                <a:cs typeface="Calibri"/>
              </a:rPr>
              <a:t>Self-host is never seat-limited and never feature-gated. The cloud sells operation, not features.</a:t>
            </a:r>
          </a:p>
        </p:txBody>
      </p:sp>
      <p:sp>
        <p:nvSpPr>
          <p:cNvPr id="13" name="r13"/>
          <p:cNvSpPr/>
          <p:nvPr/>
        </p:nvSpPr>
        <p:spPr>
          <a:xfrm>
            <a:off x="711200" y="6375400"/>
            <a:ext cx="10769600" cy="9525"/>
          </a:xfrm>
          <a:prstGeom prst="rect">
            <a:avLst/>
          </a:prstGeom>
          <a:solidFill>
            <a:srgbClr val="E2E8F0"/>
          </a:solidFill>
          <a:ln>
            <a:noFill/>
          </a:ln>
        </p:spPr>
        <p:txBody>
          <a:bodyPr/>
          <a:lstStyle/>
          <a:p>
            <a:endParaRPr lang="en-GB"/>
          </a:p>
        </p:txBody>
      </p:sp>
      <p:sp>
        <p:nvSpPr>
          <p:cNvPr id="14" name="t14"/>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BUSINESS</a:t>
            </a:r>
          </a:p>
        </p:txBody>
      </p:sp>
      <p:sp>
        <p:nvSpPr>
          <p:cNvPr id="15" name="t15"/>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STATUS</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Fully specified, and sequenced so the coach is not last</a:t>
            </a:r>
          </a:p>
        </p:txBody>
      </p:sp>
      <p:sp>
        <p:nvSpPr>
          <p:cNvPr id="5" name="t5"/>
          <p:cNvSpPr txBox="1"/>
          <p:nvPr/>
        </p:nvSpPr>
        <p:spPr>
          <a:xfrm>
            <a:off x="711200" y="1282700"/>
            <a:ext cx="10007600" cy="431800"/>
          </a:xfrm>
          <a:prstGeom prst="rect">
            <a:avLst/>
          </a:prstGeom>
          <a:noFill/>
        </p:spPr>
        <p:txBody>
          <a:bodyPr wrap="square" lIns="0" tIns="0" rIns="0" bIns="0" anchor="t">
            <a:noAutofit/>
          </a:bodyPr>
          <a:lstStyle/>
          <a:p>
            <a:pPr algn="l">
              <a:lnSpc>
                <a:spcPct val="124000"/>
              </a:lnSpc>
              <a:spcBef>
                <a:spcPts val="0"/>
              </a:spcBef>
              <a:spcAft>
                <a:spcPts val="0"/>
              </a:spcAft>
            </a:pPr>
            <a:r>
              <a:rPr lang="en-GB" sz="1350" b="0" dirty="0">
                <a:solidFill>
                  <a:srgbClr val="64748B"/>
                </a:solidFill>
                <a:latin typeface="Calibri"/>
                <a:cs typeface="Calibri"/>
              </a:rPr>
              <a:t>Eight phases, 200 scoped tasks, each with acceptance criteria and a test plan. All delivered.</a:t>
            </a:r>
          </a:p>
        </p:txBody>
      </p:sp>
      <p:sp>
        <p:nvSpPr>
          <p:cNvPr id="6" name="r6"/>
          <p:cNvSpPr/>
          <p:nvPr/>
        </p:nvSpPr>
        <p:spPr>
          <a:xfrm>
            <a:off x="711200" y="1866900"/>
            <a:ext cx="304800" cy="304800"/>
          </a:xfrm>
          <a:prstGeom prst="roundRect">
            <a:avLst>
              <a:gd name="adj" fmla="val 50000"/>
            </a:avLst>
          </a:prstGeom>
          <a:solidFill>
            <a:srgbClr val="4F46E5"/>
          </a:solidFill>
          <a:ln>
            <a:noFill/>
          </a:ln>
        </p:spPr>
        <p:txBody>
          <a:bodyPr/>
          <a:lstStyle/>
          <a:p>
            <a:endParaRPr lang="en-GB"/>
          </a:p>
        </p:txBody>
      </p:sp>
      <p:sp>
        <p:nvSpPr>
          <p:cNvPr id="7" name="t7"/>
          <p:cNvSpPr txBox="1"/>
          <p:nvPr/>
        </p:nvSpPr>
        <p:spPr>
          <a:xfrm>
            <a:off x="711200" y="1930400"/>
            <a:ext cx="3048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100" b="1" dirty="0">
                <a:solidFill>
                  <a:srgbClr val="FFFFFF"/>
                </a:solidFill>
                <a:latin typeface="Calibri"/>
                <a:cs typeface="Calibri"/>
              </a:rPr>
              <a:t>1</a:t>
            </a:r>
          </a:p>
        </p:txBody>
      </p:sp>
      <p:sp>
        <p:nvSpPr>
          <p:cNvPr id="8" name="t8"/>
          <p:cNvSpPr txBox="1"/>
          <p:nvPr/>
        </p:nvSpPr>
        <p:spPr>
          <a:xfrm>
            <a:off x="1168400" y="1866900"/>
            <a:ext cx="467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Foundation</a:t>
            </a:r>
          </a:p>
        </p:txBody>
      </p:sp>
      <p:sp>
        <p:nvSpPr>
          <p:cNvPr id="9" name="t9"/>
          <p:cNvSpPr txBox="1"/>
          <p:nvPr/>
        </p:nvSpPr>
        <p:spPr>
          <a:xfrm>
            <a:off x="1168400" y="2120900"/>
            <a:ext cx="4673600" cy="457200"/>
          </a:xfrm>
          <a:prstGeom prst="rect">
            <a:avLst/>
          </a:prstGeom>
          <a:noFill/>
        </p:spPr>
        <p:txBody>
          <a:bodyPr wrap="square" lIns="0" tIns="0" rIns="0" bIns="0" anchor="t">
            <a:noAutofit/>
          </a:bodyPr>
          <a:lstStyle/>
          <a:p>
            <a:pPr algn="l">
              <a:lnSpc>
                <a:spcPct val="124000"/>
              </a:lnSpc>
              <a:spcBef>
                <a:spcPts val="0"/>
              </a:spcBef>
              <a:spcAft>
                <a:spcPts val="0"/>
              </a:spcAft>
            </a:pPr>
            <a:r>
              <a:rPr lang="en-GB" sz="1050" b="0" dirty="0">
                <a:solidFill>
                  <a:srgbClr val="64748B"/>
                </a:solidFill>
                <a:latin typeface="Calibri"/>
                <a:cs typeface="Calibri"/>
              </a:rPr>
              <a:t>Monorepo, database with the tenant floor, adapter ports and the outbox, authentication, the single write pipeline, Compose and Helm</a:t>
            </a:r>
          </a:p>
        </p:txBody>
      </p:sp>
      <p:sp>
        <p:nvSpPr>
          <p:cNvPr id="10" name="r10"/>
          <p:cNvSpPr/>
          <p:nvPr/>
        </p:nvSpPr>
        <p:spPr>
          <a:xfrm>
            <a:off x="6223000" y="1866900"/>
            <a:ext cx="304800" cy="304800"/>
          </a:xfrm>
          <a:prstGeom prst="roundRect">
            <a:avLst>
              <a:gd name="adj" fmla="val 50000"/>
            </a:avLst>
          </a:prstGeom>
          <a:solidFill>
            <a:srgbClr val="4F46E5"/>
          </a:solidFill>
          <a:ln>
            <a:noFill/>
          </a:ln>
        </p:spPr>
        <p:txBody>
          <a:bodyPr/>
          <a:lstStyle/>
          <a:p>
            <a:endParaRPr lang="en-GB"/>
          </a:p>
        </p:txBody>
      </p:sp>
      <p:sp>
        <p:nvSpPr>
          <p:cNvPr id="11" name="t11"/>
          <p:cNvSpPr txBox="1"/>
          <p:nvPr/>
        </p:nvSpPr>
        <p:spPr>
          <a:xfrm>
            <a:off x="6223000" y="1930400"/>
            <a:ext cx="3048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100" b="1" dirty="0">
                <a:solidFill>
                  <a:srgbClr val="FFFFFF"/>
                </a:solidFill>
                <a:latin typeface="Calibri"/>
                <a:cs typeface="Calibri"/>
              </a:rPr>
              <a:t>2</a:t>
            </a:r>
          </a:p>
        </p:txBody>
      </p:sp>
      <p:sp>
        <p:nvSpPr>
          <p:cNvPr id="12" name="t12"/>
          <p:cNvSpPr txBox="1"/>
          <p:nvPr/>
        </p:nvSpPr>
        <p:spPr>
          <a:xfrm>
            <a:off x="6680200" y="1866900"/>
            <a:ext cx="467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Platform and agent spine</a:t>
            </a:r>
          </a:p>
        </p:txBody>
      </p:sp>
      <p:sp>
        <p:nvSpPr>
          <p:cNvPr id="13" name="t13"/>
          <p:cNvSpPr txBox="1"/>
          <p:nvPr/>
        </p:nvSpPr>
        <p:spPr>
          <a:xfrm>
            <a:off x="6680200" y="2120900"/>
            <a:ext cx="4673600" cy="457200"/>
          </a:xfrm>
          <a:prstGeom prst="rect">
            <a:avLst/>
          </a:prstGeom>
          <a:noFill/>
        </p:spPr>
        <p:txBody>
          <a:bodyPr wrap="square" lIns="0" tIns="0" rIns="0" bIns="0" anchor="t">
            <a:noAutofit/>
          </a:bodyPr>
          <a:lstStyle/>
          <a:p>
            <a:pPr algn="l">
              <a:lnSpc>
                <a:spcPct val="124000"/>
              </a:lnSpc>
              <a:spcBef>
                <a:spcPts val="0"/>
              </a:spcBef>
              <a:spcAft>
                <a:spcPts val="0"/>
              </a:spcAft>
            </a:pPr>
            <a:r>
              <a:rPr lang="en-GB" sz="1050" b="0" dirty="0">
                <a:solidFill>
                  <a:srgbClr val="64748B"/>
                </a:solidFill>
                <a:latin typeface="Calibri"/>
                <a:cs typeface="Calibri"/>
              </a:rPr>
              <a:t>Access model, people, notifications, design system, and the AI foundation: provider port, keys, metering, the agent runtime</a:t>
            </a:r>
          </a:p>
        </p:txBody>
      </p:sp>
      <p:sp>
        <p:nvSpPr>
          <p:cNvPr id="14" name="r14"/>
          <p:cNvSpPr/>
          <p:nvPr/>
        </p:nvSpPr>
        <p:spPr>
          <a:xfrm>
            <a:off x="711200" y="2654300"/>
            <a:ext cx="304800" cy="304800"/>
          </a:xfrm>
          <a:prstGeom prst="roundRect">
            <a:avLst>
              <a:gd name="adj" fmla="val 50000"/>
            </a:avLst>
          </a:prstGeom>
          <a:solidFill>
            <a:srgbClr val="4F46E5"/>
          </a:solidFill>
          <a:ln>
            <a:noFill/>
          </a:ln>
        </p:spPr>
        <p:txBody>
          <a:bodyPr/>
          <a:lstStyle/>
          <a:p>
            <a:endParaRPr lang="en-GB"/>
          </a:p>
        </p:txBody>
      </p:sp>
      <p:sp>
        <p:nvSpPr>
          <p:cNvPr id="15" name="t15"/>
          <p:cNvSpPr txBox="1"/>
          <p:nvPr/>
        </p:nvSpPr>
        <p:spPr>
          <a:xfrm>
            <a:off x="711200" y="2717800"/>
            <a:ext cx="3048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100" b="1" dirty="0">
                <a:solidFill>
                  <a:srgbClr val="FFFFFF"/>
                </a:solidFill>
                <a:latin typeface="Calibri"/>
                <a:cs typeface="Calibri"/>
              </a:rPr>
              <a:t>3</a:t>
            </a:r>
          </a:p>
        </p:txBody>
      </p:sp>
      <p:sp>
        <p:nvSpPr>
          <p:cNvPr id="16" name="t16"/>
          <p:cNvSpPr txBox="1"/>
          <p:nvPr/>
        </p:nvSpPr>
        <p:spPr>
          <a:xfrm>
            <a:off x="1168400" y="2654300"/>
            <a:ext cx="467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The OKR core</a:t>
            </a:r>
          </a:p>
        </p:txBody>
      </p:sp>
      <p:sp>
        <p:nvSpPr>
          <p:cNvPr id="17" name="t17"/>
          <p:cNvSpPr txBox="1"/>
          <p:nvPr/>
        </p:nvSpPr>
        <p:spPr>
          <a:xfrm>
            <a:off x="1168400" y="2908300"/>
            <a:ext cx="4673600" cy="457200"/>
          </a:xfrm>
          <a:prstGeom prst="rect">
            <a:avLst/>
          </a:prstGeom>
          <a:noFill/>
        </p:spPr>
        <p:txBody>
          <a:bodyPr wrap="square" lIns="0" tIns="0" rIns="0" bIns="0" anchor="t">
            <a:noAutofit/>
          </a:bodyPr>
          <a:lstStyle/>
          <a:p>
            <a:pPr algn="l">
              <a:lnSpc>
                <a:spcPct val="124000"/>
              </a:lnSpc>
              <a:spcBef>
                <a:spcPts val="0"/>
              </a:spcBef>
              <a:spcAft>
                <a:spcPts val="0"/>
              </a:spcAft>
            </a:pPr>
            <a:r>
              <a:rPr lang="en-GB" sz="1050" b="0" dirty="0">
                <a:solidFill>
                  <a:srgbClr val="64748B"/>
                </a:solidFill>
                <a:latin typeface="Calibri"/>
                <a:cs typeface="Calibri"/>
              </a:rPr>
              <a:t>Cycles and the guided workflow, goals and key results, scoring, cadence, check-ins, alignment, KPIs with recovery, the Work Map</a:t>
            </a:r>
          </a:p>
        </p:txBody>
      </p:sp>
      <p:sp>
        <p:nvSpPr>
          <p:cNvPr id="18" name="r18"/>
          <p:cNvSpPr/>
          <p:nvPr/>
        </p:nvSpPr>
        <p:spPr>
          <a:xfrm>
            <a:off x="6223000" y="2654300"/>
            <a:ext cx="304800" cy="304800"/>
          </a:xfrm>
          <a:prstGeom prst="roundRect">
            <a:avLst>
              <a:gd name="adj" fmla="val 50000"/>
            </a:avLst>
          </a:prstGeom>
          <a:solidFill>
            <a:srgbClr val="4F46E5"/>
          </a:solidFill>
          <a:ln>
            <a:noFill/>
          </a:ln>
        </p:spPr>
        <p:txBody>
          <a:bodyPr/>
          <a:lstStyle/>
          <a:p>
            <a:endParaRPr lang="en-GB"/>
          </a:p>
        </p:txBody>
      </p:sp>
      <p:sp>
        <p:nvSpPr>
          <p:cNvPr id="19" name="t19"/>
          <p:cNvSpPr txBox="1"/>
          <p:nvPr/>
        </p:nvSpPr>
        <p:spPr>
          <a:xfrm>
            <a:off x="6223000" y="2717800"/>
            <a:ext cx="3048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100" b="1" dirty="0">
                <a:solidFill>
                  <a:srgbClr val="FFFFFF"/>
                </a:solidFill>
                <a:latin typeface="Calibri"/>
                <a:cs typeface="Calibri"/>
              </a:rPr>
              <a:t>4</a:t>
            </a:r>
          </a:p>
        </p:txBody>
      </p:sp>
      <p:sp>
        <p:nvSpPr>
          <p:cNvPr id="20" name="t20"/>
          <p:cNvSpPr txBox="1"/>
          <p:nvPr/>
        </p:nvSpPr>
        <p:spPr>
          <a:xfrm>
            <a:off x="6680200" y="2654300"/>
            <a:ext cx="467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The coaching layer</a:t>
            </a:r>
          </a:p>
        </p:txBody>
      </p:sp>
      <p:sp>
        <p:nvSpPr>
          <p:cNvPr id="21" name="t21"/>
          <p:cNvSpPr txBox="1"/>
          <p:nvPr/>
        </p:nvSpPr>
        <p:spPr>
          <a:xfrm>
            <a:off x="6680200" y="2908300"/>
            <a:ext cx="4673600" cy="457200"/>
          </a:xfrm>
          <a:prstGeom prst="rect">
            <a:avLst/>
          </a:prstGeom>
          <a:noFill/>
        </p:spPr>
        <p:txBody>
          <a:bodyPr wrap="square" lIns="0" tIns="0" rIns="0" bIns="0" anchor="t">
            <a:noAutofit/>
          </a:bodyPr>
          <a:lstStyle/>
          <a:p>
            <a:pPr algn="l">
              <a:lnSpc>
                <a:spcPct val="124000"/>
              </a:lnSpc>
              <a:spcBef>
                <a:spcPts val="0"/>
              </a:spcBef>
              <a:spcAft>
                <a:spcPts val="0"/>
              </a:spcAft>
            </a:pPr>
            <a:r>
              <a:rPr lang="en-GB" sz="1050" b="0" dirty="0">
                <a:solidFill>
                  <a:srgbClr val="64748B"/>
                </a:solidFill>
                <a:latin typeface="Calibri"/>
                <a:cs typeface="Calibri"/>
              </a:rPr>
              <a:t>The method library, the Draft Coach, both agents, the trigger catalogue, the weekly and quarterly sessions, the copilot</a:t>
            </a:r>
          </a:p>
        </p:txBody>
      </p:sp>
      <p:sp>
        <p:nvSpPr>
          <p:cNvPr id="22" name="r22"/>
          <p:cNvSpPr/>
          <p:nvPr/>
        </p:nvSpPr>
        <p:spPr>
          <a:xfrm>
            <a:off x="711200" y="3441700"/>
            <a:ext cx="304800" cy="304800"/>
          </a:xfrm>
          <a:prstGeom prst="roundRect">
            <a:avLst>
              <a:gd name="adj" fmla="val 50000"/>
            </a:avLst>
          </a:prstGeom>
          <a:solidFill>
            <a:srgbClr val="C7D2FE"/>
          </a:solidFill>
          <a:ln>
            <a:noFill/>
          </a:ln>
        </p:spPr>
        <p:txBody>
          <a:bodyPr/>
          <a:lstStyle/>
          <a:p>
            <a:endParaRPr lang="en-GB"/>
          </a:p>
        </p:txBody>
      </p:sp>
      <p:sp>
        <p:nvSpPr>
          <p:cNvPr id="23" name="t23"/>
          <p:cNvSpPr txBox="1"/>
          <p:nvPr/>
        </p:nvSpPr>
        <p:spPr>
          <a:xfrm>
            <a:off x="711200" y="3505200"/>
            <a:ext cx="3048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100" b="1" dirty="0">
                <a:solidFill>
                  <a:srgbClr val="4338CA"/>
                </a:solidFill>
                <a:latin typeface="Calibri"/>
                <a:cs typeface="Calibri"/>
              </a:rPr>
              <a:t>5</a:t>
            </a:r>
          </a:p>
        </p:txBody>
      </p:sp>
      <p:sp>
        <p:nvSpPr>
          <p:cNvPr id="24" name="t24"/>
          <p:cNvSpPr txBox="1"/>
          <p:nvPr/>
        </p:nvSpPr>
        <p:spPr>
          <a:xfrm>
            <a:off x="1168400" y="3441700"/>
            <a:ext cx="467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Reach</a:t>
            </a:r>
          </a:p>
        </p:txBody>
      </p:sp>
      <p:sp>
        <p:nvSpPr>
          <p:cNvPr id="25" name="t25"/>
          <p:cNvSpPr txBox="1"/>
          <p:nvPr/>
        </p:nvSpPr>
        <p:spPr>
          <a:xfrm>
            <a:off x="1168400" y="3695700"/>
            <a:ext cx="4673600" cy="457200"/>
          </a:xfrm>
          <a:prstGeom prst="rect">
            <a:avLst/>
          </a:prstGeom>
          <a:noFill/>
        </p:spPr>
        <p:txBody>
          <a:bodyPr wrap="square" lIns="0" tIns="0" rIns="0" bIns="0" anchor="t">
            <a:noAutofit/>
          </a:bodyPr>
          <a:lstStyle/>
          <a:p>
            <a:pPr algn="l">
              <a:lnSpc>
                <a:spcPct val="124000"/>
              </a:lnSpc>
              <a:spcBef>
                <a:spcPts val="0"/>
              </a:spcBef>
              <a:spcAft>
                <a:spcPts val="0"/>
              </a:spcAft>
            </a:pPr>
            <a:r>
              <a:rPr lang="en-GB" sz="1050" b="0" dirty="0">
                <a:solidFill>
                  <a:srgbClr val="64748B"/>
                </a:solidFill>
                <a:latin typeface="Calibri"/>
                <a:cs typeface="Calibri"/>
              </a:rPr>
              <a:t>Slack, Teams, WhatsApp, Telegram, the external agent server, initiatives, tasks and the board, documents, search</a:t>
            </a:r>
          </a:p>
        </p:txBody>
      </p:sp>
      <p:sp>
        <p:nvSpPr>
          <p:cNvPr id="26" name="r26"/>
          <p:cNvSpPr/>
          <p:nvPr/>
        </p:nvSpPr>
        <p:spPr>
          <a:xfrm>
            <a:off x="6223000" y="3441700"/>
            <a:ext cx="304800" cy="304800"/>
          </a:xfrm>
          <a:prstGeom prst="roundRect">
            <a:avLst>
              <a:gd name="adj" fmla="val 50000"/>
            </a:avLst>
          </a:prstGeom>
          <a:solidFill>
            <a:srgbClr val="C7D2FE"/>
          </a:solidFill>
          <a:ln>
            <a:noFill/>
          </a:ln>
        </p:spPr>
        <p:txBody>
          <a:bodyPr/>
          <a:lstStyle/>
          <a:p>
            <a:endParaRPr lang="en-GB"/>
          </a:p>
        </p:txBody>
      </p:sp>
      <p:sp>
        <p:nvSpPr>
          <p:cNvPr id="27" name="t27"/>
          <p:cNvSpPr txBox="1"/>
          <p:nvPr/>
        </p:nvSpPr>
        <p:spPr>
          <a:xfrm>
            <a:off x="6223000" y="3505200"/>
            <a:ext cx="3048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100" b="1" dirty="0">
                <a:solidFill>
                  <a:srgbClr val="4338CA"/>
                </a:solidFill>
                <a:latin typeface="Calibri"/>
                <a:cs typeface="Calibri"/>
              </a:rPr>
              <a:t>6</a:t>
            </a:r>
          </a:p>
        </p:txBody>
      </p:sp>
      <p:sp>
        <p:nvSpPr>
          <p:cNvPr id="28" name="t28"/>
          <p:cNvSpPr txBox="1"/>
          <p:nvPr/>
        </p:nvSpPr>
        <p:spPr>
          <a:xfrm>
            <a:off x="6680200" y="3441700"/>
            <a:ext cx="467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Data</a:t>
            </a:r>
          </a:p>
        </p:txBody>
      </p:sp>
      <p:sp>
        <p:nvSpPr>
          <p:cNvPr id="29" name="t29"/>
          <p:cNvSpPr txBox="1"/>
          <p:nvPr/>
        </p:nvSpPr>
        <p:spPr>
          <a:xfrm>
            <a:off x="6680200" y="3695700"/>
            <a:ext cx="4673600" cy="457200"/>
          </a:xfrm>
          <a:prstGeom prst="rect">
            <a:avLst/>
          </a:prstGeom>
          <a:noFill/>
        </p:spPr>
        <p:txBody>
          <a:bodyPr wrap="square" lIns="0" tIns="0" rIns="0" bIns="0" anchor="t">
            <a:noAutofit/>
          </a:bodyPr>
          <a:lstStyle/>
          <a:p>
            <a:pPr algn="l">
              <a:lnSpc>
                <a:spcPct val="124000"/>
              </a:lnSpc>
              <a:spcBef>
                <a:spcPts val="0"/>
              </a:spcBef>
              <a:spcAft>
                <a:spcPts val="0"/>
              </a:spcAft>
            </a:pPr>
            <a:r>
              <a:rPr lang="en-GB" sz="1050" b="0" dirty="0">
                <a:solidFill>
                  <a:srgbClr val="64748B"/>
                </a:solidFill>
                <a:latin typeface="Calibri"/>
                <a:cs typeface="Calibri"/>
              </a:rPr>
              <a:t>The spreadsheet importer with the AI mapper, the FlowyTeam importer, workspace export and import, backups with restore drills</a:t>
            </a:r>
          </a:p>
        </p:txBody>
      </p:sp>
      <p:sp>
        <p:nvSpPr>
          <p:cNvPr id="30" name="r30"/>
          <p:cNvSpPr/>
          <p:nvPr/>
        </p:nvSpPr>
        <p:spPr>
          <a:xfrm>
            <a:off x="711200" y="4229100"/>
            <a:ext cx="304800" cy="304800"/>
          </a:xfrm>
          <a:prstGeom prst="roundRect">
            <a:avLst>
              <a:gd name="adj" fmla="val 50000"/>
            </a:avLst>
          </a:prstGeom>
          <a:solidFill>
            <a:srgbClr val="C7D2FE"/>
          </a:solidFill>
          <a:ln>
            <a:noFill/>
          </a:ln>
        </p:spPr>
        <p:txBody>
          <a:bodyPr/>
          <a:lstStyle/>
          <a:p>
            <a:endParaRPr lang="en-GB"/>
          </a:p>
        </p:txBody>
      </p:sp>
      <p:sp>
        <p:nvSpPr>
          <p:cNvPr id="31" name="t31"/>
          <p:cNvSpPr txBox="1"/>
          <p:nvPr/>
        </p:nvSpPr>
        <p:spPr>
          <a:xfrm>
            <a:off x="711200" y="4292600"/>
            <a:ext cx="3048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100" b="1" dirty="0">
                <a:solidFill>
                  <a:srgbClr val="4338CA"/>
                </a:solidFill>
                <a:latin typeface="Calibri"/>
                <a:cs typeface="Calibri"/>
              </a:rPr>
              <a:t>7</a:t>
            </a:r>
          </a:p>
        </p:txBody>
      </p:sp>
      <p:sp>
        <p:nvSpPr>
          <p:cNvPr id="32" name="t32"/>
          <p:cNvSpPr txBox="1"/>
          <p:nvPr/>
        </p:nvSpPr>
        <p:spPr>
          <a:xfrm>
            <a:off x="1168400" y="4229100"/>
            <a:ext cx="467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Hardening</a:t>
            </a:r>
          </a:p>
        </p:txBody>
      </p:sp>
      <p:sp>
        <p:nvSpPr>
          <p:cNvPr id="33" name="t33"/>
          <p:cNvSpPr txBox="1"/>
          <p:nvPr/>
        </p:nvSpPr>
        <p:spPr>
          <a:xfrm>
            <a:off x="1168400" y="4483100"/>
            <a:ext cx="4673600" cy="457200"/>
          </a:xfrm>
          <a:prstGeom prst="rect">
            <a:avLst/>
          </a:prstGeom>
          <a:noFill/>
        </p:spPr>
        <p:txBody>
          <a:bodyPr wrap="square" lIns="0" tIns="0" rIns="0" bIns="0" anchor="t">
            <a:noAutofit/>
          </a:bodyPr>
          <a:lstStyle/>
          <a:p>
            <a:pPr algn="l">
              <a:lnSpc>
                <a:spcPct val="124000"/>
              </a:lnSpc>
              <a:spcBef>
                <a:spcPts val="0"/>
              </a:spcBef>
              <a:spcAft>
                <a:spcPts val="0"/>
              </a:spcAft>
            </a:pPr>
            <a:r>
              <a:rPr lang="en-GB" sz="1050" b="0" dirty="0">
                <a:solidFill>
                  <a:srgbClr val="64748B"/>
                </a:solidFill>
                <a:latin typeface="Calibri"/>
                <a:cs typeface="Calibri"/>
              </a:rPr>
              <a:t>Performance at scale, load and soak testing, the security review, the accessibility audit, observability</a:t>
            </a:r>
          </a:p>
        </p:txBody>
      </p:sp>
      <p:sp>
        <p:nvSpPr>
          <p:cNvPr id="34" name="r34"/>
          <p:cNvSpPr/>
          <p:nvPr/>
        </p:nvSpPr>
        <p:spPr>
          <a:xfrm>
            <a:off x="6223000" y="4229100"/>
            <a:ext cx="304800" cy="304800"/>
          </a:xfrm>
          <a:prstGeom prst="roundRect">
            <a:avLst>
              <a:gd name="adj" fmla="val 50000"/>
            </a:avLst>
          </a:prstGeom>
          <a:solidFill>
            <a:srgbClr val="C7D2FE"/>
          </a:solidFill>
          <a:ln>
            <a:noFill/>
          </a:ln>
        </p:spPr>
        <p:txBody>
          <a:bodyPr/>
          <a:lstStyle/>
          <a:p>
            <a:endParaRPr lang="en-GB"/>
          </a:p>
        </p:txBody>
      </p:sp>
      <p:sp>
        <p:nvSpPr>
          <p:cNvPr id="35" name="t35"/>
          <p:cNvSpPr txBox="1"/>
          <p:nvPr/>
        </p:nvSpPr>
        <p:spPr>
          <a:xfrm>
            <a:off x="6223000" y="4292600"/>
            <a:ext cx="304800" cy="203200"/>
          </a:xfrm>
          <a:prstGeom prst="rect">
            <a:avLst/>
          </a:prstGeom>
          <a:noFill/>
        </p:spPr>
        <p:txBody>
          <a:bodyPr wrap="square" lIns="0" tIns="0" rIns="0" bIns="0" anchor="t">
            <a:noAutofit/>
          </a:bodyPr>
          <a:lstStyle/>
          <a:p>
            <a:pPr algn="ctr">
              <a:lnSpc>
                <a:spcPct val="116000"/>
              </a:lnSpc>
              <a:spcBef>
                <a:spcPts val="0"/>
              </a:spcBef>
              <a:spcAft>
                <a:spcPts val="0"/>
              </a:spcAft>
            </a:pPr>
            <a:r>
              <a:rPr lang="en-GB" sz="1100" b="1" dirty="0">
                <a:solidFill>
                  <a:srgbClr val="4338CA"/>
                </a:solidFill>
                <a:latin typeface="Calibri"/>
                <a:cs typeface="Calibri"/>
              </a:rPr>
              <a:t>8</a:t>
            </a:r>
          </a:p>
        </p:txBody>
      </p:sp>
      <p:sp>
        <p:nvSpPr>
          <p:cNvPr id="36" name="t36"/>
          <p:cNvSpPr txBox="1"/>
          <p:nvPr/>
        </p:nvSpPr>
        <p:spPr>
          <a:xfrm>
            <a:off x="6680200" y="4229100"/>
            <a:ext cx="4673600" cy="228600"/>
          </a:xfrm>
          <a:prstGeom prst="rect">
            <a:avLst/>
          </a:prstGeom>
          <a:noFill/>
        </p:spPr>
        <p:txBody>
          <a:bodyPr wrap="square" lIns="0" tIns="0" rIns="0" bIns="0" anchor="t">
            <a:noAutofit/>
          </a:bodyPr>
          <a:lstStyle/>
          <a:p>
            <a:pPr algn="l">
              <a:lnSpc>
                <a:spcPct val="116000"/>
              </a:lnSpc>
              <a:spcBef>
                <a:spcPts val="0"/>
              </a:spcBef>
              <a:spcAft>
                <a:spcPts val="0"/>
              </a:spcAft>
            </a:pPr>
            <a:r>
              <a:rPr lang="en-GB" sz="1300" b="1" dirty="0">
                <a:solidFill>
                  <a:srgbClr val="0F172A"/>
                </a:solidFill>
                <a:latin typeface="Calibri"/>
                <a:cs typeface="Calibri"/>
              </a:rPr>
              <a:t>Cloud and launch</a:t>
            </a:r>
          </a:p>
        </p:txBody>
      </p:sp>
      <p:sp>
        <p:nvSpPr>
          <p:cNvPr id="37" name="t37"/>
          <p:cNvSpPr txBox="1"/>
          <p:nvPr/>
        </p:nvSpPr>
        <p:spPr>
          <a:xfrm>
            <a:off x="6680200" y="4483100"/>
            <a:ext cx="4673600" cy="457200"/>
          </a:xfrm>
          <a:prstGeom prst="rect">
            <a:avLst/>
          </a:prstGeom>
          <a:noFill/>
        </p:spPr>
        <p:txBody>
          <a:bodyPr wrap="square" lIns="0" tIns="0" rIns="0" bIns="0" anchor="t">
            <a:noAutofit/>
          </a:bodyPr>
          <a:lstStyle/>
          <a:p>
            <a:pPr algn="l">
              <a:lnSpc>
                <a:spcPct val="124000"/>
              </a:lnSpc>
              <a:spcBef>
                <a:spcPts val="0"/>
              </a:spcBef>
              <a:spcAft>
                <a:spcPts val="0"/>
              </a:spcAft>
            </a:pPr>
            <a:r>
              <a:rPr lang="en-GB" sz="1050" b="0" dirty="0">
                <a:solidFill>
                  <a:srgbClr val="64748B"/>
                </a:solidFill>
                <a:latin typeface="Calibri"/>
                <a:cs typeface="Calibri"/>
              </a:rPr>
              <a:t>Tenant provisioning, the operator console, single sign-on and directory sync, the air-gap guide, documentation, launch</a:t>
            </a:r>
          </a:p>
        </p:txBody>
      </p:sp>
      <p:sp>
        <p:nvSpPr>
          <p:cNvPr id="38" name="t38"/>
          <p:cNvSpPr txBox="1"/>
          <p:nvPr/>
        </p:nvSpPr>
        <p:spPr>
          <a:xfrm>
            <a:off x="711200" y="5143500"/>
            <a:ext cx="10769600" cy="279400"/>
          </a:xfrm>
          <a:prstGeom prst="rect">
            <a:avLst/>
          </a:prstGeom>
          <a:noFill/>
        </p:spPr>
        <p:txBody>
          <a:bodyPr wrap="square" lIns="0" tIns="0" rIns="0" bIns="0" anchor="t">
            <a:noAutofit/>
          </a:bodyPr>
          <a:lstStyle/>
          <a:p>
            <a:pPr algn="l">
              <a:lnSpc>
                <a:spcPct val="126000"/>
              </a:lnSpc>
              <a:spcBef>
                <a:spcPts val="0"/>
              </a:spcBef>
              <a:spcAft>
                <a:spcPts val="0"/>
              </a:spcAft>
            </a:pPr>
            <a:r>
              <a:rPr lang="en-GB" sz="1250" b="0" dirty="0">
                <a:solidFill>
                  <a:srgbClr val="4338CA"/>
                </a:solidFill>
                <a:latin typeface="Calibri"/>
                <a:cs typeface="Calibri"/>
              </a:rPr>
              <a:t>The AI and agent foundation lands in phase two so the coaching layer ships in phase four, beside the OKR core. </a:t>
            </a:r>
            <a:r>
              <a:rPr lang="en-GB" sz="1250" b="1" dirty="0">
                <a:solidFill>
                  <a:srgbClr val="4338CA"/>
                </a:solidFill>
                <a:latin typeface="Calibri"/>
                <a:cs typeface="Calibri"/>
              </a:rPr>
              <a:t>An OKR tool where the coach arrives last is just another tracker.</a:t>
            </a:r>
          </a:p>
        </p:txBody>
      </p:sp>
      <p:sp>
        <p:nvSpPr>
          <p:cNvPr id="39" name="r39"/>
          <p:cNvSpPr/>
          <p:nvPr/>
        </p:nvSpPr>
        <p:spPr>
          <a:xfrm>
            <a:off x="711200" y="6375400"/>
            <a:ext cx="10769600" cy="9525"/>
          </a:xfrm>
          <a:prstGeom prst="rect">
            <a:avLst/>
          </a:prstGeom>
          <a:solidFill>
            <a:srgbClr val="E2E8F0"/>
          </a:solidFill>
          <a:ln>
            <a:noFill/>
          </a:ln>
        </p:spPr>
        <p:txBody>
          <a:bodyPr/>
          <a:lstStyle/>
          <a:p>
            <a:endParaRPr lang="en-GB"/>
          </a:p>
        </p:txBody>
      </p:sp>
      <p:sp>
        <p:nvSpPr>
          <p:cNvPr id="40" name="t40"/>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BUSINESS</a:t>
            </a:r>
          </a:p>
        </p:txBody>
      </p:sp>
      <p:sp>
        <p:nvSpPr>
          <p:cNvPr id="41" name="t41"/>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FFFFF"/>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STATUS</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The risk we are managing, openly</a:t>
            </a:r>
          </a:p>
        </p:txBody>
      </p:sp>
      <p:sp>
        <p:nvSpPr>
          <p:cNvPr id="5" name="r5"/>
          <p:cNvSpPr/>
          <p:nvPr/>
        </p:nvSpPr>
        <p:spPr>
          <a:xfrm>
            <a:off x="711200" y="1485900"/>
            <a:ext cx="10769600" cy="1473200"/>
          </a:xfrm>
          <a:prstGeom prst="roundRect">
            <a:avLst>
              <a:gd name="adj" fmla="val 6896"/>
            </a:avLst>
          </a:prstGeom>
          <a:solidFill>
            <a:srgbClr val="FEE2E2"/>
          </a:solidFill>
          <a:ln w="12700">
            <a:solidFill>
              <a:srgbClr val="FCA5A5"/>
            </a:solidFill>
          </a:ln>
        </p:spPr>
        <p:txBody>
          <a:bodyPr/>
          <a:lstStyle/>
          <a:p>
            <a:endParaRPr lang="en-GB"/>
          </a:p>
        </p:txBody>
      </p:sp>
      <p:sp>
        <p:nvSpPr>
          <p:cNvPr id="6" name="t6"/>
          <p:cNvSpPr txBox="1"/>
          <p:nvPr/>
        </p:nvSpPr>
        <p:spPr>
          <a:xfrm>
            <a:off x="1041400" y="1790700"/>
            <a:ext cx="10109200" cy="939800"/>
          </a:xfrm>
          <a:prstGeom prst="rect">
            <a:avLst/>
          </a:prstGeom>
          <a:noFill/>
        </p:spPr>
        <p:txBody>
          <a:bodyPr wrap="square" lIns="0" tIns="0" rIns="0" bIns="0" anchor="t">
            <a:noAutofit/>
          </a:bodyPr>
          <a:lstStyle/>
          <a:p>
            <a:pPr algn="l">
              <a:lnSpc>
                <a:spcPct val="126000"/>
              </a:lnSpc>
              <a:spcBef>
                <a:spcPts val="0"/>
              </a:spcBef>
              <a:spcAft>
                <a:spcPts val="0"/>
              </a:spcAft>
            </a:pPr>
            <a:r>
              <a:rPr lang="en-GB" sz="1800" b="1" dirty="0">
                <a:solidFill>
                  <a:srgbClr val="B91C1C"/>
                </a:solidFill>
                <a:latin typeface="Calibri Light"/>
                <a:cs typeface="Calibri Light"/>
              </a:rPr>
              <a:t>A coaching engine that produces false positives is worse than no coaching at all, because people learn to dismiss it.</a:t>
            </a:r>
          </a:p>
        </p:txBody>
      </p:sp>
      <p:sp>
        <p:nvSpPr>
          <p:cNvPr id="7" name="t7"/>
          <p:cNvSpPr txBox="1"/>
          <p:nvPr/>
        </p:nvSpPr>
        <p:spPr>
          <a:xfrm>
            <a:off x="711200" y="3289300"/>
            <a:ext cx="52578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0F172A"/>
                </a:solidFill>
                <a:latin typeface="Calibri"/>
                <a:cs typeface="Calibri"/>
              </a:rPr>
              <a:t>What we are doing about it</a:t>
            </a:r>
          </a:p>
        </p:txBody>
      </p:sp>
      <p:sp>
        <p:nvSpPr>
          <p:cNvPr id="8" name="t8"/>
          <p:cNvSpPr txBox="1"/>
          <p:nvPr/>
        </p:nvSpPr>
        <p:spPr>
          <a:xfrm>
            <a:off x="711200" y="3619500"/>
            <a:ext cx="5257800" cy="1397000"/>
          </a:xfrm>
          <a:prstGeom prst="rect">
            <a:avLst/>
          </a:prstGeom>
          <a:noFill/>
        </p:spPr>
        <p:txBody>
          <a:bodyPr wrap="square" lIns="0" tIns="0" rIns="0" bIns="0" anchor="t">
            <a:noAutofit/>
          </a:bodyPr>
          <a:lstStyle/>
          <a:p>
            <a:pPr algn="l">
              <a:lnSpc>
                <a:spcPct val="130000"/>
              </a:lnSpc>
              <a:spcBef>
                <a:spcPts val="0"/>
              </a:spcBef>
              <a:spcAft>
                <a:spcPts val="0"/>
              </a:spcAft>
            </a:pPr>
            <a:r>
              <a:rPr lang="en-GB" sz="1250" b="0" dirty="0">
                <a:solidFill>
                  <a:srgbClr val="334155"/>
                </a:solidFill>
                <a:latin typeface="Calibri"/>
                <a:cs typeface="Calibri"/>
              </a:rPr>
              <a:t>The warn-versus-fail line on every check will be tuned against a corpus of real, anonymised OKRs before launch. Assembling that corpus is a named deliverable of the coaching phase design gate, not an afterthought.</a:t>
            </a:r>
          </a:p>
        </p:txBody>
      </p:sp>
      <p:sp>
        <p:nvSpPr>
          <p:cNvPr id="9" name="r9"/>
          <p:cNvSpPr/>
          <p:nvPr/>
        </p:nvSpPr>
        <p:spPr>
          <a:xfrm>
            <a:off x="6223000" y="3136900"/>
            <a:ext cx="5257800" cy="1778000"/>
          </a:xfrm>
          <a:prstGeom prst="roundRect">
            <a:avLst>
              <a:gd name="adj" fmla="val 5714"/>
            </a:avLst>
          </a:prstGeom>
          <a:solidFill>
            <a:srgbClr val="EEF2FF"/>
          </a:solidFill>
          <a:ln w="12700">
            <a:solidFill>
              <a:srgbClr val="C7D2FE"/>
            </a:solidFill>
          </a:ln>
        </p:spPr>
        <p:txBody>
          <a:bodyPr/>
          <a:lstStyle/>
          <a:p>
            <a:endParaRPr lang="en-GB"/>
          </a:p>
        </p:txBody>
      </p:sp>
      <p:sp>
        <p:nvSpPr>
          <p:cNvPr id="10" name="t10"/>
          <p:cNvSpPr txBox="1"/>
          <p:nvPr/>
        </p:nvSpPr>
        <p:spPr>
          <a:xfrm>
            <a:off x="6502400" y="3390900"/>
            <a:ext cx="4699000" cy="254000"/>
          </a:xfrm>
          <a:prstGeom prst="rect">
            <a:avLst/>
          </a:prstGeom>
          <a:noFill/>
        </p:spPr>
        <p:txBody>
          <a:bodyPr wrap="square" lIns="0" tIns="0" rIns="0" bIns="0" anchor="t">
            <a:noAutofit/>
          </a:bodyPr>
          <a:lstStyle/>
          <a:p>
            <a:pPr algn="l">
              <a:lnSpc>
                <a:spcPct val="116000"/>
              </a:lnSpc>
              <a:spcBef>
                <a:spcPts val="0"/>
              </a:spcBef>
              <a:spcAft>
                <a:spcPts val="0"/>
              </a:spcAft>
            </a:pPr>
            <a:r>
              <a:rPr lang="en-GB" sz="1400" b="1" dirty="0">
                <a:solidFill>
                  <a:srgbClr val="4338CA"/>
                </a:solidFill>
                <a:latin typeface="Calibri"/>
                <a:cs typeface="Calibri"/>
              </a:rPr>
              <a:t>Where a partner adds the most value</a:t>
            </a:r>
          </a:p>
        </p:txBody>
      </p:sp>
      <p:sp>
        <p:nvSpPr>
          <p:cNvPr id="11" name="t11"/>
          <p:cNvSpPr txBox="1"/>
          <p:nvPr/>
        </p:nvSpPr>
        <p:spPr>
          <a:xfrm>
            <a:off x="6502400" y="3721100"/>
            <a:ext cx="4699000" cy="1143000"/>
          </a:xfrm>
          <a:prstGeom prst="rect">
            <a:avLst/>
          </a:prstGeom>
          <a:noFill/>
        </p:spPr>
        <p:txBody>
          <a:bodyPr wrap="square" lIns="0" tIns="0" rIns="0" bIns="0" anchor="t">
            <a:noAutofit/>
          </a:bodyPr>
          <a:lstStyle/>
          <a:p>
            <a:pPr algn="l">
              <a:lnSpc>
                <a:spcPct val="130000"/>
              </a:lnSpc>
              <a:spcBef>
                <a:spcPts val="0"/>
              </a:spcBef>
              <a:spcAft>
                <a:spcPts val="0"/>
              </a:spcAft>
            </a:pPr>
            <a:r>
              <a:rPr lang="en-GB" sz="1250" b="0" dirty="0">
                <a:solidFill>
                  <a:srgbClr val="4338CA"/>
                </a:solidFill>
                <a:latin typeface="Calibri"/>
                <a:cs typeface="Calibri"/>
              </a:rPr>
              <a:t>This is the single place where methodology expertise changes the product most. A partner who can challenge a threshold, or contribute real OKRs to tune against, moves the quality of every coaching message in the product.</a:t>
            </a:r>
          </a:p>
        </p:txBody>
      </p:sp>
      <p:sp>
        <p:nvSpPr>
          <p:cNvPr id="12" name="r12"/>
          <p:cNvSpPr/>
          <p:nvPr/>
        </p:nvSpPr>
        <p:spPr>
          <a:xfrm>
            <a:off x="711200" y="6375400"/>
            <a:ext cx="10769600" cy="9525"/>
          </a:xfrm>
          <a:prstGeom prst="rect">
            <a:avLst/>
          </a:prstGeom>
          <a:solidFill>
            <a:srgbClr val="E2E8F0"/>
          </a:solidFill>
          <a:ln>
            <a:noFill/>
          </a:ln>
        </p:spPr>
        <p:txBody>
          <a:bodyPr/>
          <a:lstStyle/>
          <a:p>
            <a:endParaRPr lang="en-GB"/>
          </a:p>
        </p:txBody>
      </p:sp>
      <p:sp>
        <p:nvSpPr>
          <p:cNvPr id="13" name="t13"/>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BUSINESS</a:t>
            </a:r>
          </a:p>
        </p:txBody>
      </p:sp>
      <p:sp>
        <p:nvSpPr>
          <p:cNvPr id="14" name="t14"/>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F8FAFC"/>
          </a:solidFill>
          <a:ln>
            <a:noFill/>
          </a:ln>
        </p:spPr>
        <p:txBody>
          <a:bodyPr/>
          <a:lstStyle/>
          <a:p>
            <a:endParaRPr lang="en-GB"/>
          </a:p>
        </p:txBody>
      </p:sp>
      <p:sp>
        <p:nvSpPr>
          <p:cNvPr id="3" name="t3"/>
          <p:cNvSpPr txBox="1"/>
          <p:nvPr/>
        </p:nvSpPr>
        <p:spPr>
          <a:xfrm>
            <a:off x="711200" y="558800"/>
            <a:ext cx="10769600"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900" b="1" dirty="0" spc="120">
                <a:solidFill>
                  <a:srgbClr val="4338CA"/>
                </a:solidFill>
                <a:latin typeface="Calibri"/>
                <a:cs typeface="Calibri"/>
              </a:rPr>
              <a:t>WORKING WITH US</a:t>
            </a:r>
          </a:p>
        </p:txBody>
      </p:sp>
      <p:sp>
        <p:nvSpPr>
          <p:cNvPr id="4" name="t4"/>
          <p:cNvSpPr txBox="1"/>
          <p:nvPr/>
        </p:nvSpPr>
        <p:spPr>
          <a:xfrm>
            <a:off x="711200" y="774700"/>
            <a:ext cx="10769600" cy="457200"/>
          </a:xfrm>
          <a:prstGeom prst="rect">
            <a:avLst/>
          </a:prstGeom>
          <a:noFill/>
        </p:spPr>
        <p:txBody>
          <a:bodyPr wrap="square" lIns="0" tIns="0" rIns="0" bIns="0" anchor="t">
            <a:noAutofit/>
          </a:bodyPr>
          <a:lstStyle/>
          <a:p>
            <a:pPr algn="l">
              <a:lnSpc>
                <a:spcPct val="116000"/>
              </a:lnSpc>
              <a:spcBef>
                <a:spcPts val="0"/>
              </a:spcBef>
              <a:spcAft>
                <a:spcPts val="0"/>
              </a:spcAft>
            </a:pPr>
            <a:r>
              <a:rPr lang="en-GB" sz="2900" b="1" dirty="0">
                <a:solidFill>
                  <a:srgbClr val="1E1B4B"/>
                </a:solidFill>
                <a:latin typeface="Calibri Light"/>
                <a:cs typeface="Calibri Light"/>
              </a:rPr>
              <a:t>Three different conversations</a:t>
            </a:r>
          </a:p>
        </p:txBody>
      </p:sp>
      <p:sp>
        <p:nvSpPr>
          <p:cNvPr id="5" name="r5"/>
          <p:cNvSpPr/>
          <p:nvPr/>
        </p:nvSpPr>
        <p:spPr>
          <a:xfrm>
            <a:off x="711200" y="1485900"/>
            <a:ext cx="3437467" cy="3403600"/>
          </a:xfrm>
          <a:prstGeom prst="roundRect">
            <a:avLst>
              <a:gd name="adj" fmla="val 2985"/>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6" name="r6"/>
          <p:cNvSpPr/>
          <p:nvPr/>
        </p:nvSpPr>
        <p:spPr>
          <a:xfrm>
            <a:off x="711200" y="1485900"/>
            <a:ext cx="3437467" cy="44450"/>
          </a:xfrm>
          <a:prstGeom prst="rect">
            <a:avLst/>
          </a:prstGeom>
          <a:solidFill>
            <a:srgbClr val="4F46E5"/>
          </a:solidFill>
          <a:ln>
            <a:noFill/>
          </a:ln>
        </p:spPr>
        <p:txBody>
          <a:bodyPr/>
          <a:lstStyle/>
          <a:p>
            <a:endParaRPr lang="en-GB"/>
          </a:p>
        </p:txBody>
      </p:sp>
      <p:sp>
        <p:nvSpPr>
          <p:cNvPr id="7" name="t7"/>
          <p:cNvSpPr txBox="1"/>
          <p:nvPr/>
        </p:nvSpPr>
        <p:spPr>
          <a:xfrm>
            <a:off x="965200" y="1765300"/>
            <a:ext cx="2929467"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500" b="1" dirty="0">
                <a:solidFill>
                  <a:srgbClr val="0F172A"/>
                </a:solidFill>
                <a:latin typeface="Calibri"/>
                <a:cs typeface="Calibri"/>
              </a:rPr>
              <a:t>A methodology institute</a:t>
            </a:r>
          </a:p>
        </p:txBody>
      </p:sp>
      <p:sp>
        <p:nvSpPr>
          <p:cNvPr id="8" name="t8"/>
          <p:cNvSpPr txBox="1"/>
          <p:nvPr/>
        </p:nvSpPr>
        <p:spPr>
          <a:xfrm>
            <a:off x="965200" y="2197100"/>
            <a:ext cx="2929467"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4F46E5"/>
                </a:solidFill>
                <a:latin typeface="Calibri"/>
                <a:cs typeface="Calibri"/>
              </a:rPr>
              <a:t>WHAT WE ASK</a:t>
            </a:r>
          </a:p>
        </p:txBody>
      </p:sp>
      <p:sp>
        <p:nvSpPr>
          <p:cNvPr id="9" name="t9"/>
          <p:cNvSpPr txBox="1"/>
          <p:nvPr/>
        </p:nvSpPr>
        <p:spPr>
          <a:xfrm>
            <a:off x="965200" y="2451100"/>
            <a:ext cx="2929467" cy="9652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334155"/>
                </a:solidFill>
                <a:latin typeface="Calibri"/>
                <a:cs typeface="Calibri"/>
              </a:rPr>
              <a:t>Review the method specification, and challenge any rule, threshold, band or agenda you think is wrong. Help us assemble the tuning corpus.</a:t>
            </a:r>
          </a:p>
        </p:txBody>
      </p:sp>
      <p:sp>
        <p:nvSpPr>
          <p:cNvPr id="10" name="r10"/>
          <p:cNvSpPr/>
          <p:nvPr/>
        </p:nvSpPr>
        <p:spPr>
          <a:xfrm>
            <a:off x="965200" y="3594100"/>
            <a:ext cx="2929467" cy="9525"/>
          </a:xfrm>
          <a:prstGeom prst="rect">
            <a:avLst/>
          </a:prstGeom>
          <a:solidFill>
            <a:srgbClr val="E2E8F0"/>
          </a:solidFill>
          <a:ln>
            <a:noFill/>
          </a:ln>
        </p:spPr>
        <p:txBody>
          <a:bodyPr/>
          <a:lstStyle/>
          <a:p>
            <a:endParaRPr lang="en-GB"/>
          </a:p>
        </p:txBody>
      </p:sp>
      <p:sp>
        <p:nvSpPr>
          <p:cNvPr id="11" name="t11"/>
          <p:cNvSpPr txBox="1"/>
          <p:nvPr/>
        </p:nvSpPr>
        <p:spPr>
          <a:xfrm>
            <a:off x="965200" y="3771900"/>
            <a:ext cx="2929467"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WHAT YOU GET</a:t>
            </a:r>
          </a:p>
        </p:txBody>
      </p:sp>
      <p:sp>
        <p:nvSpPr>
          <p:cNvPr id="12" name="t12"/>
          <p:cNvSpPr txBox="1"/>
          <p:nvPr/>
        </p:nvSpPr>
        <p:spPr>
          <a:xfrm>
            <a:off x="965200" y="4025900"/>
            <a:ext cx="2929467" cy="10160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64748B"/>
                </a:solidFill>
                <a:latin typeface="Calibri"/>
                <a:cs typeface="Calibri"/>
              </a:rPr>
              <a:t>Your practice becomes enforceable software that keeps working after the engagement ends, with every rule attributable, versioned and arguable.</a:t>
            </a:r>
          </a:p>
        </p:txBody>
      </p:sp>
      <p:sp>
        <p:nvSpPr>
          <p:cNvPr id="13" name="r13"/>
          <p:cNvSpPr/>
          <p:nvPr/>
        </p:nvSpPr>
        <p:spPr>
          <a:xfrm>
            <a:off x="4377267" y="1485900"/>
            <a:ext cx="3437467" cy="3403600"/>
          </a:xfrm>
          <a:prstGeom prst="roundRect">
            <a:avLst>
              <a:gd name="adj" fmla="val 2985"/>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14" name="r14"/>
          <p:cNvSpPr/>
          <p:nvPr/>
        </p:nvSpPr>
        <p:spPr>
          <a:xfrm>
            <a:off x="4377267" y="1485900"/>
            <a:ext cx="3437467" cy="44450"/>
          </a:xfrm>
          <a:prstGeom prst="rect">
            <a:avLst/>
          </a:prstGeom>
          <a:solidFill>
            <a:srgbClr val="7C3AED"/>
          </a:solidFill>
          <a:ln>
            <a:noFill/>
          </a:ln>
        </p:spPr>
        <p:txBody>
          <a:bodyPr/>
          <a:lstStyle/>
          <a:p>
            <a:endParaRPr lang="en-GB"/>
          </a:p>
        </p:txBody>
      </p:sp>
      <p:sp>
        <p:nvSpPr>
          <p:cNvPr id="15" name="t15"/>
          <p:cNvSpPr txBox="1"/>
          <p:nvPr/>
        </p:nvSpPr>
        <p:spPr>
          <a:xfrm>
            <a:off x="4631267" y="1765300"/>
            <a:ext cx="2929467"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500" b="1" dirty="0">
                <a:solidFill>
                  <a:srgbClr val="0F172A"/>
                </a:solidFill>
                <a:latin typeface="Calibri"/>
                <a:cs typeface="Calibri"/>
              </a:rPr>
              <a:t>An investor</a:t>
            </a:r>
          </a:p>
        </p:txBody>
      </p:sp>
      <p:sp>
        <p:nvSpPr>
          <p:cNvPr id="16" name="t16"/>
          <p:cNvSpPr txBox="1"/>
          <p:nvPr/>
        </p:nvSpPr>
        <p:spPr>
          <a:xfrm>
            <a:off x="4631267" y="2197100"/>
            <a:ext cx="2929467"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7C3AED"/>
                </a:solidFill>
                <a:latin typeface="Calibri"/>
                <a:cs typeface="Calibri"/>
              </a:rPr>
              <a:t>WHAT WE ASK</a:t>
            </a:r>
          </a:p>
        </p:txBody>
      </p:sp>
      <p:sp>
        <p:nvSpPr>
          <p:cNvPr id="17" name="t17"/>
          <p:cNvSpPr txBox="1"/>
          <p:nvPr/>
        </p:nvSpPr>
        <p:spPr>
          <a:xfrm>
            <a:off x="4631267" y="2451100"/>
            <a:ext cx="2929467" cy="9652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334155"/>
                </a:solidFill>
                <a:latin typeface="Calibri"/>
                <a:cs typeface="Calibri"/>
              </a:rPr>
              <a:t>A conversation about the category, the open source route to market, and the plan to first revenue.</a:t>
            </a:r>
          </a:p>
        </p:txBody>
      </p:sp>
      <p:sp>
        <p:nvSpPr>
          <p:cNvPr id="18" name="r18"/>
          <p:cNvSpPr/>
          <p:nvPr/>
        </p:nvSpPr>
        <p:spPr>
          <a:xfrm>
            <a:off x="4631267" y="3594100"/>
            <a:ext cx="2929467" cy="9525"/>
          </a:xfrm>
          <a:prstGeom prst="rect">
            <a:avLst/>
          </a:prstGeom>
          <a:solidFill>
            <a:srgbClr val="E2E8F0"/>
          </a:solidFill>
          <a:ln>
            <a:noFill/>
          </a:ln>
        </p:spPr>
        <p:txBody>
          <a:bodyPr/>
          <a:lstStyle/>
          <a:p>
            <a:endParaRPr lang="en-GB"/>
          </a:p>
        </p:txBody>
      </p:sp>
      <p:sp>
        <p:nvSpPr>
          <p:cNvPr id="19" name="t19"/>
          <p:cNvSpPr txBox="1"/>
          <p:nvPr/>
        </p:nvSpPr>
        <p:spPr>
          <a:xfrm>
            <a:off x="4631267" y="3771900"/>
            <a:ext cx="2929467"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WHAT YOU GET</a:t>
            </a:r>
          </a:p>
        </p:txBody>
      </p:sp>
      <p:sp>
        <p:nvSpPr>
          <p:cNvPr id="20" name="t20"/>
          <p:cNvSpPr txBox="1"/>
          <p:nvPr/>
        </p:nvSpPr>
        <p:spPr>
          <a:xfrm>
            <a:off x="4631267" y="4025900"/>
            <a:ext cx="2929467" cy="10160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64748B"/>
                </a:solidFill>
                <a:latin typeface="Calibri"/>
                <a:cs typeface="Calibri"/>
              </a:rPr>
              <a:t>A fully specified product with an unusually defensible core, in a market currently served by passive databases.</a:t>
            </a:r>
          </a:p>
        </p:txBody>
      </p:sp>
      <p:sp>
        <p:nvSpPr>
          <p:cNvPr id="21" name="r21"/>
          <p:cNvSpPr/>
          <p:nvPr/>
        </p:nvSpPr>
        <p:spPr>
          <a:xfrm>
            <a:off x="8043333" y="1485900"/>
            <a:ext cx="3437467" cy="3403600"/>
          </a:xfrm>
          <a:prstGeom prst="roundRect">
            <a:avLst>
              <a:gd name="adj" fmla="val 2985"/>
            </a:avLst>
          </a:prstGeom>
          <a:solidFill>
            <a:srgbClr val="FFFFFF"/>
          </a:solidFill>
          <a:ln w="12700">
            <a:solidFill>
              <a:srgbClr val="E2E8F0"/>
            </a:solidFill>
          </a:ln>
          <a:effectLst>
            <a:outerShdw blurRad="140000" dist="30000" dir="5400000" rotWithShape="0">
              <a:srgbClr val="0F172A">
                <a:alpha val="13000"/>
              </a:srgbClr>
            </a:outerShdw>
          </a:effectLst>
        </p:spPr>
        <p:txBody>
          <a:bodyPr/>
          <a:lstStyle/>
          <a:p>
            <a:endParaRPr lang="en-GB"/>
          </a:p>
        </p:txBody>
      </p:sp>
      <p:sp>
        <p:nvSpPr>
          <p:cNvPr id="22" name="r22"/>
          <p:cNvSpPr/>
          <p:nvPr/>
        </p:nvSpPr>
        <p:spPr>
          <a:xfrm>
            <a:off x="8043333" y="1485900"/>
            <a:ext cx="3437467" cy="44450"/>
          </a:xfrm>
          <a:prstGeom prst="rect">
            <a:avLst/>
          </a:prstGeom>
          <a:solidFill>
            <a:srgbClr val="0EA5E9"/>
          </a:solidFill>
          <a:ln>
            <a:noFill/>
          </a:ln>
        </p:spPr>
        <p:txBody>
          <a:bodyPr/>
          <a:lstStyle/>
          <a:p>
            <a:endParaRPr lang="en-GB"/>
          </a:p>
        </p:txBody>
      </p:sp>
      <p:sp>
        <p:nvSpPr>
          <p:cNvPr id="23" name="t23"/>
          <p:cNvSpPr txBox="1"/>
          <p:nvPr/>
        </p:nvSpPr>
        <p:spPr>
          <a:xfrm>
            <a:off x="8297333" y="1765300"/>
            <a:ext cx="2929467" cy="279400"/>
          </a:xfrm>
          <a:prstGeom prst="rect">
            <a:avLst/>
          </a:prstGeom>
          <a:noFill/>
        </p:spPr>
        <p:txBody>
          <a:bodyPr wrap="square" lIns="0" tIns="0" rIns="0" bIns="0" anchor="t">
            <a:noAutofit/>
          </a:bodyPr>
          <a:lstStyle/>
          <a:p>
            <a:pPr algn="l">
              <a:lnSpc>
                <a:spcPct val="116000"/>
              </a:lnSpc>
              <a:spcBef>
                <a:spcPts val="0"/>
              </a:spcBef>
              <a:spcAft>
                <a:spcPts val="0"/>
              </a:spcAft>
            </a:pPr>
            <a:r>
              <a:rPr lang="en-GB" sz="1500" b="1" dirty="0">
                <a:solidFill>
                  <a:srgbClr val="0F172A"/>
                </a:solidFill>
                <a:latin typeface="Calibri"/>
                <a:cs typeface="Calibri"/>
              </a:rPr>
              <a:t>An early customer</a:t>
            </a:r>
          </a:p>
        </p:txBody>
      </p:sp>
      <p:sp>
        <p:nvSpPr>
          <p:cNvPr id="24" name="t24"/>
          <p:cNvSpPr txBox="1"/>
          <p:nvPr/>
        </p:nvSpPr>
        <p:spPr>
          <a:xfrm>
            <a:off x="8297333" y="2197100"/>
            <a:ext cx="2929467"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0EA5E9"/>
                </a:solidFill>
                <a:latin typeface="Calibri"/>
                <a:cs typeface="Calibri"/>
              </a:rPr>
              <a:t>WHAT WE ASK</a:t>
            </a:r>
          </a:p>
        </p:txBody>
      </p:sp>
      <p:sp>
        <p:nvSpPr>
          <p:cNvPr id="25" name="t25"/>
          <p:cNvSpPr txBox="1"/>
          <p:nvPr/>
        </p:nvSpPr>
        <p:spPr>
          <a:xfrm>
            <a:off x="8297333" y="2451100"/>
            <a:ext cx="2929467" cy="9652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334155"/>
                </a:solidFill>
                <a:latin typeface="Calibri"/>
                <a:cs typeface="Calibri"/>
              </a:rPr>
              <a:t>Run a real quarter on it, with us, and tell us where the coaching is wrong.</a:t>
            </a:r>
          </a:p>
        </p:txBody>
      </p:sp>
      <p:sp>
        <p:nvSpPr>
          <p:cNvPr id="26" name="r26"/>
          <p:cNvSpPr/>
          <p:nvPr/>
        </p:nvSpPr>
        <p:spPr>
          <a:xfrm>
            <a:off x="8297333" y="3594100"/>
            <a:ext cx="2929467" cy="9525"/>
          </a:xfrm>
          <a:prstGeom prst="rect">
            <a:avLst/>
          </a:prstGeom>
          <a:solidFill>
            <a:srgbClr val="E2E8F0"/>
          </a:solidFill>
          <a:ln>
            <a:noFill/>
          </a:ln>
        </p:spPr>
        <p:txBody>
          <a:bodyPr/>
          <a:lstStyle/>
          <a:p>
            <a:endParaRPr lang="en-GB"/>
          </a:p>
        </p:txBody>
      </p:sp>
      <p:sp>
        <p:nvSpPr>
          <p:cNvPr id="27" name="t27"/>
          <p:cNvSpPr txBox="1"/>
          <p:nvPr/>
        </p:nvSpPr>
        <p:spPr>
          <a:xfrm>
            <a:off x="8297333" y="3771900"/>
            <a:ext cx="2929467" cy="1778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WHAT YOU GET</a:t>
            </a:r>
          </a:p>
        </p:txBody>
      </p:sp>
      <p:sp>
        <p:nvSpPr>
          <p:cNvPr id="28" name="t28"/>
          <p:cNvSpPr txBox="1"/>
          <p:nvPr/>
        </p:nvSpPr>
        <p:spPr>
          <a:xfrm>
            <a:off x="8297333" y="4025900"/>
            <a:ext cx="2929467" cy="1016000"/>
          </a:xfrm>
          <a:prstGeom prst="rect">
            <a:avLst/>
          </a:prstGeom>
          <a:noFill/>
        </p:spPr>
        <p:txBody>
          <a:bodyPr wrap="square" lIns="0" tIns="0" rIns="0" bIns="0" anchor="t">
            <a:noAutofit/>
          </a:bodyPr>
          <a:lstStyle/>
          <a:p>
            <a:pPr algn="l">
              <a:lnSpc>
                <a:spcPct val="128000"/>
              </a:lnSpc>
              <a:spcBef>
                <a:spcPts val="0"/>
              </a:spcBef>
              <a:spcAft>
                <a:spcPts val="0"/>
              </a:spcAft>
            </a:pPr>
            <a:r>
              <a:rPr lang="en-GB" sz="1150" b="0" dirty="0">
                <a:solidFill>
                  <a:srgbClr val="64748B"/>
                </a:solidFill>
                <a:latin typeface="Calibri"/>
                <a:cs typeface="Calibri"/>
              </a:rPr>
              <a:t>Free use for the pilot, direct influence on the rules and the roadmap, and no lock-in of any kind because the whole workspace exports at any time.</a:t>
            </a:r>
          </a:p>
        </p:txBody>
      </p:sp>
      <p:sp>
        <p:nvSpPr>
          <p:cNvPr id="29" name="r29"/>
          <p:cNvSpPr/>
          <p:nvPr/>
        </p:nvSpPr>
        <p:spPr>
          <a:xfrm>
            <a:off x="711200" y="6375400"/>
            <a:ext cx="10769600" cy="9525"/>
          </a:xfrm>
          <a:prstGeom prst="rect">
            <a:avLst/>
          </a:prstGeom>
          <a:solidFill>
            <a:srgbClr val="E2E8F0"/>
          </a:solidFill>
          <a:ln>
            <a:noFill/>
          </a:ln>
        </p:spPr>
        <p:txBody>
          <a:bodyPr/>
          <a:lstStyle/>
          <a:p>
            <a:endParaRPr lang="en-GB"/>
          </a:p>
        </p:txBody>
      </p:sp>
      <p:sp>
        <p:nvSpPr>
          <p:cNvPr id="30" name="t30"/>
          <p:cNvSpPr txBox="1"/>
          <p:nvPr/>
        </p:nvSpPr>
        <p:spPr>
          <a:xfrm>
            <a:off x="711200" y="6502400"/>
            <a:ext cx="10261600" cy="203200"/>
          </a:xfrm>
          <a:prstGeom prst="rect">
            <a:avLst/>
          </a:prstGeom>
          <a:noFill/>
        </p:spPr>
        <p:txBody>
          <a:bodyPr wrap="square" lIns="0" tIns="0" rIns="0" bIns="0" anchor="t">
            <a:noAutofit/>
          </a:bodyPr>
          <a:lstStyle/>
          <a:p>
            <a:pPr algn="l">
              <a:lnSpc>
                <a:spcPct val="116000"/>
              </a:lnSpc>
              <a:spcBef>
                <a:spcPts val="0"/>
              </a:spcBef>
              <a:spcAft>
                <a:spcPts val="0"/>
              </a:spcAft>
            </a:pPr>
            <a:r>
              <a:rPr lang="en-GB" sz="850" b="1" dirty="0" spc="110">
                <a:solidFill>
                  <a:srgbClr val="94A3B8"/>
                </a:solidFill>
                <a:latin typeface="Calibri"/>
                <a:cs typeface="Calibri"/>
              </a:rPr>
              <a:t>THE BUSINESS</a:t>
            </a:r>
          </a:p>
        </p:txBody>
      </p:sp>
      <p:sp>
        <p:nvSpPr>
          <p:cNvPr id="31" name="t31"/>
          <p:cNvSpPr txBox="1"/>
          <p:nvPr/>
        </p:nvSpPr>
        <p:spPr>
          <a:xfrm>
            <a:off x="10972800" y="6502400"/>
            <a:ext cx="508000" cy="203200"/>
          </a:xfrm>
          <a:prstGeom prst="rect">
            <a:avLst/>
          </a:prstGeom>
          <a:noFill/>
        </p:spPr>
        <p:txBody>
          <a:bodyPr wrap="square" lIns="0" tIns="0" rIns="0" bIns="0" anchor="t">
            <a:noAutofit/>
          </a:bodyPr>
          <a:lstStyle/>
          <a:p>
            <a:pPr algn="r">
              <a:lnSpc>
                <a:spcPct val="116000"/>
              </a:lnSpc>
              <a:spcBef>
                <a:spcPts val="0"/>
              </a:spcBef>
              <a:spcAft>
                <a:spcPts val="0"/>
              </a:spcAft>
            </a:pPr>
            <a:r>
              <a:rPr lang="en-GB" sz="900" b="1" dirty="0">
                <a:solidFill>
                  <a:srgbClr val="94A3B8"/>
                </a:solidFill>
                <a:latin typeface="Calibri"/>
                <a:cs typeface="Calibri"/>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2"/>
          <p:cNvSpPr/>
          <p:nvPr/>
        </p:nvSpPr>
        <p:spPr>
          <a:xfrm>
            <a:off x="0" y="0"/>
            <a:ext cx="12192000" cy="6858000"/>
          </a:xfrm>
          <a:prstGeom prst="rect">
            <a:avLst/>
          </a:prstGeom>
          <a:solidFill>
            <a:srgbClr val="1E1B4B"/>
          </a:solidFill>
          <a:ln>
            <a:noFill/>
          </a:ln>
        </p:spPr>
        <p:txBody>
          <a:bodyPr/>
          <a:lstStyle/>
          <a:p>
            <a:endParaRPr lang="en-GB"/>
          </a:p>
        </p:txBody>
      </p:sp>
      <p:sp>
        <p:nvSpPr>
          <p:cNvPr id="3" name="r3"/>
          <p:cNvSpPr/>
          <p:nvPr/>
        </p:nvSpPr>
        <p:spPr>
          <a:xfrm>
            <a:off x="0" y="0"/>
            <a:ext cx="12192000" cy="6858000"/>
          </a:xfrm>
          <a:prstGeom prst="rect">
            <a:avLst/>
          </a:prstGeom>
          <a:gradFill rotWithShape="1">
            <a:gsLst>
              <a:gs pos="0">
                <a:srgbClr val="1E1B4B"/>
              </a:gs>
              <a:gs pos="100000">
                <a:srgbClr val="3730A3"/>
              </a:gs>
            </a:gsLst>
            <a:lin ang="2400000" scaled="0"/>
          </a:gradFill>
          <a:ln>
            <a:noFill/>
          </a:ln>
        </p:spPr>
        <p:txBody>
          <a:bodyPr/>
          <a:lstStyle/>
          <a:p>
            <a:endParaRPr lang="en-GB"/>
          </a:p>
        </p:txBody>
      </p:sp>
      <p:sp>
        <p:nvSpPr>
          <p:cNvPr id="4" name="r4"/>
          <p:cNvSpPr/>
          <p:nvPr/>
        </p:nvSpPr>
        <p:spPr>
          <a:xfrm>
            <a:off x="0" y="0"/>
            <a:ext cx="12192000" cy="50800"/>
          </a:xfrm>
          <a:prstGeom prst="rect">
            <a:avLst/>
          </a:prstGeom>
          <a:solidFill>
            <a:srgbClr val="4F46E5"/>
          </a:solidFill>
          <a:ln>
            <a:noFill/>
          </a:ln>
        </p:spPr>
        <p:txBody>
          <a:bodyPr/>
          <a:lstStyle/>
          <a:p>
            <a:endParaRPr lang="en-GB"/>
          </a:p>
        </p:txBody>
      </p:sp>
      <p:sp>
        <p:nvSpPr>
          <p:cNvPr id="5" name="t5"/>
          <p:cNvSpPr txBox="1"/>
          <p:nvPr/>
        </p:nvSpPr>
        <p:spPr>
          <a:xfrm>
            <a:off x="711200" y="2235200"/>
            <a:ext cx="10160000" cy="1524000"/>
          </a:xfrm>
          <a:prstGeom prst="rect">
            <a:avLst/>
          </a:prstGeom>
          <a:noFill/>
        </p:spPr>
        <p:txBody>
          <a:bodyPr wrap="square" lIns="0" tIns="0" rIns="0" bIns="0" anchor="t">
            <a:noAutofit/>
          </a:bodyPr>
          <a:lstStyle/>
          <a:p>
            <a:pPr algn="l">
              <a:lnSpc>
                <a:spcPct val="120000"/>
              </a:lnSpc>
              <a:spcBef>
                <a:spcPts val="0"/>
              </a:spcBef>
              <a:spcAft>
                <a:spcPts val="0"/>
              </a:spcAft>
            </a:pPr>
            <a:r>
              <a:rPr lang="en-GB" sz="4400" b="1" dirty="0">
                <a:solidFill>
                  <a:srgbClr val="FFFFFF"/>
                </a:solidFill>
                <a:latin typeface="Calibri Light"/>
                <a:cs typeface="Calibri Light"/>
              </a:rPr>
              <a:t>The practice is the product.</a:t>
            </a:r>
          </a:p>
        </p:txBody>
      </p:sp>
      <p:sp>
        <p:nvSpPr>
          <p:cNvPr id="6" name="r6"/>
          <p:cNvSpPr/>
          <p:nvPr/>
        </p:nvSpPr>
        <p:spPr>
          <a:xfrm>
            <a:off x="711200" y="3657600"/>
            <a:ext cx="812800" cy="38100"/>
          </a:xfrm>
          <a:prstGeom prst="rect">
            <a:avLst/>
          </a:prstGeom>
          <a:solidFill>
            <a:srgbClr val="4F46E5"/>
          </a:solidFill>
          <a:ln>
            <a:noFill/>
          </a:ln>
        </p:spPr>
        <p:txBody>
          <a:bodyPr/>
          <a:lstStyle/>
          <a:p>
            <a:endParaRPr lang="en-GB"/>
          </a:p>
        </p:txBody>
      </p:sp>
      <p:sp>
        <p:nvSpPr>
          <p:cNvPr id="7" name="t7"/>
          <p:cNvSpPr txBox="1"/>
          <p:nvPr/>
        </p:nvSpPr>
        <p:spPr>
          <a:xfrm>
            <a:off x="711200" y="3962400"/>
            <a:ext cx="9144000" cy="1016000"/>
          </a:xfrm>
          <a:prstGeom prst="rect">
            <a:avLst/>
          </a:prstGeom>
          <a:noFill/>
        </p:spPr>
        <p:txBody>
          <a:bodyPr wrap="square" lIns="0" tIns="0" rIns="0" bIns="0" anchor="t">
            <a:noAutofit/>
          </a:bodyPr>
          <a:lstStyle/>
          <a:p>
            <a:pPr algn="l">
              <a:lnSpc>
                <a:spcPct val="134000"/>
              </a:lnSpc>
              <a:spcBef>
                <a:spcPts val="0"/>
              </a:spcBef>
              <a:spcAft>
                <a:spcPts val="0"/>
              </a:spcAft>
            </a:pPr>
            <a:r>
              <a:rPr lang="en-GB" sz="1500" b="0" dirty="0">
                <a:solidFill>
                  <a:srgbClr val="9FA8DA"/>
                </a:solidFill>
                <a:latin typeface="Calibri"/>
                <a:cs typeface="Calibri"/>
              </a:rPr>
              <a:t>Every rule, threshold, band, corridor, taxonomy and agenda in one specification, compiled into code, enforced at the point of writing, and worked by two teammates who initiate.</a:t>
            </a:r>
          </a:p>
        </p:txBody>
      </p:sp>
      <p:sp>
        <p:nvSpPr>
          <p:cNvPr id="8" name="t8"/>
          <p:cNvSpPr txBox="1"/>
          <p:nvPr/>
        </p:nvSpPr>
        <p:spPr>
          <a:xfrm>
            <a:off x="711200" y="5588000"/>
            <a:ext cx="9144000" cy="508000"/>
          </a:xfrm>
          <a:prstGeom prst="rect">
            <a:avLst/>
          </a:prstGeom>
          <a:noFill/>
        </p:spPr>
        <p:txBody>
          <a:bodyPr wrap="square" lIns="0" tIns="0" rIns="0" bIns="0" anchor="t">
            <a:noAutofit/>
          </a:bodyPr>
          <a:lstStyle/>
          <a:p>
            <a:pPr algn="l">
              <a:lnSpc>
                <a:spcPct val="130000"/>
              </a:lnSpc>
              <a:spcBef>
                <a:spcPts val="0"/>
              </a:spcBef>
              <a:spcAft>
                <a:spcPts val="0"/>
              </a:spcAft>
            </a:pPr>
            <a:r>
              <a:rPr lang="en-GB" sz="1150" b="0" dirty="0">
                <a:solidFill>
                  <a:srgbClr val="7986CB"/>
                </a:solidFill>
                <a:latin typeface="Calibri"/>
                <a:cs typeface="Calibri"/>
              </a:rPr>
              <a:t>The full planning set behind this deck is available on request: requirements, architecture, the method canon, the schema, forty screen specifications and 200 tasks.</a:t>
            </a:r>
          </a:p>
        </p:txBody>
      </p:sp>
    </p:spTree>
  </p:cSld>
  <p:clrMapOvr>
    <a:masterClrMapping/>
  </p:clrMapOvr>
</p:sld>
</file>

<file path=ppt/theme/theme1.xml><?xml version="1.0" encoding="utf-8"?>
<a:theme xmlns:a="http://schemas.openxmlformats.org/drawingml/2006/main" name="OpenOKR">
  <a:themeElements>
    <a:clrScheme name="OpenOKR">
      <a:dk1>
        <a:srgbClr val="0F172A"/>
      </a:dk1>
      <a:lt1>
        <a:srgbClr val="FFFFFF"/>
      </a:lt1>
      <a:dk2>
        <a:srgbClr val="1E1B4B"/>
      </a:dk2>
      <a:lt2>
        <a:srgbClr val="F8FAFC"/>
      </a:lt2>
      <a:accent1>
        <a:srgbClr val="4F46E5"/>
      </a:accent1>
      <a:accent2>
        <a:srgbClr val="7C3AED"/>
      </a:accent2>
      <a:accent3>
        <a:srgbClr val="0EA5E9"/>
      </a:accent3>
      <a:accent4>
        <a:srgbClr val="22C55E"/>
      </a:accent4>
      <a:accent5>
        <a:srgbClr val="F59E0B"/>
      </a:accent5>
      <a:accent6>
        <a:srgbClr val="EF4444"/>
      </a:accent6>
      <a:hlink>
        <a:srgbClr val="4338CA"/>
      </a:hlink>
      <a:folHlink>
        <a:srgbClr val="7C3AED"/>
      </a:folHlink>
    </a:clrScheme>
    <a:fontScheme name="OpenOKR">
      <a:majorFont>
        <a:latin typeface="Calibri Light"/>
        <a:ea typeface=""/>
        <a:cs typeface=""/>
      </a:majorFont>
      <a:minorFont>
        <a:latin typeface="Calibri"/>
        <a:ea typeface=""/>
        <a:cs typeface=""/>
      </a:minorFont>
    </a:fontScheme>
    <a:fmtScheme name="OpenOKR">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Slides>36</Slides>
</Properties>
</file>

<file path=docProps/core.xml><?xml version="1.0" encoding="utf-8"?>
<cp:coreProperties xmlns:cp="http://schemas.openxmlformats.org/package/2006/metadata/core-properties" xmlns:dc="http://purl.org/dc/elements/1.1/">
  <dc:title>OpenOKR: product overview</dc:title>
  <dc:creator>OpenOKR</dc:creator>
  <cp:lastModifiedBy>OpenOKR</cp:lastModifiedBy>
</cp:coreProperties>
</file>